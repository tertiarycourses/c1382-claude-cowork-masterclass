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Monthly finance view (S$000)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</c:v>
                </c:pt>
                <c:pt idx="1">
                  <c:v>119</c:v>
                </c:pt>
                <c:pt idx="2">
                  <c:v>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</c:v>
                </c:pt>
                <c:pt idx="1">
                  <c:v>85</c:v>
                </c:pt>
                <c:pt idx="2">
                  <c:v>89.5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Monthly finance view (S$000)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</c:v>
                </c:pt>
                <c:pt idx="1">
                  <c:v>119</c:v>
                </c:pt>
                <c:pt idx="2">
                  <c:v>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81</c:v>
                </c:pt>
                <c:pt idx="1">
                  <c:v>85</c:v>
                </c:pt>
                <c:pt idx="2">
                  <c:v>89.5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Budget vs actual (S$000)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Marketing</c:v>
                </c:pt>
                <c:pt idx="1">
                  <c:v>Contractors</c:v>
                </c:pt>
                <c:pt idx="2">
                  <c:v>Travel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62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Marketing</c:v>
                </c:pt>
                <c:pt idx="1">
                  <c:v>Contractors</c:v>
                </c:pt>
                <c:pt idx="2">
                  <c:v>Travel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</c:v>
                </c:pt>
                <c:pt idx="1">
                  <c:v>58</c:v>
                </c:pt>
                <c:pt idx="2">
                  <c:v>27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14-day running balance (S$000)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Running balance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D9</c:v>
                </c:pt>
                <c:pt idx="5">
                  <c:v>D11</c:v>
                </c:pt>
                <c:pt idx="6">
                  <c:v>D14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250</c:v>
                </c:pt>
                <c:pt idx="1">
                  <c:v>218</c:v>
                </c:pt>
                <c:pt idx="2">
                  <c:v>166</c:v>
                </c:pt>
                <c:pt idx="3">
                  <c:v>96</c:v>
                </c:pt>
                <c:pt idx="4">
                  <c:v>42</c:v>
                </c:pt>
                <c:pt idx="5">
                  <c:v>105</c:v>
                </c:pt>
                <c:pt idx="6">
                  <c:v>297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work-finance-hero.png"/>
          <p:cNvPicPr>
            <a:picLocks noChangeAspect="1"/>
          </p:cNvPicPr>
          <p:nvPr/>
        </p:nvPicPr>
        <p:blipFill>
          <a:blip r:embed="rId2"/>
          <a:srcRect l="21736" r="21736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94360"/>
            <a:ext cx="2240280" cy="34747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224028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C1382 · ONE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069080" cy="187451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Claude Cowork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977639" cy="1371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Eight practical automations for Excel, research, reporting and scheduled finance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C1382  •  v2.1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84280" y="6327648"/>
            <a:ext cx="438912" cy="3200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3916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COURSE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Leave with eight tasks you can reuse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2514600" cy="16002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64008" cy="16002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74520"/>
            <a:ext cx="213055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13432"/>
            <a:ext cx="2130552" cy="84124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latest finance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691640"/>
            <a:ext cx="25146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691640"/>
            <a:ext cx="64008" cy="160020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1874520"/>
            <a:ext cx="213055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313432"/>
            <a:ext cx="2130552" cy="84124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current AI news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691640"/>
            <a:ext cx="2514600" cy="16002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691640"/>
            <a:ext cx="64008" cy="160020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874520"/>
            <a:ext cx="213055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313432"/>
            <a:ext cx="2130552" cy="84124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Excel and PowerPoint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691640"/>
            <a:ext cx="25146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691640"/>
            <a:ext cx="64008" cy="160020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1874520"/>
            <a:ext cx="213055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313432"/>
            <a:ext cx="2130552" cy="84124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invoice details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703320"/>
            <a:ext cx="2514600" cy="16002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703320"/>
            <a:ext cx="64008" cy="16002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886200"/>
            <a:ext cx="213055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325112"/>
            <a:ext cx="2130552" cy="84124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budget variances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3703320"/>
            <a:ext cx="25146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0440" y="3703320"/>
            <a:ext cx="64008" cy="160020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21608" y="3886200"/>
            <a:ext cx="213055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4325112"/>
            <a:ext cx="2130552" cy="84124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cash 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703320"/>
            <a:ext cx="2514600" cy="16002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3703320"/>
            <a:ext cx="64008" cy="160020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3886200"/>
            <a:ext cx="213055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DRAFT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4325112"/>
            <a:ext cx="2130552" cy="84124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management email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3703320"/>
            <a:ext cx="25146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9720" y="3703320"/>
            <a:ext cx="64008" cy="160020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90888" y="3886200"/>
            <a:ext cx="213055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SCHEDULE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90888" y="4325112"/>
            <a:ext cx="2130552" cy="84124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weekly briefing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HOW YOU'LL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Watch it · try it · check it · reuse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2423160" cy="25603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54480" y="2267712"/>
            <a:ext cx="868680" cy="868680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41448"/>
            <a:ext cx="868680" cy="310896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429000"/>
            <a:ext cx="1920240" cy="6858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See a finance 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2" y="1965960"/>
            <a:ext cx="2423160" cy="25603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0832" y="2267712"/>
            <a:ext cx="868680" cy="868680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2441448"/>
            <a:ext cx="868680" cy="310896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3429000"/>
            <a:ext cx="1920240" cy="6858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Use a ready prompt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9944" y="1965960"/>
            <a:ext cx="2423160" cy="25603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87183" y="2267712"/>
            <a:ext cx="868680" cy="868680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3" y="2441448"/>
            <a:ext cx="868680" cy="310896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3429000"/>
            <a:ext cx="1920240" cy="6858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Inspect the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26296" y="1965960"/>
            <a:ext cx="2423160" cy="25603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03536" y="2267712"/>
            <a:ext cx="868680" cy="868680"/>
          </a:xfrm>
          <a:prstGeom prst="round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3536" y="2441448"/>
            <a:ext cx="868680" cy="310896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3429000"/>
            <a:ext cx="1920240" cy="6858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Save the skill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SIMPLE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Use one dedicated folder per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8" name="Picture 7" descr="cowork-finance-hero.png"/>
          <p:cNvPicPr>
            <a:picLocks noChangeAspect="1"/>
          </p:cNvPicPr>
          <p:nvPr/>
        </p:nvPicPr>
        <p:blipFill>
          <a:blip r:embed="rId2"/>
          <a:srcRect l="12783" r="12783"/>
          <a:stretch>
            <a:fillRect/>
          </a:stretch>
        </p:blipFill>
        <p:spPr>
          <a:xfrm>
            <a:off x="731520" y="1600200"/>
            <a:ext cx="5623560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691640"/>
            <a:ext cx="4663440" cy="109728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691640"/>
            <a:ext cx="64008" cy="109728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7" y="1874520"/>
            <a:ext cx="42793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7" y="2313432"/>
            <a:ext cx="4279392" cy="33832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mock-data and task brief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926080"/>
            <a:ext cx="4663440" cy="109728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2926080"/>
            <a:ext cx="64008" cy="109728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2007" y="3108960"/>
            <a:ext cx="42793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7" y="3547872"/>
            <a:ext cx="4279392" cy="33832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working copy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4160520"/>
            <a:ext cx="4663440" cy="109728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4160520"/>
            <a:ext cx="64008" cy="109728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2007" y="4343400"/>
            <a:ext cx="42793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SAVE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4782312"/>
            <a:ext cx="4279392" cy="33832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finished files in outputs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PROMPT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Five lines make a useful Cowork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1874519" cy="658368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1"/>
            <a:ext cx="1874519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18488"/>
            <a:ext cx="8046720" cy="42062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2A363D"/>
                </a:solidFill>
                <a:latin typeface="Aptos"/>
              </a:defRPr>
            </a:pPr>
            <a:r>
              <a:t>What should be finished?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04872"/>
            <a:ext cx="1874519" cy="658368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69464"/>
            <a:ext cx="1874519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14600"/>
            <a:ext cx="8046720" cy="42062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2A363D"/>
                </a:solidFill>
                <a:latin typeface="Aptos"/>
              </a:defRPr>
            </a:pPr>
            <a:r>
              <a:t>Which files or sources?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00984"/>
            <a:ext cx="1874519" cy="658368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65576"/>
            <a:ext cx="1874519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410712"/>
            <a:ext cx="8046720" cy="42062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2A363D"/>
                </a:solidFill>
                <a:latin typeface="Aptos"/>
              </a:defRPr>
            </a:pPr>
            <a:r>
              <a:t>What filename and format?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97096"/>
            <a:ext cx="1874519" cy="658368"/>
          </a:xfrm>
          <a:prstGeom prst="round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61688"/>
            <a:ext cx="1874519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306824"/>
            <a:ext cx="8046720" cy="42062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2A363D"/>
                </a:solidFill>
                <a:latin typeface="Aptos"/>
              </a:defRPr>
            </a:pPr>
            <a:r>
              <a:t>How do we know it is right?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93208"/>
            <a:ext cx="1874519" cy="658368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1874519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5202936"/>
            <a:ext cx="8046720" cy="42062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2A363D"/>
                </a:solidFill>
                <a:latin typeface="Aptos"/>
              </a:defRPr>
            </a:pPr>
            <a:r>
              <a:t>What needs human approval?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COURSE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Three topics · eight practical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383280" cy="30632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64008" cy="306324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57400"/>
            <a:ext cx="29992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TOPIC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96312"/>
            <a:ext cx="2999232" cy="230428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Set up and refresh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Labs 1–2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1874519"/>
            <a:ext cx="3383280" cy="306324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874519"/>
            <a:ext cx="64008" cy="306324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2057400"/>
            <a:ext cx="29992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TOPIC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496312"/>
            <a:ext cx="2999232" cy="230428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Research and present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Labs 3–4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0183" y="1874519"/>
            <a:ext cx="3383280" cy="30632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30183" y="1874519"/>
            <a:ext cx="64008" cy="306324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2057400"/>
            <a:ext cx="29992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TOPIC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496312"/>
            <a:ext cx="2999232" cy="230428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Monitor and deliver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Labs 5–8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work-finance-hero.png"/>
          <p:cNvPicPr>
            <a:picLocks noChangeAspect="1"/>
          </p:cNvPicPr>
          <p:nvPr/>
        </p:nvPicPr>
        <p:blipFill>
          <a:blip r:embed="rId2"/>
          <a:srcRect l="21736" r="21736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94360"/>
            <a:ext cx="2240280" cy="34747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224028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069080" cy="187451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Set Up and Refresh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977639" cy="1371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Build a reusable workspace and keep Excel 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C1382  •  v2.1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84280" y="6327648"/>
            <a:ext cx="438912" cy="3200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3916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work-finance-hero.png"/>
          <p:cNvPicPr>
            <a:picLocks noChangeAspect="1"/>
          </p:cNvPicPr>
          <p:nvPr/>
        </p:nvPicPr>
        <p:blipFill>
          <a:blip r:embed="rId2"/>
          <a:srcRect l="21736" r="21736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94360"/>
            <a:ext cx="2240280" cy="34747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224028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USE CASE 01 · SET UP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069080" cy="187451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Create a Cowork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977639" cy="1371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A reusable workspace for every finance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C1382  •  v2.1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84280" y="6327648"/>
            <a:ext cx="438912" cy="3200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3916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From repetitive work to a finished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452628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24612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1422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96312"/>
            <a:ext cx="414223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Files and instructions live in different places</a:t>
            </a:r>
          </a:p>
        </p:txBody>
      </p:sp>
      <p:sp>
        <p:nvSpPr>
          <p:cNvPr id="12" name="Chevron 11"/>
          <p:cNvSpPr/>
          <p:nvPr/>
        </p:nvSpPr>
        <p:spPr>
          <a:xfrm>
            <a:off x="5513832" y="3154680"/>
            <a:ext cx="384048" cy="457200"/>
          </a:xfrm>
          <a:prstGeom prst="chevron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80760" y="1874519"/>
            <a:ext cx="534924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05740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496312"/>
            <a:ext cx="496519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 reusable workspace for every finance task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receives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19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08287"/>
                </a:solidFill>
                <a:latin typeface="Aptos"/>
              </a:defRPr>
            </a:pPr>
            <a:r>
              <a:t>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Project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0680" y="2148840"/>
            <a:ext cx="1600200" cy="11430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08287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Close checklist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08287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Dedicated lab folder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148840"/>
            <a:ext cx="621792" cy="62179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Create project</a:t>
            </a:r>
          </a:p>
        </p:txBody>
      </p:sp>
      <p:sp>
        <p:nvSpPr>
          <p:cNvPr id="12" name="Chevron 11"/>
          <p:cNvSpPr/>
          <p:nvPr/>
        </p:nvSpPr>
        <p:spPr>
          <a:xfrm>
            <a:off x="4187952" y="3063240"/>
            <a:ext cx="384048" cy="457200"/>
          </a:xfrm>
          <a:prstGeom prst="chevron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74519"/>
            <a:ext cx="3246120" cy="29718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0600" y="2148840"/>
            <a:ext cx="621792" cy="62179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Connect one folder</a:t>
            </a:r>
          </a:p>
        </p:txBody>
      </p:sp>
      <p:sp>
        <p:nvSpPr>
          <p:cNvPr id="17" name="Chevron 16"/>
          <p:cNvSpPr/>
          <p:nvPr/>
        </p:nvSpPr>
        <p:spPr>
          <a:xfrm>
            <a:off x="7982712" y="3063240"/>
            <a:ext cx="384048" cy="457200"/>
          </a:xfrm>
          <a:prstGeom prst="chevron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2148840"/>
            <a:ext cx="621792" cy="62179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Add finance skill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Build the request in five clear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600200" cy="658368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508760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A reusable workspace for every finance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50008"/>
            <a:ext cx="1600200" cy="658368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8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441448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Project brief, Close checklist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82696"/>
            <a:ext cx="1600200" cy="658368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65576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374136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Give Cowork one project, one folder and clear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15384"/>
            <a:ext cx="1600200" cy="658368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306824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File map lists every source; originals stay unchanged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48072"/>
            <a:ext cx="1600200" cy="658368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30952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239512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Pause before sending, scheduling or publishing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The task needs three simple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008287"/>
                </a:solidFill>
                <a:latin typeface="Aptos"/>
              </a:defRPr>
            </a:pPr>
            <a:r>
              <a:t>FIND &amp;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Project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Cowork Projects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83080"/>
            <a:ext cx="3337560" cy="352044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ECA737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A reusable workspace for every finance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Local folder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B8D6A"/>
                </a:solidFill>
                <a:latin typeface="Aptos"/>
              </a:defRPr>
            </a:pPr>
            <a:r>
              <a:t>REVIEW OR 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File map lists every source; originals stay unchanged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Project instructions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Preview the finished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8" name="Picture 7" descr="cowork-finance-hero.png"/>
          <p:cNvPicPr>
            <a:picLocks noChangeAspect="1"/>
          </p:cNvPicPr>
          <p:nvPr/>
        </p:nvPicPr>
        <p:blipFill>
          <a:blip r:embed="rId2"/>
          <a:srcRect l="6485" r="6485"/>
          <a:stretch>
            <a:fillRect/>
          </a:stretch>
        </p:blipFill>
        <p:spPr>
          <a:xfrm>
            <a:off x="731520" y="1572768"/>
            <a:ext cx="685800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09560" y="1828800"/>
            <a:ext cx="3474720" cy="356616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09560" y="1828800"/>
            <a:ext cx="64008" cy="356616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8" y="2011680"/>
            <a:ext cx="309067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FINISHED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2450592"/>
            <a:ext cx="3090672" cy="28072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 reusable workspace for every finance task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File map lists every source; originals stay unchanged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One human check before you use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056132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2148840"/>
            <a:ext cx="1280160" cy="1280160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87168"/>
            <a:ext cx="12801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40280"/>
            <a:ext cx="7909560" cy="12801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142B43"/>
                </a:solidFill>
                <a:latin typeface="Aptos"/>
              </a:defRPr>
            </a:pPr>
            <a:r>
              <a:t>File map lists every source; originals stay unchanged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840480"/>
            <a:ext cx="7498079" cy="5486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AC3C37"/>
                </a:solidFill>
                <a:latin typeface="Aptos"/>
              </a:defRPr>
            </a:pPr>
            <a:r>
              <a:t>If this does not match, correct the output and run the check again.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When this automation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983480" cy="333756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64008" cy="333756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WHO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Finance analyst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4983480" cy="333756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64008" cy="333756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At the start of a recurring task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good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One clear task folder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Originals remain unchanged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Project rules persist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Try a useful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Quarter-end close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New team member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Policy review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Finish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8" name="Picture 7" descr="cowork-finance-hero.png"/>
          <p:cNvPicPr>
            <a:picLocks noChangeAspect="1"/>
          </p:cNvPicPr>
          <p:nvPr/>
        </p:nvPicPr>
        <p:blipFill>
          <a:blip r:embed="rId2"/>
          <a:srcRect l="16603" r="16603"/>
          <a:stretch>
            <a:fillRect/>
          </a:stretch>
        </p:blipFill>
        <p:spPr>
          <a:xfrm>
            <a:off x="731520" y="1600200"/>
            <a:ext cx="4937760" cy="4160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783080"/>
            <a:ext cx="5349240" cy="34747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83080"/>
            <a:ext cx="64008" cy="34747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96596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YOU ARE DONE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4965192" cy="27157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File map lists every source; originals stay unchanged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Save the skill for the next reporting period.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xcel-dashboard-team.png"/>
          <p:cNvPicPr>
            <a:picLocks noChangeAspect="1"/>
          </p:cNvPicPr>
          <p:nvPr/>
        </p:nvPicPr>
        <p:blipFill>
          <a:blip r:embed="rId2"/>
          <a:srcRect l="21736" r="21736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94360"/>
            <a:ext cx="2240280" cy="34747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224028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USE CASE 02 · LATEST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069080" cy="187451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Refresh an Excel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977639" cy="1371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Current KPIs and charts in one Excel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C1382  •  v2.1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84280" y="6327648"/>
            <a:ext cx="438912" cy="3200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3916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From repetitive work to a finished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452628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24612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1422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96312"/>
            <a:ext cx="414223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The dashboard shows last month’s figures</a:t>
            </a:r>
          </a:p>
        </p:txBody>
      </p:sp>
      <p:sp>
        <p:nvSpPr>
          <p:cNvPr id="12" name="Chevron 11"/>
          <p:cNvSpPr/>
          <p:nvPr/>
        </p:nvSpPr>
        <p:spPr>
          <a:xfrm>
            <a:off x="5513832" y="3154680"/>
            <a:ext cx="384048" cy="457200"/>
          </a:xfrm>
          <a:prstGeom prst="chevron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80760" y="1874519"/>
            <a:ext cx="534924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05740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496312"/>
            <a:ext cx="496519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Current KPIs and charts in one Excel file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receives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1B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19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B8D6A"/>
                </a:solidFill>
                <a:latin typeface="Aptos"/>
              </a:defRPr>
            </a:pPr>
            <a:r>
              <a:t>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Three dated CSV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1B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0680" y="2148840"/>
            <a:ext cx="1600200" cy="11430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B8D6A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Dashboard template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1B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B8D6A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Expected KPI check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148840"/>
            <a:ext cx="621792" cy="621792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Find latest file</a:t>
            </a:r>
          </a:p>
        </p:txBody>
      </p:sp>
      <p:sp>
        <p:nvSpPr>
          <p:cNvPr id="12" name="Chevron 11"/>
          <p:cNvSpPr/>
          <p:nvPr/>
        </p:nvSpPr>
        <p:spPr>
          <a:xfrm>
            <a:off x="4187952" y="3063240"/>
            <a:ext cx="384048" cy="457200"/>
          </a:xfrm>
          <a:prstGeom prst="chevron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74519"/>
            <a:ext cx="3246120" cy="29718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0600" y="2148840"/>
            <a:ext cx="621792" cy="621792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Update Data sheet</a:t>
            </a:r>
          </a:p>
        </p:txBody>
      </p:sp>
      <p:sp>
        <p:nvSpPr>
          <p:cNvPr id="17" name="Chevron 16"/>
          <p:cNvSpPr/>
          <p:nvPr/>
        </p:nvSpPr>
        <p:spPr>
          <a:xfrm>
            <a:off x="7982712" y="3063240"/>
            <a:ext cx="384048" cy="457200"/>
          </a:xfrm>
          <a:prstGeom prst="chevron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2148840"/>
            <a:ext cx="621792" cy="621792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Refresh charts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Build the request in five clear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600200" cy="658368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508760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Current KPIs and charts in one Excel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50008"/>
            <a:ext cx="1600200" cy="658368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8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441448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Three dated CSV files, Dashboard template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82696"/>
            <a:ext cx="1600200" cy="658368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65576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374136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Find the newest dated file and refresh the workbook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15384"/>
            <a:ext cx="1600200" cy="658368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306824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September: revenue S$128k, expenses S$89.5k, net S$38.5k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48072"/>
            <a:ext cx="1600200" cy="658368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30952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239512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Pause before sending, scheduling or publishing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The task needs three simple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008287"/>
                </a:solidFill>
                <a:latin typeface="Aptos"/>
              </a:defRPr>
            </a:pPr>
            <a:r>
              <a:t>FIND &amp;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Three dated CSV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Cowork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83080"/>
            <a:ext cx="3337560" cy="352044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ECA737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Current KPIs and charts in one Excel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Spreadsheet skill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B8D6A"/>
                </a:solidFill>
                <a:latin typeface="Aptos"/>
              </a:defRPr>
            </a:pPr>
            <a:r>
              <a:t>REVIEW OR 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September: revenue S$128k, expenses S$89.5k, net S$38.5k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Microsoft Excel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Preview the finished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600200"/>
          <a:ext cx="6629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1828800"/>
            <a:ext cx="3749039" cy="356616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828800"/>
            <a:ext cx="64008" cy="356616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2011680"/>
            <a:ext cx="3364991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FINISHED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450592"/>
            <a:ext cx="3364991" cy="28072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Current KPIs and charts in one Excel file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September: revenue S$128k, expenses S$89.5k, net S$38.5k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One human check before you use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056132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2148840"/>
            <a:ext cx="1280160" cy="1280160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87168"/>
            <a:ext cx="12801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40280"/>
            <a:ext cx="7909560" cy="12801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142B43"/>
                </a:solidFill>
                <a:latin typeface="Aptos"/>
              </a:defRPr>
            </a:pPr>
            <a:r>
              <a:t>September: revenue S$128k, expenses S$89.5k, net S$38.5k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840480"/>
            <a:ext cx="7498079" cy="5486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AC3C37"/>
                </a:solidFill>
                <a:latin typeface="Aptos"/>
              </a:defRPr>
            </a:pPr>
            <a:r>
              <a:t>If this does not match, correct the output and run the check again.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When this automation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983480" cy="333756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64008" cy="333756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WHO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Reporting analyst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4983480" cy="333756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64008" cy="333756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When a new month file arrives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good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Newest dated source chosen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KPIs match control totals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Charts show the new period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Try a useful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Weekly cash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Department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Different KPI target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LAB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Finish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31</a:t>
            </a:r>
          </a:p>
        </p:txBody>
      </p:sp>
      <p:pic>
        <p:nvPicPr>
          <p:cNvPr id="8" name="Picture 7" descr="excel-dashboard-team.png"/>
          <p:cNvPicPr>
            <a:picLocks noChangeAspect="1"/>
          </p:cNvPicPr>
          <p:nvPr/>
        </p:nvPicPr>
        <p:blipFill>
          <a:blip r:embed="rId2"/>
          <a:srcRect l="16603" r="16603"/>
          <a:stretch>
            <a:fillRect/>
          </a:stretch>
        </p:blipFill>
        <p:spPr>
          <a:xfrm>
            <a:off x="731520" y="1600200"/>
            <a:ext cx="4937760" cy="4160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783080"/>
            <a:ext cx="5349240" cy="34747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83080"/>
            <a:ext cx="64008" cy="34747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96596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YOU ARE DONE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4965192" cy="27157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September: revenue S$128k, expenses S$89.5k, net S$38.5k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Save the skill for the next reporting period.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TOPIC 01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Set Up and Refresh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4350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475945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USE CASE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475945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 reusable workspace for every finance 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1828800"/>
            <a:ext cx="514350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59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7" y="2011680"/>
            <a:ext cx="475945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USE CASE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7" y="2450592"/>
            <a:ext cx="475945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Current KPIs and charts in one Excel file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search-to-slides.png"/>
          <p:cNvPicPr>
            <a:picLocks noChangeAspect="1"/>
          </p:cNvPicPr>
          <p:nvPr/>
        </p:nvPicPr>
        <p:blipFill>
          <a:blip r:embed="rId2"/>
          <a:srcRect l="21736" r="21736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94360"/>
            <a:ext cx="2240280" cy="34747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224028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069080" cy="187451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Research and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977639" cy="1371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Turn live information and finance data into clear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C1382  •  v2.1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84280" y="6327648"/>
            <a:ext cx="438912" cy="3200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3916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search-to-slides.png"/>
          <p:cNvPicPr>
            <a:picLocks noChangeAspect="1"/>
          </p:cNvPicPr>
          <p:nvPr/>
        </p:nvPicPr>
        <p:blipFill>
          <a:blip r:embed="rId2"/>
          <a:srcRect l="21736" r="21736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94360"/>
            <a:ext cx="2240280" cy="34747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224028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USE CASE 03 · LIVE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069080" cy="187451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Research AI-in-Finance News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977639" cy="1371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A structured Excel research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C1382  •  v2.1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84280" y="6327648"/>
            <a:ext cx="438912" cy="3200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3916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From repetitive work to a finished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452628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24612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1422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96312"/>
            <a:ext cx="414223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Interesting news is scattered across many websites</a:t>
            </a:r>
          </a:p>
        </p:txBody>
      </p:sp>
      <p:sp>
        <p:nvSpPr>
          <p:cNvPr id="12" name="Chevron 11"/>
          <p:cNvSpPr/>
          <p:nvPr/>
        </p:nvSpPr>
        <p:spPr>
          <a:xfrm>
            <a:off x="5513832" y="3154680"/>
            <a:ext cx="384048" cy="457200"/>
          </a:xfrm>
          <a:prstGeom prst="chevron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80760" y="1874519"/>
            <a:ext cx="534924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05740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496312"/>
            <a:ext cx="496519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 structured Excel research tracker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receives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19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08287"/>
                </a:solidFill>
                <a:latin typeface="Aptos"/>
              </a:defRPr>
            </a:pPr>
            <a:r>
              <a:t>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Research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0680" y="2148840"/>
            <a:ext cx="1600200" cy="11430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08287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Excel tracker template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08287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Live web sources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148840"/>
            <a:ext cx="621792" cy="62179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Search recent sources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87952" y="3063240"/>
            <a:ext cx="384048" cy="457200"/>
          </a:xfrm>
          <a:prstGeom prst="chevron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74519"/>
            <a:ext cx="3246120" cy="29718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0600" y="2148840"/>
            <a:ext cx="621792" cy="62179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Check dates and links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82712" y="3063240"/>
            <a:ext cx="384048" cy="457200"/>
          </a:xfrm>
          <a:prstGeom prst="chevron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2148840"/>
            <a:ext cx="621792" cy="62179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Write to Excel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Build the request in five clear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600200" cy="658368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508760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A structured Excel research tracker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50008"/>
            <a:ext cx="1600200" cy="658368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8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441448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Research brief, Excel tracker template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82696"/>
            <a:ext cx="1600200" cy="658368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65576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374136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Find six recent, credible developments and cite each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15384"/>
            <a:ext cx="1600200" cy="658368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306824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Six direct links open; every date and summary is sourced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48072"/>
            <a:ext cx="1600200" cy="658368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30952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239512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Pause before sending, scheduling or publishing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The task needs three simple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008287"/>
                </a:solidFill>
                <a:latin typeface="Aptos"/>
              </a:defRPr>
            </a:pPr>
            <a:r>
              <a:t>FIND &amp;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Research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Cowork web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83080"/>
            <a:ext cx="3337560" cy="352044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ECA737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A structured Excel research tracker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Web fetch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B8D6A"/>
                </a:solidFill>
                <a:latin typeface="Aptos"/>
              </a:defRPr>
            </a:pPr>
            <a:r>
              <a:t>REVIEW OR 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Six direct links open; every date and summary is sourced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Spreadsheet skill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Illustrative research tracker 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83210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1143000" cy="438912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92807"/>
            <a:ext cx="11430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8528" y="1783080"/>
            <a:ext cx="1508760" cy="438912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8528" y="1892807"/>
            <a:ext cx="150876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57016" y="1783080"/>
            <a:ext cx="3200400" cy="438912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892807"/>
            <a:ext cx="32004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67144" y="1783080"/>
            <a:ext cx="1508760" cy="438912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67144" y="1892807"/>
            <a:ext cx="150876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LINK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331720"/>
            <a:ext cx="1143000" cy="402336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432303"/>
            <a:ext cx="103327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LIVE 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38528" y="2331720"/>
            <a:ext cx="1508760" cy="402336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93392" y="2432303"/>
            <a:ext cx="139903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MAS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57016" y="2331720"/>
            <a:ext cx="3200400" cy="402336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432303"/>
            <a:ext cx="309067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Responsible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7144" y="2331720"/>
            <a:ext cx="1508760" cy="402336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2007" y="2432303"/>
            <a:ext cx="139903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mas.gov.sg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2852927"/>
            <a:ext cx="1143000" cy="402336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2953511"/>
            <a:ext cx="103327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LIVE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38528" y="2852927"/>
            <a:ext cx="1508760" cy="402336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93392" y="2953511"/>
            <a:ext cx="139903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BIS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57016" y="2852927"/>
            <a:ext cx="3200400" cy="402336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2953511"/>
            <a:ext cx="309067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Cross-border 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67144" y="2852927"/>
            <a:ext cx="1508760" cy="402336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22007" y="2953511"/>
            <a:ext cx="139903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bis.org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374135"/>
            <a:ext cx="1143000" cy="402336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474719"/>
            <a:ext cx="103327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LIVE CHECK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38528" y="3374135"/>
            <a:ext cx="1508760" cy="402336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93392" y="3474719"/>
            <a:ext cx="139903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IMF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57016" y="3374135"/>
            <a:ext cx="3200400" cy="402336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11880" y="3474719"/>
            <a:ext cx="309067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AI readiness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67144" y="3374135"/>
            <a:ext cx="1508760" cy="402336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22007" y="3474719"/>
            <a:ext cx="139903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imf.org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3895344"/>
            <a:ext cx="1143000" cy="402336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" y="3995928"/>
            <a:ext cx="103327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LIVE CHECK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38528" y="3895344"/>
            <a:ext cx="1508760" cy="402336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93392" y="3995928"/>
            <a:ext cx="139903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ECB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57016" y="3895344"/>
            <a:ext cx="3200400" cy="402336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1880" y="3995928"/>
            <a:ext cx="309067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AI in banking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67144" y="3895344"/>
            <a:ext cx="1508760" cy="402336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22007" y="3995928"/>
            <a:ext cx="139903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ecb.europa.eu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" y="4416552"/>
            <a:ext cx="1143000" cy="402336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" y="4517136"/>
            <a:ext cx="103327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LIVE CHECK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38528" y="4416552"/>
            <a:ext cx="1508760" cy="402336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93392" y="4517136"/>
            <a:ext cx="139903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Bank of England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57016" y="4416552"/>
            <a:ext cx="3200400" cy="402336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11880" y="4517136"/>
            <a:ext cx="309067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AI survey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67144" y="4416552"/>
            <a:ext cx="1508760" cy="402336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22007" y="4517136"/>
            <a:ext cx="139903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bankofengland.co.uk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" y="4937759"/>
            <a:ext cx="1143000" cy="402336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5038344"/>
            <a:ext cx="103327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LIVE CHECK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38528" y="4937759"/>
            <a:ext cx="1508760" cy="402336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93392" y="5038344"/>
            <a:ext cx="139903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OECD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57016" y="4937759"/>
            <a:ext cx="3200400" cy="402336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11880" y="5038344"/>
            <a:ext cx="309067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AI policy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67144" y="4937759"/>
            <a:ext cx="1508760" cy="402336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22007" y="5038344"/>
            <a:ext cx="1399031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oecd.org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52560" y="1783080"/>
            <a:ext cx="2560320" cy="36576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52560" y="1783080"/>
            <a:ext cx="64008" cy="36576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53728" y="1965960"/>
            <a:ext cx="217627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LIVE CHECK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53728" y="2404872"/>
            <a:ext cx="2176272" cy="289864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Open each link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Confirm publish date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Keep only recent items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Summarise the source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One human check before you use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056132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2148840"/>
            <a:ext cx="1280160" cy="1280160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87168"/>
            <a:ext cx="12801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40280"/>
            <a:ext cx="7909560" cy="12801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142B43"/>
                </a:solidFill>
                <a:latin typeface="Aptos"/>
              </a:defRPr>
            </a:pPr>
            <a:r>
              <a:t>Six direct links open; every date and summary is sourced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840480"/>
            <a:ext cx="7498079" cy="5486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AC3C37"/>
                </a:solidFill>
                <a:latin typeface="Aptos"/>
              </a:defRPr>
            </a:pPr>
            <a:r>
              <a:t>If this does not match, correct the output and run the check again.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When this automation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983480" cy="333756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64008" cy="333756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WHO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Finance strategy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4983480" cy="333756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64008" cy="333756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Before a market or risk briefing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good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Six recent developments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Direct sources 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Summary fits the brief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Try a useful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Regulation news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Competitor update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Risk-only tracker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LAB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Finish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45</a:t>
            </a:r>
          </a:p>
        </p:txBody>
      </p:sp>
      <p:pic>
        <p:nvPicPr>
          <p:cNvPr id="8" name="Picture 7" descr="research-to-slides.png"/>
          <p:cNvPicPr>
            <a:picLocks noChangeAspect="1"/>
          </p:cNvPicPr>
          <p:nvPr/>
        </p:nvPicPr>
        <p:blipFill>
          <a:blip r:embed="rId2"/>
          <a:srcRect l="16603" r="16603"/>
          <a:stretch>
            <a:fillRect/>
          </a:stretch>
        </p:blipFill>
        <p:spPr>
          <a:xfrm>
            <a:off x="731520" y="1600200"/>
            <a:ext cx="4937760" cy="4160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783080"/>
            <a:ext cx="5349240" cy="34747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83080"/>
            <a:ext cx="64008" cy="34747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96596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YOU ARE DONE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4965192" cy="27157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Six direct links open; every date and summary is sourced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Save the skill for the next reporting period.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search-to-slides.png"/>
          <p:cNvPicPr>
            <a:picLocks noChangeAspect="1"/>
          </p:cNvPicPr>
          <p:nvPr/>
        </p:nvPicPr>
        <p:blipFill>
          <a:blip r:embed="rId2"/>
          <a:srcRect l="21736" r="21736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94360"/>
            <a:ext cx="2240280" cy="34747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224028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USE CASE 04 · MANAGEMENT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069080" cy="187451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Turn Finance Data into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977639" cy="1371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Clear charts, messages and next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C1382  •  v2.1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84280" y="6327648"/>
            <a:ext cx="438912" cy="3200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3916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From repetitive work to a finished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452628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24612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1422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96312"/>
            <a:ext cx="414223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Leaders receive a dense workbook</a:t>
            </a:r>
          </a:p>
        </p:txBody>
      </p:sp>
      <p:sp>
        <p:nvSpPr>
          <p:cNvPr id="12" name="Chevron 11"/>
          <p:cNvSpPr/>
          <p:nvPr/>
        </p:nvSpPr>
        <p:spPr>
          <a:xfrm>
            <a:off x="5513832" y="3154680"/>
            <a:ext cx="384048" cy="457200"/>
          </a:xfrm>
          <a:prstGeom prst="chevron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80760" y="1874519"/>
            <a:ext cx="534924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05740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496312"/>
            <a:ext cx="496519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Clear charts, messages and next actions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receives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CA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19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ECA737"/>
                </a:solidFill>
                <a:latin typeface="Aptos"/>
              </a:defRPr>
            </a:pPr>
            <a:r>
              <a:t>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Quarterly workbook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CA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0680" y="2148840"/>
            <a:ext cx="1600200" cy="11430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ECA737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Manager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CA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ECA737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Brand guide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148840"/>
            <a:ext cx="621792" cy="621792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Read the brief</a:t>
            </a:r>
          </a:p>
        </p:txBody>
      </p:sp>
      <p:sp>
        <p:nvSpPr>
          <p:cNvPr id="12" name="Chevron 11"/>
          <p:cNvSpPr/>
          <p:nvPr/>
        </p:nvSpPr>
        <p:spPr>
          <a:xfrm>
            <a:off x="4187952" y="3063240"/>
            <a:ext cx="384048" cy="457200"/>
          </a:xfrm>
          <a:prstGeom prst="chevron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74519"/>
            <a:ext cx="3246120" cy="29718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0600" y="2148840"/>
            <a:ext cx="621792" cy="621792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Choose the story</a:t>
            </a:r>
          </a:p>
        </p:txBody>
      </p:sp>
      <p:sp>
        <p:nvSpPr>
          <p:cNvPr id="17" name="Chevron 16"/>
          <p:cNvSpPr/>
          <p:nvPr/>
        </p:nvSpPr>
        <p:spPr>
          <a:xfrm>
            <a:off x="7982712" y="3063240"/>
            <a:ext cx="384048" cy="457200"/>
          </a:xfrm>
          <a:prstGeom prst="chevron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2148840"/>
            <a:ext cx="621792" cy="621792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Build editable slides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Build the request in five clear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600200" cy="658368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508760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Clear charts, messages and next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50008"/>
            <a:ext cx="1600200" cy="658368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8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441448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Quarterly workbook, Manager brief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82696"/>
            <a:ext cx="1600200" cy="658368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65576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374136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Turn the numbers into a five-slide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15384"/>
            <a:ext cx="1600200" cy="658368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306824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Five slides; Q3 revenue S$378k and net S$108.5k match Excel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48072"/>
            <a:ext cx="1600200" cy="658368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30952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239512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Pause before sending, scheduling or publishing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The task needs three simple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008287"/>
                </a:solidFill>
                <a:latin typeface="Aptos"/>
              </a:defRPr>
            </a:pPr>
            <a:r>
              <a:t>FIND &amp;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Quarterly workbook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Cowork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83080"/>
            <a:ext cx="3337560" cy="352044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ECA737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Clear charts, messages and next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Spreadsheet skill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B8D6A"/>
                </a:solidFill>
                <a:latin typeface="Aptos"/>
              </a:defRPr>
            </a:pPr>
            <a:r>
              <a:t>REVIEW OR 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Five slides; Q3 revenue S$378k and net S$108.5k match Excel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PowerPoint skill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Preview the finished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52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600200"/>
          <a:ext cx="6629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1828800"/>
            <a:ext cx="3749039" cy="356616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828800"/>
            <a:ext cx="64008" cy="356616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2011680"/>
            <a:ext cx="3364991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FINISHED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450592"/>
            <a:ext cx="3364991" cy="28072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Clear charts, messages and next actions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Five slides; Q3 revenue S$378k and net S$108.5k match Excel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One human check before you use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056132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2148840"/>
            <a:ext cx="1280160" cy="1280160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87168"/>
            <a:ext cx="12801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40280"/>
            <a:ext cx="7909560" cy="12801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142B43"/>
                </a:solidFill>
                <a:latin typeface="Aptos"/>
              </a:defRPr>
            </a:pPr>
            <a:r>
              <a:t>Five slides; Q3 revenue S$378k and net S$108.5k match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840480"/>
            <a:ext cx="7498079" cy="5486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AC3C37"/>
                </a:solidFill>
                <a:latin typeface="Aptos"/>
              </a:defRPr>
            </a:pPr>
            <a:r>
              <a:t>If this does not match, correct the output and run the check again.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When this automation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983480" cy="333756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64008" cy="333756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WHO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Finance business partner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4983480" cy="333756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64008" cy="333756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Before a management meeting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good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Five-slide 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Figures match Excel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Actions are explicit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Try a useful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Board audience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Investor update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One-page summary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LAB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Finish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57</a:t>
            </a:r>
          </a:p>
        </p:txBody>
      </p:sp>
      <p:pic>
        <p:nvPicPr>
          <p:cNvPr id="8" name="Picture 7" descr="research-to-slides.png"/>
          <p:cNvPicPr>
            <a:picLocks noChangeAspect="1"/>
          </p:cNvPicPr>
          <p:nvPr/>
        </p:nvPicPr>
        <p:blipFill>
          <a:blip r:embed="rId2"/>
          <a:srcRect l="16603" r="16603"/>
          <a:stretch>
            <a:fillRect/>
          </a:stretch>
        </p:blipFill>
        <p:spPr>
          <a:xfrm>
            <a:off x="731520" y="1600200"/>
            <a:ext cx="4937760" cy="4160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783080"/>
            <a:ext cx="5349240" cy="34747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83080"/>
            <a:ext cx="64008" cy="34747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96596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YOU ARE DONE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4965192" cy="27157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Five slides; Q3 revenue S$378k and net S$108.5k match Excel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Save the skill for the next reporting period.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TOPIC 02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Research and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4350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475945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USE CASE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475945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 structured Excel research tracker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1828800"/>
            <a:ext cx="514350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59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7" y="2011680"/>
            <a:ext cx="475945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USE CASE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7" y="2450592"/>
            <a:ext cx="475945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Clear charts, messages and next actions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xcel-dashboard-team.png"/>
          <p:cNvPicPr>
            <a:picLocks noChangeAspect="1"/>
          </p:cNvPicPr>
          <p:nvPr/>
        </p:nvPicPr>
        <p:blipFill>
          <a:blip r:embed="rId2"/>
          <a:srcRect l="21736" r="21736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94360"/>
            <a:ext cx="2240280" cy="34747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224028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069080" cy="187451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Monitor and Deliver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977639" cy="1371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Extract, explain, monitor and deliver routine finance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C1382  •  v2.1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84280" y="6327648"/>
            <a:ext cx="438912" cy="3200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3916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voice-to-ap.png"/>
          <p:cNvPicPr>
            <a:picLocks noChangeAspect="1"/>
          </p:cNvPicPr>
          <p:nvPr/>
        </p:nvPicPr>
        <p:blipFill>
          <a:blip r:embed="rId2"/>
          <a:srcRect l="21736" r="21736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94360"/>
            <a:ext cx="2240280" cy="34747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224028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USE CASE 05 · DOCUMENT TO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069080" cy="187451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Build an AP Tracker from Invoices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977639" cy="1371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A tidy AP tracker ready for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C1382  •  v2.1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84280" y="6327648"/>
            <a:ext cx="438912" cy="3200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3916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E6152"/>
                </a:solidFill>
                <a:latin typeface="Aptos"/>
              </a:defRPr>
            </a:pPr>
            <a:r>
              <a:t>USE CASE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From repetitive work to a finished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452628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24612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1422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96312"/>
            <a:ext cx="414223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Invoice details are copied one file at a time</a:t>
            </a:r>
          </a:p>
        </p:txBody>
      </p:sp>
      <p:sp>
        <p:nvSpPr>
          <p:cNvPr id="12" name="Chevron 11"/>
          <p:cNvSpPr/>
          <p:nvPr/>
        </p:nvSpPr>
        <p:spPr>
          <a:xfrm>
            <a:off x="5513832" y="3154680"/>
            <a:ext cx="384048" cy="457200"/>
          </a:xfrm>
          <a:prstGeom prst="chevron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80760" y="1874519"/>
            <a:ext cx="534924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64008" cy="324612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05740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496312"/>
            <a:ext cx="496519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 tidy AP tracker ready for review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E6152"/>
                </a:solidFill>
                <a:latin typeface="Aptos"/>
              </a:defRPr>
            </a:pPr>
            <a:r>
              <a:t>USE CASE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receives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6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19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DE6152"/>
                </a:solidFill>
                <a:latin typeface="Aptos"/>
              </a:defRPr>
            </a:pPr>
            <a:r>
              <a:t>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Five mock invoice PDFs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6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0680" y="2148840"/>
            <a:ext cx="1600200" cy="11430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DE6152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AP tracker template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6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DE6152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Review rules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E6152"/>
                </a:solidFill>
                <a:latin typeface="Aptos"/>
              </a:defRPr>
            </a:pPr>
            <a:r>
              <a:t>USE CASE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148840"/>
            <a:ext cx="621792" cy="621792"/>
          </a:xfrm>
          <a:prstGeom prst="round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Read invoices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87952" y="3063240"/>
            <a:ext cx="384048" cy="457200"/>
          </a:xfrm>
          <a:prstGeom prst="chevron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74519"/>
            <a:ext cx="3246120" cy="29718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0600" y="2148840"/>
            <a:ext cx="621792" cy="621792"/>
          </a:xfrm>
          <a:prstGeom prst="round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Extract fields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82712" y="3063240"/>
            <a:ext cx="384048" cy="457200"/>
          </a:xfrm>
          <a:prstGeom prst="chevron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2148840"/>
            <a:ext cx="621792" cy="621792"/>
          </a:xfrm>
          <a:prstGeom prst="round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Flag exceptions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E6152"/>
                </a:solidFill>
                <a:latin typeface="Aptos"/>
              </a:defRPr>
            </a:pPr>
            <a:r>
              <a:t>USE CASE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Build the request in five clear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600200" cy="658368"/>
          </a:xfrm>
          <a:prstGeom prst="round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508760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A tidy AP tracker ready for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50008"/>
            <a:ext cx="1600200" cy="658368"/>
          </a:xfrm>
          <a:prstGeom prst="round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8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441448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Five mock invoice PDFs, AP tracker template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82696"/>
            <a:ext cx="1600200" cy="658368"/>
          </a:xfrm>
          <a:prstGeom prst="round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65576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374136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Extract five invoices and flag anything uncertain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15384"/>
            <a:ext cx="1600200" cy="658368"/>
          </a:xfrm>
          <a:prstGeom prst="round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306824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Five rows; duplicate INV-204 and missing PO are visible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48072"/>
            <a:ext cx="1600200" cy="658368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30952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239512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Pause before sending, scheduling or publishing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E6152"/>
                </a:solidFill>
                <a:latin typeface="Aptos"/>
              </a:defRPr>
            </a:pPr>
            <a:r>
              <a:t>USE CASE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The task needs three simple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008287"/>
                </a:solidFill>
                <a:latin typeface="Aptos"/>
              </a:defRPr>
            </a:pPr>
            <a:r>
              <a:t>FIND &amp;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Five mock invoice PDFs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Document reading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83080"/>
            <a:ext cx="3337560" cy="352044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ECA737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A tidy AP tracker ready for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PDF skill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B8D6A"/>
                </a:solidFill>
                <a:latin typeface="Aptos"/>
              </a:defRPr>
            </a:pPr>
            <a:r>
              <a:t>REVIEW OR 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Five rows; duplicate INV-204 and missing PO are visible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Spreadsheet skill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E6152"/>
                </a:solidFill>
                <a:latin typeface="Aptos"/>
              </a:defRPr>
            </a:pPr>
            <a:r>
              <a:t>USE CASE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Preview the finished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78638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E6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1645920" cy="45720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56816"/>
            <a:ext cx="164592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INVOICE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828800"/>
            <a:ext cx="1645920" cy="45720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956816"/>
            <a:ext cx="164592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SUPPLIER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1645920" cy="45720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956816"/>
            <a:ext cx="164592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1645920" cy="45720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56816"/>
            <a:ext cx="164592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423160"/>
            <a:ext cx="1645920" cy="438912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3288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INV-201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2423160"/>
            <a:ext cx="1645920" cy="438912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253288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Northstar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2423160"/>
            <a:ext cx="1645920" cy="438912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53288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S$1,250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423160"/>
            <a:ext cx="1645920" cy="438912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53288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017520"/>
            <a:ext cx="1645920" cy="438912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12724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INV-202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017520"/>
            <a:ext cx="1645920" cy="438912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312724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Greenfield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3017520"/>
            <a:ext cx="1645920" cy="438912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12724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S$2,180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017520"/>
            <a:ext cx="1645920" cy="438912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12724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3611880"/>
            <a:ext cx="1645920" cy="438912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72160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INV-203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3611880"/>
            <a:ext cx="1645920" cy="438912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372160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Metro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3611880"/>
            <a:ext cx="1645920" cy="438912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72160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S$860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611880"/>
            <a:ext cx="1645920" cy="438912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72160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4206240"/>
            <a:ext cx="1645920" cy="438912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31596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INV-204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51760" y="4206240"/>
            <a:ext cx="1645920" cy="438912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0" y="431596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Northstar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4206240"/>
            <a:ext cx="1645920" cy="438912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431596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S$1,250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4206240"/>
            <a:ext cx="1645920" cy="438912"/>
          </a:xfrm>
          <a:prstGeom prst="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31596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AC3C37"/>
                </a:solidFill>
                <a:latin typeface="Aptos"/>
              </a:defRPr>
            </a:pPr>
            <a:r>
              <a:t>DUPLICATE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4800600"/>
            <a:ext cx="1645920" cy="438912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491032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INV-205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51760" y="4800600"/>
            <a:ext cx="1645920" cy="438912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0" y="491032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Bluewave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0" y="4800600"/>
            <a:ext cx="1645920" cy="438912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0" y="491032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2A363D"/>
                </a:solidFill>
                <a:latin typeface="Aptos"/>
              </a:defRPr>
            </a:pPr>
            <a:r>
              <a:t>S$3,400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4800600"/>
            <a:ext cx="1645920" cy="438912"/>
          </a:xfrm>
          <a:prstGeom prst="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4910328"/>
            <a:ext cx="1463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AC3C37"/>
                </a:solidFill>
                <a:latin typeface="Aptos"/>
              </a:defRPr>
            </a:pPr>
            <a:r>
              <a:t>MISSING PO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32520" y="1828800"/>
            <a:ext cx="2560320" cy="356616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32520" y="1828800"/>
            <a:ext cx="64008" cy="356616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33688" y="2011680"/>
            <a:ext cx="217627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EXCEPTIONS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33688" y="2450592"/>
            <a:ext cx="2176272" cy="28072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Duplicate retained for review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Missing PO remains unresolved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E6152"/>
                </a:solidFill>
                <a:latin typeface="Aptos"/>
              </a:defRPr>
            </a:pPr>
            <a:r>
              <a:t>USE CASE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One human check before you use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056132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2148840"/>
            <a:ext cx="1280160" cy="1280160"/>
          </a:xfrm>
          <a:prstGeom prst="round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87168"/>
            <a:ext cx="12801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40280"/>
            <a:ext cx="7909560" cy="12801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142B43"/>
                </a:solidFill>
                <a:latin typeface="Aptos"/>
              </a:defRPr>
            </a:pPr>
            <a:r>
              <a:t>Five rows; duplicate INV-204 and missing PO are visible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840480"/>
            <a:ext cx="7498079" cy="5486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AC3C37"/>
                </a:solidFill>
                <a:latin typeface="Aptos"/>
              </a:defRPr>
            </a:pPr>
            <a:r>
              <a:t>If this does not match, correct the output and run the check again.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E6152"/>
                </a:solidFill>
                <a:latin typeface="Aptos"/>
              </a:defRPr>
            </a:pPr>
            <a:r>
              <a:t>USE CASE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When this automation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983480" cy="333756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64008" cy="333756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WHO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Accounts payable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4983480" cy="333756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64008" cy="333756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When invoice batches arrive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E6152"/>
                </a:solidFill>
                <a:latin typeface="Aptos"/>
              </a:defRPr>
            </a:pPr>
            <a:r>
              <a:t>USE CASE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good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All five invoices captured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Duplicate remains visible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Missing PO is flagged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E6152"/>
                </a:solidFill>
                <a:latin typeface="Aptos"/>
              </a:defRPr>
            </a:pPr>
            <a:r>
              <a:t>USE CASE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Try a useful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Expense receipts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Purchase 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Vendor statements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DE6152"/>
                </a:solidFill>
                <a:latin typeface="Aptos"/>
              </a:defRPr>
            </a:pPr>
            <a:r>
              <a:t>LAB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Finish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71</a:t>
            </a:r>
          </a:p>
        </p:txBody>
      </p:sp>
      <p:pic>
        <p:nvPicPr>
          <p:cNvPr id="8" name="Picture 7" descr="invoice-to-ap.png"/>
          <p:cNvPicPr>
            <a:picLocks noChangeAspect="1"/>
          </p:cNvPicPr>
          <p:nvPr/>
        </p:nvPicPr>
        <p:blipFill>
          <a:blip r:embed="rId2"/>
          <a:srcRect l="16603" r="16603"/>
          <a:stretch>
            <a:fillRect/>
          </a:stretch>
        </p:blipFill>
        <p:spPr>
          <a:xfrm>
            <a:off x="731520" y="1600200"/>
            <a:ext cx="4937760" cy="4160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783080"/>
            <a:ext cx="5349240" cy="34747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83080"/>
            <a:ext cx="64008" cy="347472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96596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YOU ARE DONE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4965192" cy="27157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Five rows; duplicate INV-204 and missing PO are visible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Save the skill for the next reporting period.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xcel-dashboard-team.png"/>
          <p:cNvPicPr>
            <a:picLocks noChangeAspect="1"/>
          </p:cNvPicPr>
          <p:nvPr/>
        </p:nvPicPr>
        <p:blipFill>
          <a:blip r:embed="rId2"/>
          <a:srcRect l="21736" r="21736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94360"/>
            <a:ext cx="2240280" cy="34747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224028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USE CASE 06 · NUMBERS TO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069080" cy="187451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Write Budget Variance Commentary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977639" cy="1371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A reviewed workbook and one-page commentary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C1382  •  v2.1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84280" y="6327648"/>
            <a:ext cx="438912" cy="3200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3916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From repetitive work to a finished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452628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24612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1422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96312"/>
            <a:ext cx="414223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Managers see variances but not the story</a:t>
            </a:r>
          </a:p>
        </p:txBody>
      </p:sp>
      <p:sp>
        <p:nvSpPr>
          <p:cNvPr id="12" name="Chevron 11"/>
          <p:cNvSpPr/>
          <p:nvPr/>
        </p:nvSpPr>
        <p:spPr>
          <a:xfrm>
            <a:off x="5513832" y="3154680"/>
            <a:ext cx="384048" cy="457200"/>
          </a:xfrm>
          <a:prstGeom prst="chevron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80760" y="1874519"/>
            <a:ext cx="534924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05740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496312"/>
            <a:ext cx="496519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 reviewed workbook and one-page commentary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receives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CA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19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ECA737"/>
                </a:solidFill>
                <a:latin typeface="Aptos"/>
              </a:defRPr>
            </a:pPr>
            <a:r>
              <a:t>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Budget vs actual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CA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0680" y="2148840"/>
            <a:ext cx="1600200" cy="11430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ECA737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Department notes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CA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ECA737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Materiality rule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148840"/>
            <a:ext cx="621792" cy="621792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Calculate variance</a:t>
            </a:r>
          </a:p>
        </p:txBody>
      </p:sp>
      <p:sp>
        <p:nvSpPr>
          <p:cNvPr id="12" name="Chevron 11"/>
          <p:cNvSpPr/>
          <p:nvPr/>
        </p:nvSpPr>
        <p:spPr>
          <a:xfrm>
            <a:off x="4187952" y="3063240"/>
            <a:ext cx="384048" cy="457200"/>
          </a:xfrm>
          <a:prstGeom prst="chevron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74519"/>
            <a:ext cx="3246120" cy="29718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0600" y="2148840"/>
            <a:ext cx="621792" cy="621792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Highlight material items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82712" y="3063240"/>
            <a:ext cx="384048" cy="457200"/>
          </a:xfrm>
          <a:prstGeom prst="chevron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2148840"/>
            <a:ext cx="621792" cy="621792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Draft commentary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Build the request in five clear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600200" cy="658368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508760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A reviewed workbook and one-page commentary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50008"/>
            <a:ext cx="1600200" cy="658368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8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441448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Budget vs actual, Department notes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82696"/>
            <a:ext cx="1600200" cy="658368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65576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374136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Calculate material variances and explain them simply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15384"/>
            <a:ext cx="1600200" cy="658368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306824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Each comment links to a line item or is marked as a question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48072"/>
            <a:ext cx="1600200" cy="658368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30952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239512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Pause before sending, scheduling or publishing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The task needs three simple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008287"/>
                </a:solidFill>
                <a:latin typeface="Aptos"/>
              </a:defRPr>
            </a:pPr>
            <a:r>
              <a:t>FIND &amp;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Budget vs 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Cowork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83080"/>
            <a:ext cx="3337560" cy="352044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ECA737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A reviewed workbook and one-page commentary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Spreadsheet skill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B8D6A"/>
                </a:solidFill>
                <a:latin typeface="Aptos"/>
              </a:defRPr>
            </a:pPr>
            <a:r>
              <a:t>REVIEW OR 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Each comment links to a line item or is marked as a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Document skill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Preview the finished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78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645920"/>
          <a:ext cx="64922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79" y="1783080"/>
            <a:ext cx="3840480" cy="3749039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783080"/>
            <a:ext cx="64008" cy="3749039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8" y="1965960"/>
            <a:ext cx="3456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COMMENTARY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404872"/>
            <a:ext cx="3456432" cy="2990087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Marketing +S$8k: campaign timing.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Travel +S$9k: client visits.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Contractors −S$4k: delayed onboarding.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One human check before you use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056132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2148840"/>
            <a:ext cx="1280160" cy="1280160"/>
          </a:xfrm>
          <a:prstGeom prst="round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87168"/>
            <a:ext cx="12801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40280"/>
            <a:ext cx="7909560" cy="12801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142B43"/>
                </a:solidFill>
                <a:latin typeface="Aptos"/>
              </a:defRPr>
            </a:pPr>
            <a:r>
              <a:t>Each comment links to a line item or is marked as a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840480"/>
            <a:ext cx="7498079" cy="5486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AC3C37"/>
                </a:solidFill>
                <a:latin typeface="Aptos"/>
              </a:defRPr>
            </a:pPr>
            <a:r>
              <a:t>If this does not match, correct the output and run the check again.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When this automation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983480" cy="333756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64008" cy="333756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WHO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Cost-centre owner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4983480" cy="333756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64008" cy="333756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During the monthly review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good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Material items highlighted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Reason ties to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Unknowns become questions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USE CASE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Try a useful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Headcount variance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Project spend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Forecast changes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CA737"/>
                </a:solidFill>
                <a:latin typeface="Aptos"/>
              </a:defRPr>
            </a:pPr>
            <a:r>
              <a:t>LAB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Finish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83</a:t>
            </a:r>
          </a:p>
        </p:txBody>
      </p:sp>
      <p:pic>
        <p:nvPicPr>
          <p:cNvPr id="8" name="Picture 7" descr="excel-dashboard-team.png"/>
          <p:cNvPicPr>
            <a:picLocks noChangeAspect="1"/>
          </p:cNvPicPr>
          <p:nvPr/>
        </p:nvPicPr>
        <p:blipFill>
          <a:blip r:embed="rId2"/>
          <a:srcRect l="16603" r="16603"/>
          <a:stretch>
            <a:fillRect/>
          </a:stretch>
        </p:blipFill>
        <p:spPr>
          <a:xfrm>
            <a:off x="731520" y="1600200"/>
            <a:ext cx="4937760" cy="4160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783080"/>
            <a:ext cx="5349240" cy="34747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83080"/>
            <a:ext cx="64008" cy="34747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96596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YOU ARE DONE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4965192" cy="27157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Each comment links to a line item or is marked as a question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Save the skill for the next reporting period.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shflow-watchlist.png"/>
          <p:cNvPicPr>
            <a:picLocks noChangeAspect="1"/>
          </p:cNvPicPr>
          <p:nvPr/>
        </p:nvPicPr>
        <p:blipFill>
          <a:blip r:embed="rId2"/>
          <a:srcRect l="21736" r="21736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94360"/>
            <a:ext cx="2240280" cy="34747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224028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USE CASE 07 · LOOK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069080" cy="187451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Build a Cash-Flow Watchlist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977639" cy="1371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A cash watchlist and reviewed email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C1382  •  v2.1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84280" y="6327648"/>
            <a:ext cx="438912" cy="3200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3916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From repetitive work to a finished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452628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24612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1422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96312"/>
            <a:ext cx="414223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Receipts and payments sit in separate files</a:t>
            </a:r>
          </a:p>
        </p:txBody>
      </p:sp>
      <p:sp>
        <p:nvSpPr>
          <p:cNvPr id="12" name="Chevron 11"/>
          <p:cNvSpPr/>
          <p:nvPr/>
        </p:nvSpPr>
        <p:spPr>
          <a:xfrm>
            <a:off x="5513832" y="3154680"/>
            <a:ext cx="384048" cy="457200"/>
          </a:xfrm>
          <a:prstGeom prst="chevron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80760" y="1874519"/>
            <a:ext cx="534924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05740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496312"/>
            <a:ext cx="496519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 cash watchlist and reviewed email draft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receives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1B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19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B8D6A"/>
                </a:solidFill>
                <a:latin typeface="Aptos"/>
              </a:defRPr>
            </a:pPr>
            <a:r>
              <a:t>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Receivables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1B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0680" y="2148840"/>
            <a:ext cx="1600200" cy="11430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B8D6A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1B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1B8D6A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Cash assumptions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148840"/>
            <a:ext cx="621792" cy="621792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Merge dates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87952" y="3063240"/>
            <a:ext cx="384048" cy="457200"/>
          </a:xfrm>
          <a:prstGeom prst="chevron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74519"/>
            <a:ext cx="3246120" cy="29718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0600" y="2148840"/>
            <a:ext cx="621792" cy="621792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Calculate balance</a:t>
            </a:r>
          </a:p>
        </p:txBody>
      </p:sp>
      <p:sp>
        <p:nvSpPr>
          <p:cNvPr id="17" name="Chevron 16"/>
          <p:cNvSpPr/>
          <p:nvPr/>
        </p:nvSpPr>
        <p:spPr>
          <a:xfrm>
            <a:off x="7982712" y="3063240"/>
            <a:ext cx="384048" cy="457200"/>
          </a:xfrm>
          <a:prstGeom prst="chevron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2148840"/>
            <a:ext cx="621792" cy="621792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Draft alert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Build the request in five clear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600200" cy="658368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508760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A cash watchlist and reviewed email draft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50008"/>
            <a:ext cx="1600200" cy="658368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8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441448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Receivables, 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82696"/>
            <a:ext cx="1600200" cy="658368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65576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374136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Combine them into a 14-day running balance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15384"/>
            <a:ext cx="1600200" cy="658368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306824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Low-balance day and top payments match the workbook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48072"/>
            <a:ext cx="1600200" cy="658368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30952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239512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Pause before sending, scheduling or publishing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The task needs three simple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008287"/>
                </a:solidFill>
                <a:latin typeface="Aptos"/>
              </a:defRPr>
            </a:pPr>
            <a:r>
              <a:t>FIND &amp;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Receivables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Cowork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83080"/>
            <a:ext cx="3337560" cy="352044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ECA737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A cash watchlist and reviewed email draft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Spreadsheet skill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B8D6A"/>
                </a:solidFill>
                <a:latin typeface="Aptos"/>
              </a:defRPr>
            </a:pPr>
            <a:r>
              <a:t>REVIEW OR 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Low-balance day and top payments match the workbook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Outlook draft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Preview the finished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90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69164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43800" y="1783080"/>
            <a:ext cx="3794760" cy="36576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783080"/>
            <a:ext cx="64008" cy="365760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965960"/>
            <a:ext cx="34107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WATCHLIST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2404872"/>
            <a:ext cx="3410712" cy="289864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Day 9: S$42k low point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Top payment: S$92k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Expected recovery: Day 11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Email remains a draft.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One human check before you use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056132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2148840"/>
            <a:ext cx="1280160" cy="1280160"/>
          </a:xfrm>
          <a:prstGeom prst="round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87168"/>
            <a:ext cx="12801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40280"/>
            <a:ext cx="7909560" cy="12801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142B43"/>
                </a:solidFill>
                <a:latin typeface="Aptos"/>
              </a:defRPr>
            </a:pPr>
            <a:r>
              <a:t>Low-balance day and top payments match the workbook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840480"/>
            <a:ext cx="7498079" cy="5486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AC3C37"/>
                </a:solidFill>
                <a:latin typeface="Aptos"/>
              </a:defRPr>
            </a:pPr>
            <a:r>
              <a:t>If this does not match, correct the output and run the check again.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When this automation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983480" cy="333756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64008" cy="333756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WHO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Treasury analyst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4983480" cy="333756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64008" cy="333756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Before the daily cash call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good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14-day balance reconciles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Low point is visible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Email remains a draft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USE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Try a useful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30-day horizon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Currency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Scenario stress test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LAB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Finish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95</a:t>
            </a:r>
          </a:p>
        </p:txBody>
      </p:sp>
      <p:pic>
        <p:nvPicPr>
          <p:cNvPr id="8" name="Picture 7" descr="cashflow-watchlist.png"/>
          <p:cNvPicPr>
            <a:picLocks noChangeAspect="1"/>
          </p:cNvPicPr>
          <p:nvPr/>
        </p:nvPicPr>
        <p:blipFill>
          <a:blip r:embed="rId2"/>
          <a:srcRect l="16603" r="16603"/>
          <a:stretch>
            <a:fillRect/>
          </a:stretch>
        </p:blipFill>
        <p:spPr>
          <a:xfrm>
            <a:off x="731520" y="1600200"/>
            <a:ext cx="4937760" cy="4160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783080"/>
            <a:ext cx="5349240" cy="34747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83080"/>
            <a:ext cx="64008" cy="34747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96596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YOU ARE DONE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4965192" cy="27157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Low-balance day and top payments match the workbook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Save the skill for the next reporting period.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heduled-briefing.png"/>
          <p:cNvPicPr>
            <a:picLocks noChangeAspect="1"/>
          </p:cNvPicPr>
          <p:nvPr/>
        </p:nvPicPr>
        <p:blipFill>
          <a:blip r:embed="rId2"/>
          <a:srcRect l="21736" r="21736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94360"/>
            <a:ext cx="2240280" cy="34747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224028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USE CASE 08 · REPEATABLE ROUTINE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069080" cy="187451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Schedule a Weekly Finance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977639" cy="1371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A controlled weekly routine ready for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C1382  •  v2.1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84280" y="6327648"/>
            <a:ext cx="438912" cy="3200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3916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From repetitive work to a finished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452628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4008" cy="324612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41422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96312"/>
            <a:ext cx="414223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The same briefing is rebuilt every Monday</a:t>
            </a:r>
          </a:p>
        </p:txBody>
      </p:sp>
      <p:sp>
        <p:nvSpPr>
          <p:cNvPr id="12" name="Chevron 11"/>
          <p:cNvSpPr/>
          <p:nvPr/>
        </p:nvSpPr>
        <p:spPr>
          <a:xfrm>
            <a:off x="5513832" y="3154680"/>
            <a:ext cx="384048" cy="457200"/>
          </a:xfrm>
          <a:prstGeom prst="chevron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80760" y="1874519"/>
            <a:ext cx="534924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05740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496312"/>
            <a:ext cx="496519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 controlled weekly routine ready for approval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receives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19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08287"/>
                </a:solidFill>
                <a:latin typeface="Aptos"/>
              </a:defRPr>
            </a:pPr>
            <a:r>
              <a:t>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Approved workbook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0680" y="2148840"/>
            <a:ext cx="1600200" cy="11430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08287"/>
                </a:solidFill>
                <a:latin typeface="Aptos"/>
              </a:defRPr>
            </a:pPr>
            <a:r>
              <a:t>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Release checklist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148840"/>
            <a:ext cx="1600200" cy="11430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478024"/>
            <a:ext cx="160020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08287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840480"/>
            <a:ext cx="260604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Test recipient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Cowork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148840"/>
            <a:ext cx="621792" cy="62179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Run on demand</a:t>
            </a:r>
          </a:p>
        </p:txBody>
      </p:sp>
      <p:sp>
        <p:nvSpPr>
          <p:cNvPr id="12" name="Chevron 11"/>
          <p:cNvSpPr/>
          <p:nvPr/>
        </p:nvSpPr>
        <p:spPr>
          <a:xfrm>
            <a:off x="4187952" y="3063240"/>
            <a:ext cx="384048" cy="457200"/>
          </a:xfrm>
          <a:prstGeom prst="chevron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74519"/>
            <a:ext cx="3246120" cy="297180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00600" y="2148840"/>
            <a:ext cx="621792" cy="62179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Check approval</a:t>
            </a:r>
          </a:p>
        </p:txBody>
      </p:sp>
      <p:sp>
        <p:nvSpPr>
          <p:cNvPr id="17" name="Chevron 16"/>
          <p:cNvSpPr/>
          <p:nvPr/>
        </p:nvSpPr>
        <p:spPr>
          <a:xfrm>
            <a:off x="7982712" y="3063240"/>
            <a:ext cx="384048" cy="457200"/>
          </a:xfrm>
          <a:prstGeom prst="chevron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874519"/>
            <a:ext cx="3246120" cy="297180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2148840"/>
            <a:ext cx="621792" cy="62179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295144"/>
            <a:ext cx="621792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108960"/>
            <a:ext cx="2697480" cy="7315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142B43"/>
                </a:solidFill>
                <a:latin typeface="Aptos"/>
              </a:defRPr>
            </a:pPr>
            <a:r>
              <a:t>Prepare delivery flow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Build the request in five clear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600200" cy="658368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508760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A controlled weekly routine ready for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50008"/>
            <a:ext cx="1600200" cy="658368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8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441448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Approved workbook, Release checklist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82696"/>
            <a:ext cx="1600200" cy="658368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65576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374136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Rehearse a scheduled task using only an approved workbook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15384"/>
            <a:ext cx="1600200" cy="658368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306824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Draft stays on demand; unapproved workbook is rejected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48072"/>
            <a:ext cx="1600200" cy="658368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30952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239512"/>
            <a:ext cx="8549640" cy="5029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42B43"/>
                </a:solidFill>
                <a:latin typeface="Aptos"/>
              </a:defRPr>
            </a:pPr>
            <a:r>
              <a:t>Pause before sending, scheduling or publishing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The task needs three simple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008287"/>
                </a:solidFill>
                <a:latin typeface="Aptos"/>
              </a:defRPr>
            </a:pPr>
            <a:r>
              <a:t>FIND &amp;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Approved workbook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Scheduled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83080"/>
            <a:ext cx="3337560" cy="352044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ECA737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A controlled weekly routine ready for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OneDrive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783080"/>
            <a:ext cx="333756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103120"/>
            <a:ext cx="2788920" cy="27432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B8D6A"/>
                </a:solidFill>
                <a:latin typeface="Aptos"/>
              </a:defRPr>
            </a:pPr>
            <a:r>
              <a:t>REVIEW OR 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743200"/>
            <a:ext cx="2697480" cy="8229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42B43"/>
                </a:solidFill>
                <a:latin typeface="Aptos"/>
              </a:defRPr>
            </a:pPr>
            <a:r>
              <a:t>Draft stays on demand; unapproved workbook is rejected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251960"/>
            <a:ext cx="2697480" cy="4114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5B6971"/>
                </a:solidFill>
                <a:latin typeface="Aptos"/>
              </a:defRPr>
            </a:pPr>
            <a:r>
              <a:t>Outlook + Power Automate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Preview the finished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874519" cy="2148840"/>
          </a:xfrm>
          <a:prstGeom prst="roundRect">
            <a:avLst/>
          </a:prstGeom>
          <a:solidFill>
            <a:srgbClr val="EFF7F7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70632"/>
            <a:ext cx="1600200" cy="6858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42B43"/>
                </a:solidFill>
                <a:latin typeface="Aptos"/>
              </a:defRPr>
            </a:pPr>
            <a:r>
              <a:t>APPROVED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42B43"/>
                </a:solidFill>
                <a:latin typeface="Aptos"/>
              </a:defRPr>
            </a:pPr>
            <a:r>
              <a:t>WORKBOOK</a:t>
            </a:r>
          </a:p>
        </p:txBody>
      </p:sp>
      <p:sp>
        <p:nvSpPr>
          <p:cNvPr id="10" name="Chevron 9"/>
          <p:cNvSpPr/>
          <p:nvPr/>
        </p:nvSpPr>
        <p:spPr>
          <a:xfrm>
            <a:off x="2404872" y="2971800"/>
            <a:ext cx="384048" cy="457200"/>
          </a:xfrm>
          <a:prstGeom prst="chevron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07208" y="2148840"/>
            <a:ext cx="1874519" cy="2148840"/>
          </a:xfrm>
          <a:prstGeom prst="roundRect">
            <a:avLst/>
          </a:prstGeom>
          <a:solidFill>
            <a:srgbClr val="FAF6ED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770632"/>
            <a:ext cx="1600200" cy="6858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42B43"/>
                </a:solidFill>
                <a:latin typeface="Aptos"/>
              </a:defRPr>
            </a:pPr>
            <a:r>
              <a:t>COWORK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42B43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3" name="Chevron 12"/>
          <p:cNvSpPr/>
          <p:nvPr/>
        </p:nvSpPr>
        <p:spPr>
          <a:xfrm>
            <a:off x="4709160" y="2971800"/>
            <a:ext cx="384048" cy="457200"/>
          </a:xfrm>
          <a:prstGeom prst="chevron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11496" y="2148840"/>
            <a:ext cx="1874519" cy="2148840"/>
          </a:xfrm>
          <a:prstGeom prst="roundRect">
            <a:avLst/>
          </a:prstGeom>
          <a:solidFill>
            <a:srgbClr val="EFF7F7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2770632"/>
            <a:ext cx="1600200" cy="6858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42B43"/>
                </a:solidFill>
                <a:latin typeface="Aptos"/>
              </a:defRPr>
            </a:pPr>
            <a:r>
              <a:t>ONEDRIVE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42B43"/>
                </a:solidFill>
                <a:latin typeface="Aptos"/>
              </a:defRPr>
            </a:pPr>
            <a:r>
              <a:t>FOLDER</a:t>
            </a:r>
          </a:p>
        </p:txBody>
      </p:sp>
      <p:sp>
        <p:nvSpPr>
          <p:cNvPr id="16" name="Chevron 15"/>
          <p:cNvSpPr/>
          <p:nvPr/>
        </p:nvSpPr>
        <p:spPr>
          <a:xfrm>
            <a:off x="7013448" y="2971800"/>
            <a:ext cx="384048" cy="457200"/>
          </a:xfrm>
          <a:prstGeom prst="chevron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5784" y="2148840"/>
            <a:ext cx="1874519" cy="2148840"/>
          </a:xfrm>
          <a:prstGeom prst="roundRect">
            <a:avLst/>
          </a:prstGeom>
          <a:solidFill>
            <a:srgbClr val="FAF6ED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770632"/>
            <a:ext cx="1600200" cy="6858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42B43"/>
                </a:solidFill>
                <a:latin typeface="Aptos"/>
              </a:defRPr>
            </a:pPr>
            <a:r>
              <a:t>POWER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42B43"/>
                </a:solidFill>
                <a:latin typeface="Aptos"/>
              </a:defRPr>
            </a:pPr>
            <a:r>
              <a:t>AUTOMATE</a:t>
            </a:r>
          </a:p>
        </p:txBody>
      </p:sp>
      <p:sp>
        <p:nvSpPr>
          <p:cNvPr id="19" name="Chevron 18"/>
          <p:cNvSpPr/>
          <p:nvPr/>
        </p:nvSpPr>
        <p:spPr>
          <a:xfrm>
            <a:off x="9317736" y="2971800"/>
            <a:ext cx="384048" cy="457200"/>
          </a:xfrm>
          <a:prstGeom prst="chevron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20072" y="2148840"/>
            <a:ext cx="1874519" cy="2148840"/>
          </a:xfrm>
          <a:prstGeom prst="roundRect">
            <a:avLst/>
          </a:prstGeom>
          <a:solidFill>
            <a:srgbClr val="EFF7F7"/>
          </a:solidFill>
          <a:ln>
            <a:solidFill>
              <a:srgbClr val="00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7232" y="2770632"/>
            <a:ext cx="1600200" cy="6858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42B43"/>
                </a:solidFill>
                <a:latin typeface="Aptos"/>
              </a:defRPr>
            </a:pPr>
            <a:r>
              <a:t>OUTLOOK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142B43"/>
                </a:solidFill>
                <a:latin typeface="Aptos"/>
              </a:defRPr>
            </a:pPr>
            <a:r>
              <a:t>TEST DRAFT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92040"/>
            <a:ext cx="10789920" cy="5943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AC3C37"/>
                </a:solidFill>
                <a:latin typeface="Aptos"/>
              </a:defRPr>
            </a:pPr>
            <a:r>
              <a:t>On demand rehearsal first  •  approval gate  •  test recipient  •  schedule remains disabled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One human check before you use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0561320" cy="35204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2148840"/>
            <a:ext cx="1280160" cy="1280160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87168"/>
            <a:ext cx="1280160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40280"/>
            <a:ext cx="7909560" cy="128016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142B43"/>
                </a:solidFill>
                <a:latin typeface="Aptos"/>
              </a:defRPr>
            </a:pPr>
            <a:r>
              <a:t>Draft stays on demand; unapproved workbook is rejected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840480"/>
            <a:ext cx="7498079" cy="5486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AC3C37"/>
                </a:solidFill>
                <a:latin typeface="Aptos"/>
              </a:defRPr>
            </a:pPr>
            <a:r>
              <a:t>If this does not match, correct the output and run the check again.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When this automation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983480" cy="333756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64008" cy="333756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WHO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Finance operations lead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4983480" cy="333756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64008" cy="333756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11680"/>
            <a:ext cx="45994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WHEN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50592"/>
            <a:ext cx="4599432" cy="25786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Before the Monday briefing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What good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Only approved file enters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Test recipient is 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Schedule remains disabled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USE CASE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Try a useful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Monthly pack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33756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Different approver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33756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011680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450592"/>
            <a:ext cx="295351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Teams notification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LAB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Finish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107</a:t>
            </a:r>
          </a:p>
        </p:txBody>
      </p:sp>
      <p:pic>
        <p:nvPicPr>
          <p:cNvPr id="8" name="Picture 7" descr="scheduled-briefing.png"/>
          <p:cNvPicPr>
            <a:picLocks noChangeAspect="1"/>
          </p:cNvPicPr>
          <p:nvPr/>
        </p:nvPicPr>
        <p:blipFill>
          <a:blip r:embed="rId2"/>
          <a:srcRect l="16603" r="16603"/>
          <a:stretch>
            <a:fillRect/>
          </a:stretch>
        </p:blipFill>
        <p:spPr>
          <a:xfrm>
            <a:off x="731520" y="1600200"/>
            <a:ext cx="4937760" cy="4160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783080"/>
            <a:ext cx="5349240" cy="34747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783080"/>
            <a:ext cx="64008" cy="34747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965960"/>
            <a:ext cx="49651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YOU ARE DONE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4965192" cy="27157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Draft stays on demand; unapproved workbook is rejected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Save the skill for the next reporting period.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B8D6A"/>
                </a:solidFill>
                <a:latin typeface="Aptos"/>
              </a:defRPr>
            </a:pPr>
            <a:r>
              <a:t>TOPIC 03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Monitor and Deliver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57175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324612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218770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USE CASE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218770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 tidy AP tracker ready for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6139" y="1828800"/>
            <a:ext cx="257175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6139" y="1828800"/>
            <a:ext cx="64008" cy="324612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7308" y="2011680"/>
            <a:ext cx="218770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USE CASE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308" y="2450592"/>
            <a:ext cx="218770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 reviewed workbook and one-page commentary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9" y="1828800"/>
            <a:ext cx="2571750" cy="324612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59" y="1828800"/>
            <a:ext cx="64008" cy="324612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7" y="2011680"/>
            <a:ext cx="218770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USE CASE 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7" y="2450592"/>
            <a:ext cx="218770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 cash watchlist and reviewed email draft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5380" y="1828800"/>
            <a:ext cx="2571750" cy="324612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5380" y="1828800"/>
            <a:ext cx="64008" cy="32461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6548" y="2011680"/>
            <a:ext cx="218770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USE CASE 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6548" y="2450592"/>
            <a:ext cx="2187702" cy="2487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 controlled weekly routine ready for approval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YOUR AUTOMATION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Eight tasks, one repeatable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468880" cy="310896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310896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20848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2084832" cy="23500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Choose 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468880" cy="310896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828800"/>
            <a:ext cx="64008" cy="310896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2011680"/>
            <a:ext cx="20848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450592"/>
            <a:ext cx="2084832" cy="23500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Ask clearly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2468880" cy="310896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64008" cy="310896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011680"/>
            <a:ext cx="20848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450592"/>
            <a:ext cx="2084832" cy="23500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Review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828800"/>
            <a:ext cx="2468880" cy="310896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828800"/>
            <a:ext cx="64008" cy="310896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6608" y="2011680"/>
            <a:ext cx="208483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2450592"/>
            <a:ext cx="2084832" cy="235000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Reuse the skill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NEXT MONDAY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Start with one task that already repeats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110</a:t>
            </a:r>
          </a:p>
        </p:txBody>
      </p:sp>
      <p:pic>
        <p:nvPicPr>
          <p:cNvPr id="8" name="Picture 7" descr="excel-dashboard-team.png"/>
          <p:cNvPicPr>
            <a:picLocks noChangeAspect="1"/>
          </p:cNvPicPr>
          <p:nvPr/>
        </p:nvPicPr>
        <p:blipFill>
          <a:blip r:embed="rId2"/>
          <a:srcRect l="12274" r="12274"/>
          <a:stretch>
            <a:fillRect/>
          </a:stretch>
        </p:blipFill>
        <p:spPr>
          <a:xfrm>
            <a:off x="731520" y="1600200"/>
            <a:ext cx="5577840" cy="4160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29400" y="1783080"/>
            <a:ext cx="4663440" cy="10058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1783080"/>
            <a:ext cx="64008" cy="100584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1965960"/>
            <a:ext cx="42793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PICK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2404872"/>
            <a:ext cx="4279392" cy="24688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one folder and one outcome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926080"/>
            <a:ext cx="4663440" cy="100584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2926080"/>
            <a:ext cx="64008" cy="100584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3108960"/>
            <a:ext cx="42793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3547872"/>
            <a:ext cx="4279392" cy="24688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on demand before scheduling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4069080"/>
            <a:ext cx="4663440" cy="100584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4069080"/>
            <a:ext cx="64008" cy="1005840"/>
          </a:xfrm>
          <a:prstGeom prst="rect">
            <a:avLst/>
          </a:prstGeom>
          <a:solidFill>
            <a:srgbClr val="1B8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0568" y="4251960"/>
            <a:ext cx="427939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8D6A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4690872"/>
            <a:ext cx="4279392" cy="24688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numbers, sources and recipient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420624"/>
            <a:ext cx="82296" cy="566928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93192"/>
            <a:ext cx="10058400" cy="228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8287"/>
                </a:solidFill>
                <a:latin typeface="Aptos"/>
              </a:defRPr>
            </a:pPr>
            <a:r>
              <a:t>KEEP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749808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42B43"/>
                </a:solidFill>
                <a:latin typeface="Aptos"/>
              </a:defRPr>
            </a:pPr>
            <a:r>
              <a:t>Draft first · approve before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C1382  •  v2.1  •  Task automation with Claude Cowork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5B6971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246120" cy="315468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64008" cy="315468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286207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8287"/>
                </a:solidFill>
                <a:latin typeface="Aptos"/>
              </a:defRPr>
            </a:pPr>
            <a:r>
              <a:t>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50592"/>
            <a:ext cx="2862072" cy="239572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Work from a copy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246120" cy="3154680"/>
          </a:xfrm>
          <a:prstGeom prst="roundRect">
            <a:avLst/>
          </a:prstGeom>
          <a:solidFill>
            <a:srgbClr val="FA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64008" cy="3154680"/>
          </a:xfrm>
          <a:prstGeom prst="rect">
            <a:avLst/>
          </a:prstGeom>
          <a:solidFill>
            <a:srgbClr val="ECA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011680"/>
            <a:ext cx="286207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CA737"/>
                </a:solidFill>
                <a:latin typeface="Aptos"/>
              </a:defRPr>
            </a:pPr>
            <a:r>
              <a:t>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450592"/>
            <a:ext cx="2862072" cy="239572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Check numbers and links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246120" cy="3154680"/>
          </a:xfrm>
          <a:prstGeom prst="roundRect">
            <a:avLst/>
          </a:prstGeom>
          <a:solidFill>
            <a:srgbClr val="EF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64008" cy="3154680"/>
          </a:xfrm>
          <a:prstGeom prst="rect">
            <a:avLst/>
          </a:prstGeom>
          <a:solidFill>
            <a:srgbClr val="DE6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011680"/>
            <a:ext cx="2862072" cy="32004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E6152"/>
                </a:solidFill>
                <a:latin typeface="Aptos"/>
              </a:defRPr>
            </a:pPr>
            <a:r>
              <a:t>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450592"/>
            <a:ext cx="2862072" cy="239572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363D"/>
                </a:solidFill>
                <a:latin typeface="Aptos"/>
              </a:defRPr>
            </a:pPr>
            <a:r>
              <a:t>Review before send or schedule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work-finance-hero.png"/>
          <p:cNvPicPr>
            <a:picLocks noChangeAspect="1"/>
          </p:cNvPicPr>
          <p:nvPr/>
        </p:nvPicPr>
        <p:blipFill>
          <a:blip r:embed="rId2"/>
          <a:srcRect l="21736" r="21736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94360"/>
            <a:ext cx="2240280" cy="347472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2240280" cy="201168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COURSE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069080" cy="1874519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Your Cowork automation toolkit is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977639" cy="1371600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Eight scenarios · eight reusable skills · one clear review habit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4114800" cy="164592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C1382  •  v2.1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84280" y="6327648"/>
            <a:ext cx="438912" cy="3200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84280" y="6391656"/>
            <a:ext cx="438912" cy="146304"/>
          </a:xfrm>
          <a:prstGeom prst="rect">
            <a:avLst/>
          </a:prstGeom>
          <a:noFill/>
        </p:spPr>
        <p:txBody>
          <a:bodyPr wrap="square" lIns="27432" rIns="27432" tIns="18288" anchor="t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112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