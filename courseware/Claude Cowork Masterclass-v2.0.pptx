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S$ thousands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Revenue</c:v>
                </c:pt>
                <c:pt idx="1">
                  <c:v>Expenses</c:v>
                </c:pt>
                <c:pt idx="2">
                  <c:v>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46.7</c:v>
                </c:pt>
                <c:pt idx="1">
                  <c:v>16.5</c:v>
                </c:pt>
                <c:pt idx="2">
                  <c:v>30.2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2834640" cy="10972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FFFFF"/>
                </a:solidFill>
              </a:defRPr>
            </a:pPr>
            <a:r>
              <a:t>FINANCE</a:t>
            </a:r>
          </a:p>
          <a:p>
            <a:pPr>
              <a:spcAft>
                <a:spcPts val="700"/>
              </a:spcAft>
              <a:defRPr sz="31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143000"/>
            <a:ext cx="7132320" cy="1417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4200" b="1">
                <a:solidFill>
                  <a:srgbClr val="162E48"/>
                </a:solidFill>
              </a:defRPr>
            </a:pPr>
            <a:r>
              <a:t>Claude Cowork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834640"/>
            <a:ext cx="676656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007D87"/>
                </a:solidFill>
              </a:defRPr>
            </a:pPr>
            <a:r>
              <a:t>Project → Excel → scheduled Outlook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4892040"/>
            <a:ext cx="6858000" cy="82296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4323C"/>
                </a:solidFill>
              </a:defRPr>
            </a:pPr>
            <a:r>
              <a:t>C1382 · One day · 7.5 instructional hours ·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Finance Cowork project and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920240"/>
            <a:ext cx="3154680" cy="256032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920240"/>
            <a:ext cx="64008" cy="256032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130552"/>
            <a:ext cx="275234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624328"/>
            <a:ext cx="2752344" cy="173736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Scoped synthetic folder</a:t>
            </a:r>
          </a:p>
        </p:txBody>
      </p:sp>
      <p:sp>
        <p:nvSpPr>
          <p:cNvPr id="12" name="Chevron 11"/>
          <p:cNvSpPr/>
          <p:nvPr/>
        </p:nvSpPr>
        <p:spPr>
          <a:xfrm>
            <a:off x="4325112" y="292608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9160" y="1920240"/>
            <a:ext cx="3154680" cy="256032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1920240"/>
            <a:ext cx="64008" cy="256032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0328" y="2130552"/>
            <a:ext cx="275234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2624328"/>
            <a:ext cx="2752344" cy="173736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Cowork project controls</a:t>
            </a:r>
          </a:p>
        </p:txBody>
      </p:sp>
      <p:sp>
        <p:nvSpPr>
          <p:cNvPr id="17" name="Chevron 16"/>
          <p:cNvSpPr/>
          <p:nvPr/>
        </p:nvSpPr>
        <p:spPr>
          <a:xfrm>
            <a:off x="8028431" y="292608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1920240"/>
            <a:ext cx="2743200" cy="256032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1920240"/>
            <a:ext cx="64008" cy="256032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3648" y="2130552"/>
            <a:ext cx="2340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2624328"/>
            <a:ext cx="2340864" cy="173736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Manifest + unchanged hash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Project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Finance Month-End Lab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synthetic August folder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outputs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Reject a plan that names a broader drive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Project scope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14 source rows; 7 columns; one duplicate 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Reject a plan that names a broader drive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Project scope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14 source rows; 7 columns; one duplicate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Reject a plan that names a broader drive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Folder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mock-data read-only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working copy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outputs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Stop if a raw cell changes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Folder boundary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Source SHA-256 unchanged after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Stop if a raw cell changes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Folder boundary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Source SHA-256 unchanged after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Stop if a raw cell changes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Project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Period + currency + eligibility rule + stop rule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Period + currency + eligibility rule + stop rule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Period + currency + eligibility rule + stop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Project rule outranks a vague task phrase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Project instructions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Approved, unique Document ID, SGD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Project rule outranks a vague task phrase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Project instructions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Approved, unique Document ID, SGD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Project rule outranks a vague task phrase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Task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Outcome + source + output + review gate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Outcome + source + output + review gate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Outcome + source + output + review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No recipient or publish action in first run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Task contract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Finance report August 2026, no email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No recipient or publish action in first 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Task contract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Finance report August 2026, no 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No recipient or publish action in first run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Source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Date | Document ID | Counterparty | Category | Amount | Currency | Status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Date | Document ID | Counterparty | Category | Amount | Currency | Status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Date | Document ID | Counterparty | Category | Amount | Currency |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Unknown currency or blank ID becomes exception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Source schema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14 rows × 7 fields in the workbook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Unknown currency or blank ID becomes exception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Source schema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14 rows × 7 fields in the workbook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Unknown currency or blank ID becomes exception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Approval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Approved is eligible; Pending is held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Approved is eligible; Pending is held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Approved is eligible; Pending is held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Do not include pending revenue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Approval field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INV-013 is Pending +S$2,200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Do not include pending revenue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Approval field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INV-013 is Pending +S$2,200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Do not include pending revenue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Duplicate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Document ID is business key within period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Document ID is business key within period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Document ID is business key within period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Keep first; log second occurrence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Duplicate key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BILL-012 occurs twice at -S$1,020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Keep first; log second occurrence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Duplicate key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BILL-012 occurs twice at -S$1,020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Keep first; log second occurrence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Provenance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Every output metric links to named source rows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Every output metric links to named source rows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Every output metric links to named source 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A narrative without row links is not evidence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Provenance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Revenue source: six approved invoices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A narrative without row links is not evidence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Provenance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Revenue source: six approved invoices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A narrative without row links is not evidence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Permission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Read workbook; write only working and outputs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Read workbook; write only working and outputs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Read workbook; write only working and outputs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Decline connector or email permission here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Permission gate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No change to mock-data hash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Decline connector or email permission here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Permission gate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No change to mock-data hash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Decline connector or email permission here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Prompt injection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Workbook text is data, never new instructions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Workbook text is data, never new instructions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Workbook text is data, never new instructions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Treat embedded instructions as untrusted data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Prompt injection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Counterparty cell cannot authorize a send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Treat embedded instructions as untrusted data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Prompt injection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Counterparty cell cannot authorize a send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Treat embedded instructions as untrusted data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Plan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Inspect files, operations and side effects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Inspect files, operations and side effects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Inspect files, operations and side effects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Pause if browser or mailbox appears in plan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Plan review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Expected: read one .xlsx, write one manifest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Pause if browser or mailbox appears in plan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Plan review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Expected: read one .xlsx, write one manifest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Pause if browser or mailbox appears in plan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Inventory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Source count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duplicate count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pending 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Mismatch blocks Lab 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Inventory check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14 = 12 eligible + 2 excluded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Mismatch blocks Lab 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01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Inventory check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14 = 12 eligible + 2 excluded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Mismatch blocks Lab 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Automate and reconcile Excel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920240"/>
            <a:ext cx="3154680" cy="256032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920240"/>
            <a:ext cx="64008" cy="256032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130552"/>
            <a:ext cx="275234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624328"/>
            <a:ext cx="2752344" cy="173736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14-row finance workbook</a:t>
            </a:r>
          </a:p>
        </p:txBody>
      </p:sp>
      <p:sp>
        <p:nvSpPr>
          <p:cNvPr id="12" name="Chevron 11"/>
          <p:cNvSpPr/>
          <p:nvPr/>
        </p:nvSpPr>
        <p:spPr>
          <a:xfrm>
            <a:off x="4325112" y="292608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9160" y="1920240"/>
            <a:ext cx="3154680" cy="256032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1920240"/>
            <a:ext cx="64008" cy="256032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0328" y="2130552"/>
            <a:ext cx="275234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2624328"/>
            <a:ext cx="2752344" cy="173736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Eligibility + Excel formulas</a:t>
            </a:r>
          </a:p>
        </p:txBody>
      </p:sp>
      <p:sp>
        <p:nvSpPr>
          <p:cNvPr id="17" name="Chevron 16"/>
          <p:cNvSpPr/>
          <p:nvPr/>
        </p:nvSpPr>
        <p:spPr>
          <a:xfrm>
            <a:off x="8028431" y="292608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1920240"/>
            <a:ext cx="2743200" cy="256032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1920240"/>
            <a:ext cx="64008" cy="256032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3648" y="2130552"/>
            <a:ext cx="2340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2624328"/>
            <a:ext cx="2340864" cy="173736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Reconciled totals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Raw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Copy all 14 rows with original column order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Copy all 14 rows with original column order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Copy all 14 rows with original column 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Never normalize away exception evidence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Raw sheet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Raw!A1:G15 retained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Never normalize away exception evidence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Raw sheet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Raw!A1:G15 retained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Never normalize away exception evidence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Eligible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Approved ∧ first occurrence of Document ID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Approved ∧ first occurrence of Document ID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Approved ∧ first occurrence of Document 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Filter criteria must be visible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Eligible sheet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12 eligible rows, 6 revenue + 6 expense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Filter criteria must be visible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Eligible sheet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12 eligible rows, 6 revenue + 6 expense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Filter criteria must be visible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Exceptions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Record excluded row, reason, source address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Record excluded row, reason, source address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Record excluded row, reason, source address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No silent row deletion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Exceptions sheet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BILL-012 repeat; INV-013 pending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No silent row deletion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Exceptions sheet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BILL-012 repeat; INV-013 pending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No silent row deletion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Revenue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SUMIFS eligible positive Amount SGD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SUMIFS eligible positive Amount SGD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SUMIFS eligible positive Amount SGD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Compare formula result to independent total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Revenue formula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S$46,700 from six invoices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Compare formula result to independent total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Revenue formula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S$46,700 from six invoices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Compare formula result to independent total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Expense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ABS(SUMIFS eligible negative Amount SGD))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ABS(SUMIFS eligible negative Amount SGD))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ABS(SUMIFS eligible negative Amount SGD))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Check sign convention before net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Expense formula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S$16,500 from six bills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Check sign convention before net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Expense formula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S$16,500 from six bills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Check sign convention before net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Net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Revenue minus absolute expenses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Revenue minus absolute expenses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Revenue minus absolute expenses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Net must equal SUM eligible amounts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Net formula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S$46,700 − S$16,500 = S$30,200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Net must equal SUM eligible amounts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Net formula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S$46,700 − S$16,500 = S$30,200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Net must equal SUM eligible amounts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Count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COUNTA eligible Document ID range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COUNTA eligible Document ID range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COUNTA eligible Document ID 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Count drift signals a dropped row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Count control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12 eligible; 14 source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Count drift signals a dropped row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Count control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12 eligible; 14 source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Count drift signals a dropped row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Status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Only exact Approved values qualify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Only exact Approved values qualify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Only exact Approved values qualify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Whitespace or case variants require review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Status control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Pending INV-013 excluded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Whitespace or case variants require review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Status control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Pending INV-013 excluded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Whitespace or case variants require review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ID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Unique ID within month, not across all time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Unique ID within month, not across all time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Unique ID within month, not across all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A second month may reuse an ID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ID control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Duplicate BILL-012 adds no expense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A second month may reuse an ID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ID control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Duplicate BILL-012 adds no expense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A second month may reuse an ID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Formula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Inspect formulas, cached values and ranges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Inspect formulas, cached values and ranges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Inspect formulas, cached values and ranges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Hard-coded totals fail repeatability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Formula audit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Summary points to Eligible, not Raw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Hard-coded totals fail repeatability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Formula audit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Summary points to Eligible, not Raw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Hard-coded totals fail repeatability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Workbook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Revenue / expense / net as editable columns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Revenue / expense / net as editable columns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Revenue / expense / net as editable columns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Chart labels must name unit and period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Workbook chart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46.7k / 16.5k / 30.2k SGD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Chart labels must name unit and period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Workbook chart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46.7k / 16.5k / 30.2k SGD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Chart labels must name unit and period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Release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Control totals + exceptions + protected source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Control totals + exceptions + protected source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Control totals + exceptions + protected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Do not email a mismatched workbook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Release check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All 5 expected controls match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Do not email a mismatched workbook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02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Release check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All 5 expected controls 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Do not email a mismatched workbook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Schedule and deliver via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920240"/>
            <a:ext cx="3154680" cy="256032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920240"/>
            <a:ext cx="64008" cy="256032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130552"/>
            <a:ext cx="275234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624328"/>
            <a:ext cx="2752344" cy="173736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Approved Excel workbook</a:t>
            </a:r>
          </a:p>
        </p:txBody>
      </p:sp>
      <p:sp>
        <p:nvSpPr>
          <p:cNvPr id="12" name="Chevron 11"/>
          <p:cNvSpPr/>
          <p:nvPr/>
        </p:nvSpPr>
        <p:spPr>
          <a:xfrm>
            <a:off x="4325112" y="292608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9160" y="1920240"/>
            <a:ext cx="3154680" cy="256032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1920240"/>
            <a:ext cx="64008" cy="256032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0328" y="2130552"/>
            <a:ext cx="275234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2624328"/>
            <a:ext cx="2752344" cy="173736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Schedule + OneDrive flow</a:t>
            </a:r>
          </a:p>
        </p:txBody>
      </p:sp>
      <p:sp>
        <p:nvSpPr>
          <p:cNvPr id="17" name="Chevron 16"/>
          <p:cNvSpPr/>
          <p:nvPr/>
        </p:nvSpPr>
        <p:spPr>
          <a:xfrm>
            <a:off x="8028431" y="292608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1920240"/>
            <a:ext cx="2743200" cy="256032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1920240"/>
            <a:ext cx="64008" cy="256032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3648" y="2130552"/>
            <a:ext cx="2340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2624328"/>
            <a:ext cx="2340864" cy="173736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Outlook Sent Item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New-period parameter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Switch input period to September 2026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Switch input period to September 2026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Switch input period to September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Never reuse August output as September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New-period parameter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finance-sep-2026.xlsx is independent 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Never reuse August output as September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New-period parameter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finance-sep-2026.xlsx is independent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Never reuse August output as September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September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Same rules on new transactions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Same rules on new transactions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Same rules on new transactions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Variance alone is not proof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September control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Revenue 48,100; expense 16,960; net 31,140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Variance alone is not proof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September control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Revenue 48,100; expense 16,960; net 31,140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Variance alone is not proof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Project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Weekly Monday 09:00 Singapore; new month input gate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Weekly Monday 09:00 Singapore; new month input gate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Weekly Monday 09:00 Singapore; new month input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A local-folder schedule requires desktop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Project schedule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Task prompt names input and output cloud folders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A local-folder schedule requires desktop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Project schedule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Task prompt names input and output cloud folders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A local-folder schedule requires desktop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Cloud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OneDrive/SharePoint connector provides source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OneDrive/SharePoint connector provides source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OneDrive/SharePoint connector provides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Cloud job cannot depend on a local-only path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Cloud path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Approved Reports separate from working folder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Cloud job cannot depend on a local-only path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Cloud path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Approved Reports separate from working folder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Cloud job cannot depend on a local-only path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On-demand rehearsal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Run schedule once manually first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Run schedule once manually first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Run schedule once manually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Repeated run must not duplicate emails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On-demand rehearsal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One workbook, one release manifest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Repeated run must not duplicate emails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On-demand rehearsal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One workbook, one release manifest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Repeated run must not duplicate emails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Review manifest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Period + totals + exceptions + reviewer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Period + totals + exceptions + reviewer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Period + totals + exceptions + reviewer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No approval record, no delivery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Review manifest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12 eligible and 2 excluded in September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No approval record, no delivery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Review manifest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12 eligible and 2 excluded in September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No approval record, no delivery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Outlook connector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Microsoft 365 write permission can send email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Microsoft 365 write permission can send email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Microsoft 365 write permission can send 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Attachment requirement needs another route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Outlook connector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Native email includes link, not attachment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Attachment requirement needs another route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Outlook connector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Native email includes link, not attachment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Attachment requirement needs another route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Attachment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OneDrive file-created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content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Outlook 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Never trigger on working files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Attachment flow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Approved Reports/finance-report-sep-2026.xlsx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Never trigger on working files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Attachment flow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Approved Reports/finance-report-sep-2026.xlsx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Never trigger on working files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Flow condition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Filename prefix and .xlsx suffix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Filename prefix and .xlsx suffix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Filename prefix and .xlsx suffix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Other files must cause zero sends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Flow condition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finance-report-...xlsx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Other files must cause zero sends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Flow condition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finance-report-...xlsx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Other files must cause zero sends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Attachment bytes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Get file content feeds ContentBytes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Get file content feeds ContentBytes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Get file content feeds ContentBytes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Check received attachment opens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Attachment bytes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Name equals approved workbook filename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Check received attachment opens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Attachment bytes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Name equals approved workbook filename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Check received attachment opens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Idempotency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Unique period filename + no overwrite in trigger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Unique period filename + no overwrite in trigger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Unique period filename + no overwrite in trigger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Duplicate send requires stop and investigation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Idempotency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One created file → one flow run → one Sent Item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Duplicate send requires stop and investigation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Idempotency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One created file → one flow run → one Sent Item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Duplicate send requires stop and investigation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Delivery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Sent Items + received file + flow history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8437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32888"/>
            <a:ext cx="284378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Sent Items + received file + flow history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9560" y="2743200"/>
            <a:ext cx="411480" cy="457200"/>
          </a:xfrm>
          <a:prstGeom prst="chevron">
            <a:avLst/>
          </a:prstGeom>
          <a:solidFill>
            <a:srgbClr val="E7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08960" cy="24688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64008" cy="24688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066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2706624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Sent Items + received file + flow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D87"/>
                </a:solidFill>
              </a:defRPr>
            </a:pPr>
            <a:r>
              <a:t>Decision: A successful Cowork message alone is insufficient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WORKED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Delivery audit |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2920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38328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46268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OBSERVED FINANCE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626864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Subject, recipient, workbook version align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03520" cy="33832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64008" cy="33832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084831"/>
            <a:ext cx="4901183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EXPECTED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78608"/>
            <a:ext cx="4901183" cy="25603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A successful Cowork message alone is insufficient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TOPIC 03 ·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Delivery audit | 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D87"/>
                </a:solidFill>
              </a:defRPr>
            </a:pPr>
            <a:r>
              <a:t>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Subject, recipient, workbook version align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20640" cy="35204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34840" cy="502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9E413C"/>
                </a:solidFill>
              </a:defRPr>
            </a:pPr>
            <a:r>
              <a:t>STOP /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389120" cy="16459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23C"/>
                </a:solidFill>
              </a:defRPr>
            </a:pPr>
            <a:r>
              <a:t>A successful Cowork message alone is insufficient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FINANCE WORKBOOK · SUMMARY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August reconciliation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113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1783080"/>
          <a:ext cx="65836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26679" y="1874519"/>
            <a:ext cx="3657600" cy="342900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874519"/>
            <a:ext cx="64008" cy="342900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7848" y="2084831"/>
            <a:ext cx="325526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CONTROL TOTALS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2578608"/>
            <a:ext cx="3255264" cy="26060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Revenue 46,700</a:t>
            </a:r>
          </a:p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Expenses 16,500</a:t>
            </a:r>
          </a:p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Net 30,200</a:t>
            </a:r>
          </a:p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12 eligible · 2 excluded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FINANCE WORKBOOK · FORMULAS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Calculation cells must stay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3657600" cy="114300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65376"/>
            <a:ext cx="3200400" cy="29260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E48"/>
                </a:solidFill>
              </a:defRPr>
            </a:pPr>
            <a:r>
              <a:t>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21992"/>
            <a:ext cx="3200400" cy="56692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4323C"/>
                </a:solidFill>
              </a:defRPr>
            </a:pPr>
            <a:r>
              <a:t>=SUMIF(Eligible!E:E,"&gt;0",Eligible!E:E)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783080"/>
            <a:ext cx="6583680" cy="114300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60" y="1783080"/>
            <a:ext cx="64008" cy="114300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0328" y="1993392"/>
            <a:ext cx="618134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RECALCULATED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2487168"/>
            <a:ext cx="6181344" cy="3200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S$46,700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200400"/>
            <a:ext cx="3657600" cy="114300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282696"/>
            <a:ext cx="3200400" cy="29260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E48"/>
                </a:solidFill>
              </a:defRPr>
            </a:pPr>
            <a:r>
              <a:t>Expenses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39312"/>
            <a:ext cx="3200400" cy="56692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4323C"/>
                </a:solidFill>
              </a:defRPr>
            </a:pPr>
            <a:r>
              <a:t>=-SUMIF(Eligible!E:E,"&lt;0",Eligible!E:E)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3200400"/>
            <a:ext cx="6583680" cy="114300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60" y="3200400"/>
            <a:ext cx="64008" cy="114300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0328" y="3410712"/>
            <a:ext cx="618134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RECALCULATED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3904487"/>
            <a:ext cx="6181344" cy="3200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S$16,500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17720"/>
            <a:ext cx="3657600" cy="114300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700016"/>
            <a:ext cx="3200400" cy="29260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E48"/>
                </a:solidFill>
              </a:defRPr>
            </a:pPr>
            <a:r>
              <a:t>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056632"/>
            <a:ext cx="3200400" cy="56692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4323C"/>
                </a:solidFill>
              </a:defRPr>
            </a:pPr>
            <a:r>
              <a:t>=B2-B3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4617720"/>
            <a:ext cx="6583680" cy="114300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9160" y="4617720"/>
            <a:ext cx="64008" cy="114300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0328" y="4828032"/>
            <a:ext cx="618134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RECALCULATED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0328" y="5321808"/>
            <a:ext cx="6181344" cy="3200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S$30,200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WORKFLOW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One approved workbook, one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2560320" cy="29260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64008" cy="29260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67712"/>
            <a:ext cx="21579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2157984" cy="21031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Cowork writes the period workbook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2057400"/>
            <a:ext cx="2560320" cy="29260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39" y="2057400"/>
            <a:ext cx="64008" cy="29260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7" y="2267712"/>
            <a:ext cx="21579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RECONCILE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7" y="2761488"/>
            <a:ext cx="2157984" cy="21031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Human checks totals and exceptions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057400"/>
            <a:ext cx="2560320" cy="29260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057400"/>
            <a:ext cx="64008" cy="29260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267712"/>
            <a:ext cx="21579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761488"/>
            <a:ext cx="2157984" cy="21031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Move final file to Approved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59" y="2057400"/>
            <a:ext cx="2560320" cy="292608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59" y="2057400"/>
            <a:ext cx="64008" cy="292608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82328" y="2267712"/>
            <a:ext cx="215798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DELIVER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2761488"/>
            <a:ext cx="2157984" cy="21031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Outlook flow attaches exact .xlsx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KEEP PRACTISING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Run on-demand before enabling a cadence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4937760" cy="32918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920240"/>
            <a:ext cx="64008" cy="329184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130552"/>
            <a:ext cx="45354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LOCAL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624328"/>
            <a:ext cx="4535424" cy="2468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A local file or app requires the desktop available.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20240"/>
            <a:ext cx="4937760" cy="3291840"/>
          </a:xfrm>
          <a:prstGeom prst="round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920240"/>
            <a:ext cx="64008" cy="329184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130552"/>
            <a:ext cx="4535424" cy="38404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2E48"/>
                </a:solidFill>
              </a:defRPr>
            </a:pPr>
            <a:r>
              <a:t>CLOUD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624328"/>
            <a:ext cx="4535424" cy="2468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23C"/>
                </a:solidFill>
              </a:defRPr>
            </a:pPr>
            <a:r>
              <a:t>Use connected OneDrive / SharePoint files and a reviewed flow.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84632"/>
            <a:ext cx="100584" cy="512064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25603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D87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2E48"/>
                </a:solidFill>
              </a:defRPr>
            </a:pPr>
            <a:r>
              <a:t>Finance automation with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14400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C1382  •  v2.0  •  Finance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C6D78"/>
                </a:solidFill>
              </a:defRPr>
            </a:pPr>
            <a:r>
              <a:t>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9784080" cy="137160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007D87"/>
                </a:solidFill>
              </a:defRPr>
            </a:pPr>
            <a:r>
              <a:t>Scope → calculate → reconcile → approve → deliver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