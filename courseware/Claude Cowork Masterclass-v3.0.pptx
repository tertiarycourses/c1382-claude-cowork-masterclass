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v3.0  ·  16 September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Cowork Masterclass</a:t>
            </a:r>
          </a:p>
        </p:txBody>
      </p:sp>
      <p:sp>
        <p:nvSpPr>
          <p:cNvPr id="8" name="TextBox 7"/>
          <p:cNvSpPr txBox="1"/>
          <p:nvPr/>
        </p:nvSpPr>
        <p:spPr>
          <a:xfrm>
            <a:off x="822960" y="406908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Live Artefacts, connected tools, skills and Projects — for finance teams</a:t>
            </a:r>
          </a:p>
        </p:txBody>
      </p:sp>
      <p:sp>
        <p:nvSpPr>
          <p:cNvPr id="9" name="TextBox 8"/>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0" name="TextBox 9"/>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reporting work</a:t>
            </a:r>
          </a:p>
          <a:p>
            <a:pPr algn="l">
              <a:spcAft>
                <a:spcPts val="300"/>
              </a:spcAft>
            </a:pPr>
            <a:r>
              <a:rPr sz="1150" b="0">
                <a:solidFill>
                  <a:srgbClr val="6B6862"/>
                </a:solidFill>
                <a:latin typeface="Calibri"/>
              </a:rPr>
              <a:t>One report or summary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tools</a:t>
            </a:r>
          </a:p>
          <a:p>
            <a:pPr algn="l">
              <a:spcAft>
                <a:spcPts val="300"/>
              </a:spcAft>
            </a:pPr>
            <a:r>
              <a:rPr sz="1150" b="0">
                <a:solidFill>
                  <a:srgbClr val="6B6862"/>
                </a:solidFill>
                <a:latin typeface="Calibri"/>
              </a:rPr>
              <a:t>Whether your finance data lives in Excel, Google Drive or a system.</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to stop doing by hand.</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topic ends with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client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send</a:t>
            </a:r>
          </a:p>
          <a:p>
            <a:pPr algn="l">
              <a:spcAft>
                <a:spcPts val="300"/>
              </a:spcAft>
            </a:pPr>
            <a:r>
              <a:rPr sz="1150" b="0">
                <a:solidFill>
                  <a:srgbClr val="6B6862"/>
                </a:solidFill>
                <a:latin typeface="Calibri"/>
              </a:rPr>
              <a:t>Approve every draft against the source figures.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Cowork Fundamentals</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product family</a:t>
            </a:r>
          </a:p>
          <a:p>
            <a:pPr algn="l">
              <a:spcAft>
                <a:spcPts val="800"/>
              </a:spcAft>
            </a:pPr>
            <a:r>
              <a:rPr sz="1200" b="0">
                <a:solidFill>
                  <a:srgbClr val="6B6862"/>
                </a:solidFill>
                <a:latin typeface="Calibri"/>
              </a:rPr>
              <a:t>•  Set up Cowork</a:t>
            </a:r>
          </a:p>
          <a:p>
            <a:pPr algn="l">
              <a:spcAft>
                <a:spcPts val="800"/>
              </a:spcAft>
            </a:pPr>
            <a:r>
              <a:rPr sz="1200" b="0">
                <a:solidFill>
                  <a:srgbClr val="6B6862"/>
                </a:solidFill>
                <a:latin typeface="Calibri"/>
              </a:rPr>
              <a:t>•  Live Artefacts</a:t>
            </a:r>
          </a:p>
          <a:p>
            <a:pPr algn="l">
              <a:spcAft>
                <a:spcPts val="800"/>
              </a:spcAft>
            </a:pPr>
            <a:r>
              <a:rPr sz="1200" b="0">
                <a:solidFill>
                  <a:srgbClr val="6B6862"/>
                </a:solidFill>
                <a:latin typeface="Calibri"/>
              </a:rPr>
              <a:t>•  Labs 1–2: build a dashboard</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Tools and Skills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a:t>
            </a:r>
          </a:p>
          <a:p>
            <a:pPr algn="l">
              <a:spcAft>
                <a:spcPts val="800"/>
              </a:spcAft>
            </a:pPr>
            <a:r>
              <a:rPr sz="1200" b="0">
                <a:solidFill>
                  <a:srgbClr val="6B6862"/>
                </a:solidFill>
                <a:latin typeface="Calibri"/>
              </a:rPr>
              <a:t>•  Drive and Gmail</a:t>
            </a:r>
          </a:p>
          <a:p>
            <a:pPr algn="l">
              <a:spcAft>
                <a:spcPts val="800"/>
              </a:spcAft>
            </a:pPr>
            <a:r>
              <a:rPr sz="1200" b="0">
                <a:solidFill>
                  <a:srgbClr val="6B6862"/>
                </a:solidFill>
                <a:latin typeface="Calibri"/>
              </a:rPr>
              <a:t>•  Agent Skills</a:t>
            </a:r>
          </a:p>
          <a:p>
            <a:pPr algn="l">
              <a:spcAft>
                <a:spcPts val="800"/>
              </a:spcAft>
            </a:pPr>
            <a:r>
              <a:rPr sz="1200" b="0">
                <a:solidFill>
                  <a:srgbClr val="6B6862"/>
                </a:solidFill>
                <a:latin typeface="Calibri"/>
              </a:rPr>
              <a:t>•  Labs 3–5: connect, deliver, automate</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What a Project is</a:t>
            </a:r>
          </a:p>
          <a:p>
            <a:pPr algn="l">
              <a:spcAft>
                <a:spcPts val="800"/>
              </a:spcAft>
            </a:pPr>
            <a:r>
              <a:rPr sz="1200" b="0">
                <a:solidFill>
                  <a:srgbClr val="6B6862"/>
                </a:solidFill>
                <a:latin typeface="Calibri"/>
              </a:rPr>
              <a:t>•  Project knowledge</a:t>
            </a:r>
          </a:p>
          <a:p>
            <a:pPr algn="l">
              <a:spcAft>
                <a:spcPts val="800"/>
              </a:spcAft>
            </a:pPr>
            <a:r>
              <a:rPr sz="1200" b="0">
                <a:solidFill>
                  <a:srgbClr val="6B6862"/>
                </a:solidFill>
                <a:latin typeface="Calibri"/>
              </a:rPr>
              <a:t>•  Assemble the workspace</a:t>
            </a:r>
          </a:p>
          <a:p>
            <a:pPr algn="l">
              <a:spcAft>
                <a:spcPts val="800"/>
              </a:spcAft>
            </a:pPr>
            <a:r>
              <a:rPr sz="1200" b="0">
                <a:solidFill>
                  <a:srgbClr val="6B6862"/>
                </a:solidFill>
                <a:latin typeface="Calibri"/>
              </a:rPr>
              <a:t>•  Lab 6: the Meridian project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Set up Cowork</a:t>
            </a:r>
          </a:p>
          <a:p>
            <a:pPr algn="l">
              <a:spcAft>
                <a:spcPts val="300"/>
              </a:spcAft>
            </a:pPr>
            <a:r>
              <a:rPr sz="1150" b="0">
                <a:solidFill>
                  <a:srgbClr val="6B6862"/>
                </a:solidFill>
                <a:latin typeface="Calibri"/>
              </a:rPr>
              <a:t>Set up Claude and the Cowork desktop workspace, and explain where Cowork fits in the Claude product family.</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Build a Live Artefact</a:t>
            </a:r>
          </a:p>
          <a:p>
            <a:pPr algn="l">
              <a:spcAft>
                <a:spcPts val="300"/>
              </a:spcAft>
            </a:pPr>
            <a:r>
              <a:rPr sz="11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Drive</a:t>
            </a:r>
          </a:p>
          <a:p>
            <a:pPr algn="l">
              <a:spcAft>
                <a:spcPts val="300"/>
              </a:spcAft>
            </a:pPr>
            <a:r>
              <a:rPr sz="1150" b="0">
                <a:solidFill>
                  <a:srgbClr val="6B6862"/>
                </a:solidFill>
                <a:latin typeface="Calibri"/>
              </a:rPr>
              <a:t>Connect the Google Drive connector so Claude can read finance data held outside the chat.</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Deliver by Gmail</a:t>
            </a:r>
          </a:p>
          <a:p>
            <a:pPr algn="l">
              <a:spcAft>
                <a:spcPts val="300"/>
              </a:spcAft>
            </a:pPr>
            <a:r>
              <a:rPr sz="11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Automate with a skill</a:t>
            </a:r>
          </a:p>
          <a:p>
            <a:pPr algn="l">
              <a:spcAft>
                <a:spcPts val="300"/>
              </a:spcAft>
            </a:pPr>
            <a:r>
              <a:rPr sz="1150" b="0">
                <a:solidFill>
                  <a:srgbClr val="6B6862"/>
                </a:solidFill>
                <a:latin typeface="Calibri"/>
              </a:rPr>
              <a:t>Write an Agent Skill that runs a repeatable routine across your connected tools on one command.</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Build the Project</a:t>
            </a:r>
          </a:p>
          <a:p>
            <a:pPr algn="l">
              <a:spcAft>
                <a:spcPts val="300"/>
              </a:spcAft>
            </a:pPr>
            <a:r>
              <a:rPr sz="1150" b="0">
                <a:solidFill>
                  <a:srgbClr val="6B6862"/>
                </a:solidFill>
                <a:latin typeface="Calibri"/>
              </a:rPr>
              <a:t>Assemble a Claude Project that holds the data, instructions, skill and dashboard as one reusable team workspace.</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9:00  Welcome</a:t>
            </a:r>
          </a:p>
          <a:p>
            <a:pPr algn="l">
              <a:spcAft>
                <a:spcPts val="900"/>
              </a:spcAft>
            </a:pPr>
            <a:r>
              <a:rPr sz="1250" b="0">
                <a:solidFill>
                  <a:srgbClr val="21201C"/>
                </a:solidFill>
                <a:latin typeface="Calibri"/>
              </a:rPr>
              <a:t>•  9:20  Topic 1 — Claude Cowork Fundamentals</a:t>
            </a:r>
          </a:p>
          <a:p>
            <a:pPr algn="l">
              <a:spcAft>
                <a:spcPts val="900"/>
              </a:spcAft>
            </a:pPr>
            <a:r>
              <a:rPr sz="1250" b="0">
                <a:solidFill>
                  <a:srgbClr val="21201C"/>
                </a:solidFill>
                <a:latin typeface="Calibri"/>
              </a:rPr>
              <a:t>•  10:05  Topic 1 — Live Artefacts</a:t>
            </a:r>
          </a:p>
          <a:p>
            <a:pPr algn="l">
              <a:spcAft>
                <a:spcPts val="900"/>
              </a:spcAft>
            </a:pPr>
            <a:r>
              <a:rPr sz="1250" b="0">
                <a:solidFill>
                  <a:srgbClr val="21201C"/>
                </a:solidFill>
                <a:latin typeface="Calibri"/>
              </a:rPr>
              <a:t>•  10:45  Tea break</a:t>
            </a:r>
          </a:p>
          <a:p>
            <a:pPr algn="l">
              <a:spcAft>
                <a:spcPts val="900"/>
              </a:spcAft>
            </a:pPr>
            <a:r>
              <a:rPr sz="1250" b="0">
                <a:solidFill>
                  <a:srgbClr val="21201C"/>
                </a:solidFill>
                <a:latin typeface="Calibri"/>
              </a:rPr>
              <a:t>•  11:00  Hands-on: Labs 1, 2</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12:30  Lunch break</a:t>
            </a:r>
          </a:p>
          <a:p>
            <a:pPr algn="l">
              <a:spcAft>
                <a:spcPts val="900"/>
              </a:spcAft>
            </a:pPr>
            <a:r>
              <a:rPr sz="1250" b="0">
                <a:solidFill>
                  <a:srgbClr val="21201C"/>
                </a:solidFill>
                <a:latin typeface="Calibri"/>
              </a:rPr>
              <a:t>•  13:30  Topic 2 — Tools and Skills</a:t>
            </a:r>
          </a:p>
          <a:p>
            <a:pPr algn="l">
              <a:spcAft>
                <a:spcPts val="900"/>
              </a:spcAft>
            </a:pPr>
            <a:r>
              <a:rPr sz="1250" b="0">
                <a:solidFill>
                  <a:srgbClr val="21201C"/>
                </a:solidFill>
                <a:latin typeface="Calibri"/>
              </a:rPr>
              <a:t>•  14:05  Hands-on: Labs 3, 4</a:t>
            </a:r>
          </a:p>
          <a:p>
            <a:pPr algn="l">
              <a:spcAft>
                <a:spcPts val="900"/>
              </a:spcAft>
            </a:pPr>
            <a:r>
              <a:rPr sz="1250" b="0">
                <a:solidFill>
                  <a:srgbClr val="21201C"/>
                </a:solidFill>
                <a:latin typeface="Calibri"/>
              </a:rPr>
              <a:t>•  15:20  Tea break</a:t>
            </a:r>
          </a:p>
          <a:p>
            <a:pPr algn="l">
              <a:spcAft>
                <a:spcPts val="900"/>
              </a:spcAft>
            </a:pPr>
            <a:r>
              <a:rPr sz="1250" b="0">
                <a:solidFill>
                  <a:srgbClr val="21201C"/>
                </a:solidFill>
                <a:latin typeface="Calibri"/>
              </a:rPr>
              <a:t>•  15:35  Topic 2 — Agent Skills</a:t>
            </a:r>
          </a:p>
          <a:p>
            <a:pPr algn="l">
              <a:spcAft>
                <a:spcPts val="900"/>
              </a:spcAft>
            </a:pPr>
            <a:r>
              <a:rPr sz="1250" b="0">
                <a:solidFill>
                  <a:srgbClr val="21201C"/>
                </a:solidFill>
                <a:latin typeface="Calibri"/>
              </a:rPr>
              <a:t>•  15:55  Hands-on: Lab 5</a:t>
            </a:r>
          </a:p>
          <a:p>
            <a:pPr algn="l">
              <a:spcAft>
                <a:spcPts val="900"/>
              </a:spcAft>
            </a:pPr>
            <a:r>
              <a:rPr sz="1250" b="0">
                <a:solidFill>
                  <a:srgbClr val="21201C"/>
                </a:solidFill>
                <a:latin typeface="Calibri"/>
              </a:rPr>
              <a:t>•  16:35  Topic 3 — Claude Projects</a:t>
            </a:r>
          </a:p>
          <a:p>
            <a:pPr algn="l">
              <a:spcAft>
                <a:spcPts val="900"/>
              </a:spcAft>
            </a:pPr>
            <a:r>
              <a:rPr sz="1250" b="0">
                <a:solidFill>
                  <a:srgbClr val="21201C"/>
                </a:solidFill>
                <a:latin typeface="Calibri"/>
              </a:rPr>
              <a:t>•  16:55  Hands-on: Lab 6</a:t>
            </a:r>
          </a:p>
          <a:p>
            <a:pPr algn="l">
              <a:spcAft>
                <a:spcPts val="900"/>
              </a:spcAft>
            </a:pPr>
            <a:r>
              <a:rPr sz="1250" b="0">
                <a:solidFill>
                  <a:srgbClr val="21201C"/>
                </a:solidFill>
                <a:latin typeface="Calibri"/>
              </a:rPr>
              <a:t>•  17:40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Six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One firm, six labs</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Meridian Capital Partners is a fictitious Singapore-based investment and advisory firm with four revenue desks — Advisory, Asset Management, Private Credit and Corporate Finance. All figures, clients, staff and documents in this course are synthetic and used for training only.</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Cowork Fundamentals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product family</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Set up Cowork</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Live Artefacts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Labs 1–2: build a dashboard</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A</a:t>
            </a:r>
          </a:p>
        </p:txBody>
      </p:sp>
      <p:sp>
        <p:nvSpPr>
          <p:cNvPr id="9" name="TextBox 8"/>
          <p:cNvSpPr txBox="1"/>
          <p:nvPr/>
        </p:nvSpPr>
        <p:spPr>
          <a:xfrm>
            <a:off x="82296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Claude.ai</a:t>
            </a:r>
          </a:p>
        </p:txBody>
      </p:sp>
      <p:sp>
        <p:nvSpPr>
          <p:cNvPr id="10" name="TextBox 9"/>
          <p:cNvSpPr txBox="1"/>
          <p:nvPr/>
        </p:nvSpPr>
        <p:spPr>
          <a:xfrm>
            <a:off x="82296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chat assistant on web, desktop &amp; mobile for everyday tasks.</a:t>
            </a:r>
          </a:p>
        </p:txBody>
      </p:sp>
      <p:sp>
        <p:nvSpPr>
          <p:cNvPr id="11" name="Rectangle 10"/>
          <p:cNvSpPr/>
          <p:nvPr/>
        </p:nvSpPr>
        <p:spPr>
          <a:xfrm>
            <a:off x="336042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4" name="TextBox 13"/>
          <p:cNvSpPr txBox="1"/>
          <p:nvPr/>
        </p:nvSpPr>
        <p:spPr>
          <a:xfrm>
            <a:off x="363474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363474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Agentic coding tool in your terminal, IDE &amp; desktop.</a:t>
            </a:r>
          </a:p>
        </p:txBody>
      </p:sp>
      <p:sp>
        <p:nvSpPr>
          <p:cNvPr id="16" name="Rectangle 15"/>
          <p:cNvSpPr/>
          <p:nvPr/>
        </p:nvSpPr>
        <p:spPr>
          <a:xfrm>
            <a:off x="617220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19" name="TextBox 18"/>
          <p:cNvSpPr txBox="1"/>
          <p:nvPr/>
        </p:nvSpPr>
        <p:spPr>
          <a:xfrm>
            <a:off x="644652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Cowork</a:t>
            </a:r>
          </a:p>
        </p:txBody>
      </p:sp>
      <p:sp>
        <p:nvSpPr>
          <p:cNvPr id="20" name="TextBox 19"/>
          <p:cNvSpPr txBox="1"/>
          <p:nvPr/>
        </p:nvSpPr>
        <p:spPr>
          <a:xfrm>
            <a:off x="644652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Desktop agent for non-developers to automate files &amp; tasks.</a:t>
            </a:r>
          </a:p>
        </p:txBody>
      </p:sp>
      <p:sp>
        <p:nvSpPr>
          <p:cNvPr id="21" name="Rectangle 20"/>
          <p:cNvSpPr/>
          <p:nvPr/>
        </p:nvSpPr>
        <p:spPr>
          <a:xfrm>
            <a:off x="8983980" y="228600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24" name="TextBox 23"/>
          <p:cNvSpPr txBox="1"/>
          <p:nvPr/>
        </p:nvSpPr>
        <p:spPr>
          <a:xfrm>
            <a:off x="9258300" y="300837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5" name="TextBox 24"/>
          <p:cNvSpPr txBox="1"/>
          <p:nvPr/>
        </p:nvSpPr>
        <p:spPr>
          <a:xfrm>
            <a:off x="9258300" y="334670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Generates polished UI &amp; frontend designs.</a:t>
            </a:r>
          </a:p>
        </p:txBody>
      </p:sp>
      <p:sp>
        <p:nvSpPr>
          <p:cNvPr id="26" name="Rectangle 25"/>
          <p:cNvSpPr/>
          <p:nvPr/>
        </p:nvSpPr>
        <p:spPr>
          <a:xfrm>
            <a:off x="54864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9" name="TextBox 28"/>
          <p:cNvSpPr txBox="1"/>
          <p:nvPr/>
        </p:nvSpPr>
        <p:spPr>
          <a:xfrm>
            <a:off x="82296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30" name="TextBox 29"/>
          <p:cNvSpPr txBox="1"/>
          <p:nvPr/>
        </p:nvSpPr>
        <p:spPr>
          <a:xfrm>
            <a:off x="82296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Microsoft 365 &amp; Outlook.</a:t>
            </a:r>
          </a:p>
        </p:txBody>
      </p:sp>
      <p:sp>
        <p:nvSpPr>
          <p:cNvPr id="31" name="Rectangle 30"/>
          <p:cNvSpPr/>
          <p:nvPr/>
        </p:nvSpPr>
        <p:spPr>
          <a:xfrm>
            <a:off x="336042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347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347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34" name="TextBox 33"/>
          <p:cNvSpPr txBox="1"/>
          <p:nvPr/>
        </p:nvSpPr>
        <p:spPr>
          <a:xfrm>
            <a:off x="363474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5" name="TextBox 34"/>
          <p:cNvSpPr txBox="1"/>
          <p:nvPr/>
        </p:nvSpPr>
        <p:spPr>
          <a:xfrm>
            <a:off x="363474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navigates and acts on the web for you.</a:t>
            </a:r>
          </a:p>
        </p:txBody>
      </p:sp>
      <p:sp>
        <p:nvSpPr>
          <p:cNvPr id="36" name="Rectangle 35"/>
          <p:cNvSpPr/>
          <p:nvPr/>
        </p:nvSpPr>
        <p:spPr>
          <a:xfrm>
            <a:off x="6172200" y="3977640"/>
            <a:ext cx="262890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4652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9" name="TextBox 38"/>
          <p:cNvSpPr txBox="1"/>
          <p:nvPr/>
        </p:nvSpPr>
        <p:spPr>
          <a:xfrm>
            <a:off x="6446520" y="4700016"/>
            <a:ext cx="217170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40" name="TextBox 39"/>
          <p:cNvSpPr txBox="1"/>
          <p:nvPr/>
        </p:nvSpPr>
        <p:spPr>
          <a:xfrm>
            <a:off x="6446520" y="5038344"/>
            <a:ext cx="217170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41" name="TextBox 40"/>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a:t>
            </a:r>
          </a:p>
        </p:txBody>
      </p:sp>
      <p:sp>
        <p:nvSpPr>
          <p:cNvPr id="42" name="TextBox 4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3" name="TextBox 4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4" name="TextBox 4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Evolution of AI Engineering</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Craft the wording of a single prompt to get good output.</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Curate what the model sees — files, memory and tools.</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Build the system around the model: loop, tools, verification.</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Systems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Agents run long tasks autonomously — Claude Code, Cowork, Codex.</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More capable models shift the work from wording prompts → curating context → engineering the whole harness.</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 Cowork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Cowork runs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Live Artefacts and local file access are desktop features.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Cowork is available on paid plans; sign in with the account that has your subscription.</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Open Cowork</a:t>
            </a:r>
          </a:p>
          <a:p>
            <a:pPr algn="l">
              <a:spcAft>
                <a:spcPts val="300"/>
              </a:spcAft>
            </a:pPr>
            <a:r>
              <a:rPr sz="1150" b="0">
                <a:solidFill>
                  <a:srgbClr val="6B6862"/>
                </a:solidFill>
                <a:latin typeface="Calibri"/>
              </a:rPr>
              <a:t>Choose Cowork in the sidebar to get the agent workspace rather than a plain chat.</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Point it at a folder</a:t>
            </a:r>
          </a:p>
          <a:p>
            <a:pPr algn="l">
              <a:spcAft>
                <a:spcPts val="300"/>
              </a:spcAft>
            </a:pPr>
            <a:r>
              <a:rPr sz="1150" b="0">
                <a:solidFill>
                  <a:srgbClr val="6B6862"/>
                </a:solidFill>
                <a:latin typeface="Calibri"/>
              </a:rPr>
              <a:t>Connect the one folder for the task so Claude reads your files and writes its output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the task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The desktop app must stay open while a task is using your computer.</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space in the sidebar.</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Pulls fresh data when you open it.</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calculator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to the sidebar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Cowork Fundamentals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Cowork</a:t>
            </a:r>
          </a:p>
          <a:p>
            <a:pPr algn="l">
              <a:spcAft>
                <a:spcPts val="300"/>
              </a:spcAft>
            </a:pPr>
            <a:r>
              <a:rPr sz="1150" b="0">
                <a:solidFill>
                  <a:srgbClr val="6B6862"/>
                </a:solidFill>
                <a:latin typeface="Calibri"/>
              </a:rPr>
              <a:t>The desktop agent that works on your files and tasks — built for non-developers, not coders.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that persist in your workspace and refresh their data when reopened.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Desktop, not browser</a:t>
            </a:r>
          </a:p>
          <a:p>
            <a:pPr algn="l">
              <a:spcAft>
                <a:spcPts val="300"/>
              </a:spcAft>
            </a:pPr>
            <a:r>
              <a:rPr sz="1150" b="0">
                <a:solidFill>
                  <a:srgbClr val="6B6862"/>
                </a:solidFill>
                <a:latin typeface="Calibri"/>
              </a:rPr>
              <a:t>Live Artefacts and local file access need the Claude desktop app on a paid plan.</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Describe, don't code</a:t>
            </a:r>
          </a:p>
          <a:p>
            <a:pPr algn="l">
              <a:spcAft>
                <a:spcPts val="300"/>
              </a:spcAft>
            </a:pPr>
            <a:r>
              <a:rPr sz="1150" b="0">
                <a:solidFill>
                  <a:srgbClr val="6B6862"/>
                </a:solidFill>
                <a:latin typeface="Calibri"/>
              </a:rPr>
              <a:t>You describe the tool you want in plain English; Claude writes and runs the code.</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Save to the sidebar</a:t>
            </a:r>
          </a:p>
          <a:p>
            <a:pPr algn="l">
              <a:spcAft>
                <a:spcPts val="300"/>
              </a:spcAft>
            </a:pPr>
            <a:r>
              <a:rPr sz="1150" b="0">
                <a:solidFill>
                  <a:srgbClr val="6B6862"/>
                </a:solidFill>
                <a:latin typeface="Calibri"/>
              </a:rPr>
              <a:t>A saved artefact is reopenable and reusable — it is not lost in the chat history.</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to share</a:t>
            </a:r>
          </a:p>
          <a:p>
            <a:pPr algn="l">
              <a:spcAft>
                <a:spcPts val="300"/>
              </a:spcAft>
            </a:pPr>
            <a:r>
              <a:rPr sz="1150" b="0">
                <a:solidFill>
                  <a:srgbClr val="6B6862"/>
                </a:solidFill>
                <a:latin typeface="Calibri"/>
              </a:rPr>
              <a:t>Export the artefact so it can be filed, attached or handed to someone without Claude.</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You have just joined the finance team at Meridian Capital Partners. Before touching the firm's numbers, you get Claude Cowork working and build a small Live Artefact so you can see how an artefact differs from a chat answer — it persists, it is interactive, and you can save and download it.</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downloaded Live Artefact — a working Meridian FX converter.</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Claude Cowork, Live Artefacts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your first Live Artefact</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Build me a Live Artefact: a currency converter for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Requirements:</a:t>
            </a:r>
          </a:p>
          <a:p>
            <a:pPr algn="l">
              <a:spcAft>
                <a:spcPts val="200"/>
              </a:spcAft>
            </a:pPr>
            <a:r>
              <a:rPr sz="1300" b="0">
                <a:solidFill>
                  <a:srgbClr val="21201C"/>
                </a:solidFill>
                <a:latin typeface="Calibri"/>
              </a:rPr>
              <a:t>- Convert between SGD, USD, EUR and GBP.</a:t>
            </a:r>
          </a:p>
          <a:p>
            <a:pPr algn="l">
              <a:spcAft>
                <a:spcPts val="200"/>
              </a:spcAft>
            </a:pPr>
            <a:r>
              <a:rPr sz="1300" b="0">
                <a:solidFill>
                  <a:srgbClr val="21201C"/>
                </a:solidFill>
                <a:latin typeface="Calibri"/>
              </a:rPr>
              <a:t>- Use these fixed demo rates from SGD: USD 0.74, EUR 0.68, GBP 0.58.</a:t>
            </a:r>
          </a:p>
          <a:p>
            <a:pPr algn="l">
              <a:spcAft>
                <a:spcPts val="200"/>
              </a:spcAft>
            </a:pPr>
            <a:r>
              <a:rPr sz="1300" b="0">
                <a:solidFill>
                  <a:srgbClr val="21201C"/>
                </a:solidFill>
                <a:latin typeface="Calibri"/>
              </a:rPr>
              <a:t>- One amount box, a from-currency and a to-currency selector, and a large result.</a:t>
            </a:r>
          </a:p>
          <a:p>
            <a:pPr algn="l">
              <a:spcAft>
                <a:spcPts val="200"/>
              </a:spcAft>
            </a:pPr>
            <a:r>
              <a:rPr sz="1300" b="0">
                <a:solidFill>
                  <a:srgbClr val="21201C"/>
                </a:solidFill>
                <a:latin typeface="Calibri"/>
              </a:rPr>
              <a:t>- Show the rate used underneath the result.</a:t>
            </a:r>
          </a:p>
          <a:p>
            <a:pPr algn="l">
              <a:spcAft>
                <a:spcPts val="200"/>
              </a:spcAft>
            </a:pPr>
            <a:r>
              <a:rPr sz="1300" b="0">
                <a:solidFill>
                  <a:srgbClr val="21201C"/>
                </a:solidFill>
                <a:latin typeface="Calibri"/>
              </a:rPr>
              <a:t>- Clean, professional finance styling. Label it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Make it interactive so I can change the amount and see the result update.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Rates are fixed demo values so the lab gives the same answer for everyone.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 1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1</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Open the Claude desktop app and sign in with your paid-plan account.</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Live Artefacts and local file access are desktop features — the browser version does not support them.</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1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 2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2</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Choose Cowork in the sidebar to open the agent workspace rather than a plain chat.</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Cowork gives Claude a workspace it can act in, instead of only answering in the conversation.</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2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 3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3</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Paste the lab prompt into the composer and send it.</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Claude writes the code and renders the converter in the preview pane beside the chat.</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3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 4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4</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Try the converter: change the amount and switch the currencies.</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This is what makes it an artefact rather than an answer — you can interact with it.</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4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 5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5</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Ask for one refinement in plain English, for example: Add a thousands separator to the result.</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Refining by conversation is the normal way to work — you never edit the code yourself.</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5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 6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6</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Save the artefact so it appears in your sidebar.</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A saved artefact persists as a reusable tool; an unsaved one scrolls away with the chat.</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6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 7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7</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Download a copy of the artefact to your lab folder.</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Downloading gives you a file you can keep, attach or hand to someone without Claude.</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7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First Live Artefact</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Converting S$10,000 to USD shows US$7,400. The artefact appears in your sidebar after saving, still works when you reopen it, and a downloaded copy is in your lab folder.</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head of finance wants to see how the four revenue desks performed this year without opening a spreadsheet. You take the supplied sales data and build it into a Live Artefact dashboard — KPI tiles, a trend chart and a desk breakdown — then save it. This dashboard is the artefact every later lab builds on.</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Live Artefact dashboard showing Meridian's FY2026 revenue by desk.</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local files</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sales dashboard</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attached meridian-sales-fy2026.csv, build me a Live Artefact:</a:t>
            </a:r>
          </a:p>
          <a:p>
            <a:pPr algn="l">
              <a:spcAft>
                <a:spcPts val="200"/>
              </a:spcAft>
            </a:pPr>
            <a:r>
              <a:rPr sz="1300" b="0">
                <a:solidFill>
                  <a:srgbClr val="21201C"/>
                </a:solidFill>
                <a:latin typeface="Calibri"/>
              </a:rPr>
              <a:t>an interactive sales dashboard for Meridian Capital Partners.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Include:</a:t>
            </a:r>
          </a:p>
          <a:p>
            <a:pPr algn="l">
              <a:spcAft>
                <a:spcPts val="200"/>
              </a:spcAft>
            </a:pPr>
            <a:r>
              <a:rPr sz="1300" b="0">
                <a:solidFill>
                  <a:srgbClr val="21201C"/>
                </a:solidFill>
                <a:latin typeface="Calibri"/>
              </a:rPr>
              <a:t>- KPI tiles: total revenue, total deals, average deal size, best desk.</a:t>
            </a:r>
          </a:p>
          <a:p>
            <a:pPr algn="l">
              <a:spcAft>
                <a:spcPts val="200"/>
              </a:spcAft>
            </a:pPr>
            <a:r>
              <a:rPr sz="1300" b="0">
                <a:solidFill>
                  <a:srgbClr val="21201C"/>
                </a:solidFill>
                <a:latin typeface="Calibri"/>
              </a:rPr>
              <a:t>- A monthly revenue trend chart for the full year.</a:t>
            </a:r>
          </a:p>
          <a:p>
            <a:pPr algn="l">
              <a:spcAft>
                <a:spcPts val="200"/>
              </a:spcAft>
            </a:pPr>
            <a:r>
              <a:rPr sz="1300" b="0">
                <a:solidFill>
                  <a:srgbClr val="21201C"/>
                </a:solidFill>
                <a:latin typeface="Calibri"/>
              </a:rPr>
              <a:t>- A breakdown of revenue by desk (Advisory, Asset Management,</a:t>
            </a:r>
          </a:p>
          <a:p>
            <a:pPr algn="l">
              <a:spcAft>
                <a:spcPts val="200"/>
              </a:spcAft>
            </a:pPr>
            <a:r>
              <a:rPr sz="1300" b="0">
                <a:solidFill>
                  <a:srgbClr val="21201C"/>
                </a:solidFill>
                <a:latin typeface="Calibri"/>
              </a:rPr>
              <a:t>  Private Credit, Corporate Finance).</a:t>
            </a:r>
          </a:p>
          <a:p>
            <a:pPr algn="l">
              <a:spcAft>
                <a:spcPts val="200"/>
              </a:spcAft>
            </a:pPr>
            <a:r>
              <a:rPr sz="1300" b="0">
                <a:solidFill>
                  <a:srgbClr val="21201C"/>
                </a:solidFill>
                <a:latin typeface="Calibri"/>
              </a:rPr>
              <a:t>- A filter to show one desk at a time or all desks.</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Format all money as Singapore dollars with thousands separators.</a:t>
            </a:r>
          </a:p>
          <a:p>
            <a:pPr algn="l">
              <a:spcAft>
                <a:spcPts val="200"/>
              </a:spcAft>
            </a:pPr>
            <a:r>
              <a:rPr sz="1300" b="0">
                <a:solidFill>
                  <a:srgbClr val="21201C"/>
                </a:solidFill>
                <a:latin typeface="Calibri"/>
              </a:rPr>
              <a:t>Use a clean, professional finance layout. Title it</a:t>
            </a:r>
          </a:p>
          <a:p>
            <a:pPr algn="l">
              <a:spcAft>
                <a:spcPts val="200"/>
              </a:spcAft>
            </a:pPr>
            <a:r>
              <a:rPr sz="1300" b="0">
                <a:solidFill>
                  <a:srgbClr val="21201C"/>
                </a:solidFill>
                <a:latin typeface="Calibri"/>
              </a:rPr>
              <a:t>"Meridian Capital Partners — FY2026 Revenue".</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CSV from your lab's mock-data folder before sending the prompt.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 1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1</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Open the lab folder and look at meridian-sales-fy2026.csv so you know what the data holds.</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Always know your source before you ask Claude to summarise it — that is how you spot a wrong figure later.</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1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 2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2</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Start a Cowork session and attach the CSV, or point Claude at the lab folder.</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Scope Claude to the one folder for this task rather than your whole drive.</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2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 3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3</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Paste the lab prompt and send it.</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Claude reads the file, works out the totals and builds the dashboard in the preview pane.</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3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 4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4</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Check the KPI tiles against the CSV: total revenue should be S$24,850,000 across 214 deals.</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This is the verification habit — read the artefact's numbers back against the source.</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4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 5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5</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Use the desk filter to view Advisory on its own, then return to all desks.</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Interactivity is the point of a Live Artefact: the reader explores instead of asking you for another cut.</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5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 6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6</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Refine the layout in plain English, for example: Move the KPI tiles above the chart.</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Keep refining by conversation until the dashboard reads the way you want it to.</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6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 7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7</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Save the dashboard to your sidebar with a clear name, then download a copy.</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You will reopen this same artefact in Lab 4 and rebrand it in Lab 6.</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7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Meridian Sales Dashboard</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total revenue S$24,850,000 and 214 deals, Advisory is the best desk at S$8,420,000, the desk filter changes the chart, and the artefact reopens from your sidebar after you close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Cowork Fundamentals</a:t>
            </a:r>
          </a:p>
        </p:txBody>
      </p:sp>
      <p:sp>
        <p:nvSpPr>
          <p:cNvPr id="5" name="Rectangle 4"/>
          <p:cNvSpPr/>
          <p:nvPr/>
        </p:nvSpPr>
        <p:spPr>
          <a:xfrm>
            <a:off x="548640" y="1783080"/>
            <a:ext cx="11064240"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set up the Cowork workspace and build, save and download a Live Artefact.</a:t>
            </a:r>
          </a:p>
        </p:txBody>
      </p:sp>
      <p:sp>
        <p:nvSpPr>
          <p:cNvPr id="10" name="Rectangle 9"/>
          <p:cNvSpPr/>
          <p:nvPr/>
        </p:nvSpPr>
        <p:spPr>
          <a:xfrm>
            <a:off x="548640" y="3922776"/>
            <a:ext cx="11064240"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922776"/>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4032504"/>
            <a:ext cx="10049256"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turn supplied finance data into an interactive Live Artefact dashboard.</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Tools and Skills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Drive and Gmail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Labs 3–5: connect, deliver, automate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TOOLS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Search and read mail, draft messages, send / reply / forward with approval, and manage labels.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Calendar</a:t>
            </a:r>
          </a:p>
          <a:p>
            <a:pPr algn="l">
              <a:spcAft>
                <a:spcPts val="300"/>
              </a:spcAft>
            </a:pPr>
            <a:r>
              <a:rPr sz="1150" b="0">
                <a:solidFill>
                  <a:srgbClr val="6B6862"/>
                </a:solidFill>
                <a:latin typeface="Calibri"/>
              </a:rPr>
              <a:t>View events, find availability, and create or update meetings.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by default</a:t>
            </a:r>
          </a:p>
          <a:p>
            <a:pPr algn="l">
              <a:spcAft>
                <a:spcPts val="300"/>
              </a:spcAft>
            </a:pPr>
            <a:r>
              <a:rPr sz="1150" b="0">
                <a:solidFill>
                  <a:srgbClr val="6B6862"/>
                </a:solidFill>
                <a:latin typeface="Calibri"/>
              </a:rPr>
              <a:t>Claude asks for explicit approval before it sends, replies to or forwards an email.</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manage them</a:t>
            </a:r>
          </a:p>
          <a:p>
            <a:pPr algn="l">
              <a:spcAft>
                <a:spcPts val="300"/>
              </a:spcAft>
            </a:pPr>
            <a:r>
              <a:rPr sz="1150" b="0">
                <a:solidFill>
                  <a:srgbClr val="6B6862"/>
                </a:solidFill>
                <a:latin typeface="Calibri"/>
              </a:rPr>
              <a:t>Individually from the + menu; account-wide under Customize → Connectors.</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Known limits</a:t>
            </a:r>
          </a:p>
          <a:p>
            <a:pPr algn="l">
              <a:spcAft>
                <a:spcPts val="300"/>
              </a:spcAft>
            </a:pPr>
            <a:r>
              <a:rPr sz="1150" b="0">
                <a:solidFill>
                  <a:srgbClr val="6B6862"/>
                </a:solidFill>
                <a:latin typeface="Calibri"/>
              </a:rPr>
              <a:t>Attachment contents are not read (metadata only) and images embedded in Docs are not processed.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GOOGLE DRIVE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on</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on Google Drive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of instructions Claude loads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name</a:t>
            </a:r>
          </a:p>
          <a:p>
            <a:pPr algn="l">
              <a:spcAft>
                <a:spcPts val="300"/>
              </a:spcAft>
            </a:pPr>
            <a:r>
              <a:rPr sz="1150" b="0">
                <a:solidFill>
                  <a:srgbClr val="6B6862"/>
                </a:solidFill>
                <a:latin typeface="Calibri"/>
              </a:rPr>
              <a:t>A short identifier for the skill, such as daily-brief —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description</a:t>
            </a:r>
          </a:p>
          <a:p>
            <a:pPr algn="l">
              <a:spcAft>
                <a:spcPts val="300"/>
              </a:spcAft>
            </a:pPr>
            <a:r>
              <a:rPr sz="1150" b="0">
                <a:solidFill>
                  <a:srgbClr val="6B6862"/>
                </a:solidFill>
                <a:latin typeface="Calibri"/>
              </a:rPr>
              <a:t>What the skill does and WHEN to use it — this is how Claude decides to load it.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The routine itself: which tools to check, in what order, and what to report.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Fallbacks</a:t>
            </a:r>
          </a:p>
          <a:p>
            <a:pPr algn="l">
              <a:spcAft>
                <a:spcPts val="300"/>
              </a:spcAft>
            </a:pPr>
            <a:r>
              <a:rPr sz="1150" b="0">
                <a:solidFill>
                  <a:srgbClr val="6B6862"/>
                </a:solidFill>
                <a:latin typeface="Calibri"/>
              </a:rPr>
              <a:t>What to say when there is nothing to report, so the routine never returns an empty answer.</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Retyping the request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whole routine again every morning.</a:t>
            </a:r>
          </a:p>
          <a:p>
            <a:pPr algn="l">
              <a:spcAft>
                <a:spcPts val="900"/>
              </a:spcAft>
            </a:pPr>
            <a:r>
              <a:rPr sz="1250" b="0">
                <a:solidFill>
                  <a:srgbClr val="21201C"/>
                </a:solidFill>
                <a:latin typeface="Calibri"/>
              </a:rPr>
              <a:t>•  Easy to forget a step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The output format drifts from day to day.</a:t>
            </a:r>
          </a:p>
          <a:p>
            <a:pPr algn="l">
              <a:spcAft>
                <a:spcPts val="900"/>
              </a:spcAft>
            </a:pPr>
            <a:r>
              <a:rPr sz="1250" b="0">
                <a:solidFill>
                  <a:srgbClr val="21201C"/>
                </a:solidFill>
                <a:latin typeface="Calibri"/>
              </a:rPr>
              <a:t>•  Nothing to hand to a new joiner.</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run by name.</a:t>
            </a:r>
          </a:p>
          <a:p>
            <a:pPr algn="l">
              <a:spcAft>
                <a:spcPts val="900"/>
              </a:spcAft>
            </a:pPr>
            <a:r>
              <a:rPr sz="1250" b="0">
                <a:solidFill>
                  <a:srgbClr val="21201C"/>
                </a:solidFill>
                <a:latin typeface="Calibri"/>
              </a:rPr>
              <a:t>•  Claude follows every step, every time.</a:t>
            </a:r>
          </a:p>
          <a:p>
            <a:pPr algn="l">
              <a:spcAft>
                <a:spcPts val="900"/>
              </a:spcAft>
            </a:pPr>
            <a:r>
              <a:rPr sz="1250" b="0">
                <a:solidFill>
                  <a:srgbClr val="21201C"/>
                </a:solidFill>
                <a:latin typeface="Calibri"/>
              </a:rPr>
              <a:t>•  The whole team shares one folder.</a:t>
            </a:r>
          </a:p>
          <a:p>
            <a:pPr algn="l">
              <a:spcAft>
                <a:spcPts val="900"/>
              </a:spcAft>
            </a:pPr>
            <a:r>
              <a:rPr sz="1250" b="0">
                <a:solidFill>
                  <a:srgbClr val="21201C"/>
                </a:solidFill>
                <a:latin typeface="Calibri"/>
              </a:rPr>
              <a:t>•  The same structure and format each run.</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AUTOMATION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check — Drive, Gmail, Calendar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reports back in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fallbacks</a:t>
            </a:r>
          </a:p>
          <a:p>
            <a:pPr algn="l">
              <a:spcAft>
                <a:spcPts val="300"/>
              </a:spcAft>
            </a:pPr>
            <a:r>
              <a:rPr sz="1150" b="0">
                <a:solidFill>
                  <a:srgbClr val="6B6862"/>
                </a:solidFill>
                <a:latin typeface="Calibri"/>
              </a:rPr>
              <a:t>When a source has nothing new, it says so plainly rather than inventing filler.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sending anything still needs your approval.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briefing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Tools and Skills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Connectors</a:t>
            </a:r>
          </a:p>
          <a:p>
            <a:pPr algn="l">
              <a:spcAft>
                <a:spcPts val="300"/>
              </a:spcAft>
            </a:pPr>
            <a:r>
              <a:rPr sz="1150" b="0">
                <a:solidFill>
                  <a:srgbClr val="6B6862"/>
                </a:solidFill>
                <a:latin typeface="Calibri"/>
              </a:rPr>
              <a:t>Toggle Gmail, Calendar and Drive on from the + menu so Claude can reach data outside the chat.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Claude reads Sheets, Docs, Slides and PDFs from Drive, and can upload files back to a folder.</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folder</a:t>
            </a:r>
          </a:p>
          <a:p>
            <a:pPr algn="l">
              <a:spcAft>
                <a:spcPts val="300"/>
              </a:spcAft>
            </a:pPr>
            <a:r>
              <a:rPr sz="1150" b="0">
                <a:solidFill>
                  <a:srgbClr val="6B6862"/>
                </a:solidFill>
                <a:latin typeface="Calibri"/>
              </a:rPr>
              <a:t>Point Claude at one Drive folder for the task — not your whole Drive.</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Claude drafts, sends, replies and labels — sending asks for explicit approval by default.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Skills</a:t>
            </a:r>
          </a:p>
          <a:p>
            <a:pPr algn="l">
              <a:spcAft>
                <a:spcPts val="300"/>
              </a:spcAft>
            </a:pPr>
            <a:r>
              <a:rPr sz="1150" b="0">
                <a:solidFill>
                  <a:srgbClr val="6B6862"/>
                </a:solidFill>
                <a:latin typeface="Calibri"/>
              </a:rPr>
              <a:t>A folder of instructions Claude loads on demand, so a task runs the same way every time.</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use tools</a:t>
            </a:r>
          </a:p>
          <a:p>
            <a:pPr algn="l">
              <a:spcAft>
                <a:spcPts val="300"/>
              </a:spcAft>
            </a:pPr>
            <a:r>
              <a:rPr sz="1150" b="0">
                <a:solidFill>
                  <a:srgbClr val="6B6862"/>
                </a:solidFill>
                <a:latin typeface="Calibri"/>
              </a:rPr>
              <a:t>A skill can drive the connectors for you — one command that checks Drive and Gmail and reports back.</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Meridian's finance data does not live on your laptop — it sits in a shared Google Drive folder. You upload the firm's wider finance files to Drive, enable the Google Drive connector, and confirm Claude can read them without you attaching anything by hand.</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working Google Drive connection scoped to the Meridian finance folder.</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Read the Meridian finance data from Drive</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300" b="0">
                <a:solidFill>
                  <a:srgbClr val="21201C"/>
                </a:solidFill>
                <a:latin typeface="Calibri"/>
              </a:rPr>
              <a:t>Using the Google Drive connector, open the folder "Meridian Finance"</a:t>
            </a:r>
          </a:p>
          <a:p>
            <a:pPr algn="l">
              <a:spcAft>
                <a:spcPts val="200"/>
              </a:spcAft>
            </a:pPr>
            <a:r>
              <a:rPr sz="1300" b="0">
                <a:solidFill>
                  <a:srgbClr val="21201C"/>
                </a:solidFill>
                <a:latin typeface="Calibri"/>
              </a:rPr>
              <a:t>in my Drive and tell me what you find.</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For each file, give me:</a:t>
            </a:r>
          </a:p>
          <a:p>
            <a:pPr algn="l">
              <a:spcAft>
                <a:spcPts val="200"/>
              </a:spcAft>
            </a:pPr>
            <a:r>
              <a:rPr sz="1300" b="0">
                <a:solidFill>
                  <a:srgbClr val="21201C"/>
                </a:solidFill>
                <a:latin typeface="Calibri"/>
              </a:rPr>
              <a:t>- The file name and what kind of data it holds.</a:t>
            </a:r>
          </a:p>
          <a:p>
            <a:pPr algn="l">
              <a:spcAft>
                <a:spcPts val="200"/>
              </a:spcAft>
            </a:pPr>
            <a:r>
              <a:rPr sz="1300" b="0">
                <a:solidFill>
                  <a:srgbClr val="21201C"/>
                </a:solidFill>
                <a:latin typeface="Calibri"/>
              </a:rPr>
              <a:t>- The period it covers.</a:t>
            </a:r>
          </a:p>
          <a:p>
            <a:pPr algn="l">
              <a:spcAft>
                <a:spcPts val="200"/>
              </a:spcAft>
            </a:pPr>
            <a:r>
              <a:rPr sz="1300" b="0">
                <a:solidFill>
                  <a:srgbClr val="21201C"/>
                </a:solidFill>
                <a:latin typeface="Calibri"/>
              </a:rPr>
              <a:t>- The three figures you would use in a quarterly revenue summary.</a:t>
            </a:r>
          </a:p>
          <a:p>
            <a:pPr algn="l">
              <a:spcAft>
                <a:spcPts val="200"/>
              </a:spcAft>
            </a:pPr>
            <a:r>
              <a:rPr sz="1300" b="0">
                <a:solidFill>
                  <a:srgbClr val="21201C"/>
                </a:solidFill>
                <a:latin typeface="Calibri"/>
              </a:rPr>
              <a:t/>
            </a:r>
          </a:p>
          <a:p>
            <a:pPr algn="l">
              <a:spcAft>
                <a:spcPts val="200"/>
              </a:spcAft>
            </a:pPr>
            <a:r>
              <a:rPr sz="1300" b="0">
                <a:solidFill>
                  <a:srgbClr val="21201C"/>
                </a:solidFill>
                <a:latin typeface="Calibri"/>
              </a:rPr>
              <a:t>Do not change, move or delete anything — read only.</a:t>
            </a:r>
          </a:p>
          <a:p>
            <a:pPr algn="l">
              <a:spcAft>
                <a:spcPts val="200"/>
              </a:spcAft>
            </a:pPr>
            <a:r>
              <a:rPr sz="1300" b="0">
                <a:solidFill>
                  <a:srgbClr val="21201C"/>
                </a:solidFill>
                <a:latin typeface="Calibri"/>
              </a:rPr>
              <a:t>List anything that looks inconsistent between the files.</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Claude asks for approval before it moves, shares or deletes a Drive file.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 1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1</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Upload the lab's mock-data files to a new Google Drive folder named Meridian Finance.</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lab supplies the quarterly workbook, the desk targets and the client list as mock data.</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1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 2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2</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In Claude, click the plus sign in the composer and hover over Connectors.</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This is where you turn individual connectors on and off for your account.</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2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 3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3</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Toggle Google Drive on and sign in to your Google account.</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On a Team or Enterprise plan an owner must enable connectors for the organisation first.</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3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 4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4</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Approve the permissions Google asks for.</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Approve only what you are willing to let Claude reach — you can revoke access later.</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4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 5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5</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Paste the lab prompt so Claude reads the Meridian Finance folder.</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Naming the folder scopes the task; Claude does not need access to your whole Drive.</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5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 6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6</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Compare Claude's file summary against what you actually uploaded.</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Confirm it found every file and read the right periods before you rely on it.</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6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 7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7</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Note any inconsistency Claude reports between the files.</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Q4 Advisory target deliberately disagrees between two files — a real check.</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7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lists all three Meridian Finance files with their periods, reports FY2026 revenue of S$24,850,000, and flags that the Q4 Advisory target disagrees between the two files — S$2,320,000 in the targets file against S$2,410,000 in the workbook. Nothing in Drive has been changed.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Quarter end has arrived. You refresh the dashboard you built in Lab 2 using the data Claude now reads from Drive, then have it draft a quarterly summary email to the head of finance. You read the draft against the figures and approve it before a single message leaves your outbox.</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updated dashboard plus an approved quarterly summary email sent to yourself.</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Live Artefacts, Google Drive connector, Gmail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then draft the summary</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Two tasks, in order.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1. Open my saved "Meridian Capital Partners — FY2026 Revenue"</a:t>
            </a:r>
          </a:p>
          <a:p>
            <a:pPr algn="l">
              <a:spcAft>
                <a:spcPts val="200"/>
              </a:spcAft>
            </a:pPr>
            <a:r>
              <a:rPr sz="1200" b="0">
                <a:solidFill>
                  <a:srgbClr val="21201C"/>
                </a:solidFill>
                <a:latin typeface="Calibri"/>
              </a:rPr>
              <a:t>   dashboard and update it from the Meridian Finance folder in Google</a:t>
            </a:r>
          </a:p>
          <a:p>
            <a:pPr algn="l">
              <a:spcAft>
                <a:spcPts val="200"/>
              </a:spcAft>
            </a:pPr>
            <a:r>
              <a:rPr sz="1200" b="0">
                <a:solidFill>
                  <a:srgbClr val="21201C"/>
                </a:solidFill>
                <a:latin typeface="Calibri"/>
              </a:rPr>
              <a:t>   Drive. Add a Q4 column to the desk breakdown and show each desk's</a:t>
            </a:r>
          </a:p>
          <a:p>
            <a:pPr algn="l">
              <a:spcAft>
                <a:spcPts val="200"/>
              </a:spcAft>
            </a:pPr>
            <a:r>
              <a:rPr sz="1200" b="0">
                <a:solidFill>
                  <a:srgbClr val="21201C"/>
                </a:solidFill>
                <a:latin typeface="Calibri"/>
              </a:rPr>
              <a:t>   actual against its target.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2. Then draft an email to &lt;YOUR OWN ADDRESS&gt; with the subject</a:t>
            </a:r>
          </a:p>
          <a:p>
            <a:pPr algn="l">
              <a:spcAft>
                <a:spcPts val="200"/>
              </a:spcAft>
            </a:pPr>
            <a:r>
              <a:rPr sz="1200" b="0">
                <a:solidFill>
                  <a:srgbClr val="21201C"/>
                </a:solidFill>
                <a:latin typeface="Calibri"/>
              </a:rPr>
              <a:t>   "Meridian FY2026 — Q4 revenue summary". In the body:</a:t>
            </a:r>
          </a:p>
          <a:p>
            <a:pPr algn="l">
              <a:spcAft>
                <a:spcPts val="200"/>
              </a:spcAft>
            </a:pPr>
            <a:r>
              <a:rPr sz="1200" b="0">
                <a:solidFill>
                  <a:srgbClr val="21201C"/>
                </a:solidFill>
                <a:latin typeface="Calibri"/>
              </a:rPr>
              <a:t>   - Total FY2026 revenue and the Q4 figure.</a:t>
            </a:r>
          </a:p>
          <a:p>
            <a:pPr algn="l">
              <a:spcAft>
                <a:spcPts val="200"/>
              </a:spcAft>
            </a:pPr>
            <a:r>
              <a:rPr sz="1200" b="0">
                <a:solidFill>
                  <a:srgbClr val="21201C"/>
                </a:solidFill>
                <a:latin typeface="Calibri"/>
              </a:rPr>
              <a:t>   - Each desk's Q4 actual against target, best and worst first.</a:t>
            </a:r>
          </a:p>
          <a:p>
            <a:pPr algn="l">
              <a:spcAft>
                <a:spcPts val="200"/>
              </a:spcAft>
            </a:pPr>
            <a:r>
              <a:rPr sz="1200" b="0">
                <a:solidFill>
                  <a:srgbClr val="21201C"/>
                </a:solidFill>
                <a:latin typeface="Calibri"/>
              </a:rPr>
              <a:t>   - Two sentences explaining the largest variance.</a:t>
            </a:r>
          </a:p>
          <a:p>
            <a:pPr algn="l">
              <a:spcAft>
                <a:spcPts val="200"/>
              </a:spcAft>
            </a:pPr>
            <a:r>
              <a:rPr sz="1200" b="0">
                <a:solidFill>
                  <a:srgbClr val="21201C"/>
                </a:solidFill>
                <a:latin typeface="Calibri"/>
              </a:rPr>
              <a:t>   - A closing line noting the Q4 Advisory target discrepancy.</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Show me the draft. Do not send it until I approve it.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OWN ADDRESS&gt; with your own email — never a real client's.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 1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1</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Reopen the dashboard you saved in Lab 2 from your sidebar.</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You are extending the artefact you already built, not starting a new one.</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1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 2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2</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Enable the Gmail connector from the plus menu, alongside Google Drive.</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Turn on only the connectors this task needs.</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2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 3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3</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Paste the lab prompt, replacing the placeholder with your own email address.</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Class exercises always go to a test recipient — yourself.</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3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 4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4</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Watch Claude refresh the dashboard from Drive and add the Q4 target comparison.</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data comes from the connector now; you are not attaching files by hand.</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4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 5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5</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Check the refreshed dashboard: Q4 revenue should be S$6,980,000 across the four desks.</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Verify the artefact before you let it feed an email to your head of finance.</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5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 6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6</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Read the drafted email in full and compare every figure against the dashboard.</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Claude asks for explicit approval before sending — this is the moment to use it.</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6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 7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7</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Approve the send, then confirm the message arrived in your own inbox.</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Approve only once the figures match; if anything is wrong, ask for a correction first.</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7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Refresh the Dashboard and Send the Summary</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dashboard shows a Q4 column with actual against target per desk and Q4 revenue of S$6,980,000. The email arrives in your own inbox with the correct totals and a closing note about the Advisory target discrepancy.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Labs 3 and 4 showed what the connectors can do — but you had to describe the whole routine each time. Now you capture it once as an Agent Skill. Every morning you type one command and Claude checks Drive and Gmail and briefs you on where Meridian's reporting stands, in the same format every day.</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daily-brief Agent Skill you can run by name each morning.</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Agent Skills, Google Drive connector, Gmail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daily-brief skill</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00" b="0">
                <a:solidFill>
                  <a:srgbClr val="21201C"/>
                </a:solidFill>
                <a:latin typeface="Calibri"/>
              </a:rPr>
              <a:t>I want to create an automation. I want this to be a daily briefing</a:t>
            </a:r>
          </a:p>
          <a:p>
            <a:pPr algn="l">
              <a:spcAft>
                <a:spcPts val="200"/>
              </a:spcAft>
            </a:pPr>
            <a:r>
              <a:rPr sz="900" b="0">
                <a:solidFill>
                  <a:srgbClr val="21201C"/>
                </a:solidFill>
                <a:latin typeface="Calibri"/>
              </a:rPr>
              <a:t>automation for my finance work at Meridian Capital Partners.</a:t>
            </a:r>
          </a:p>
          <a:p>
            <a:pPr algn="l">
              <a:spcAft>
                <a:spcPts val="200"/>
              </a:spcAft>
            </a:pPr>
            <a:r>
              <a:rPr sz="900" b="0">
                <a:solidFill>
                  <a:srgbClr val="21201C"/>
                </a:solidFill>
                <a:latin typeface="Calibri"/>
              </a:rPr>
              <a:t/>
            </a:r>
          </a:p>
          <a:p>
            <a:pPr algn="l">
              <a:spcAft>
                <a:spcPts val="200"/>
              </a:spcAft>
            </a:pPr>
            <a:r>
              <a:rPr sz="900" b="0">
                <a:solidFill>
                  <a:srgbClr val="21201C"/>
                </a:solidFill>
                <a:latin typeface="Calibri"/>
              </a:rPr>
              <a:t>The goal: every morning when I come into Claude, I type /daily-brief</a:t>
            </a:r>
          </a:p>
          <a:p>
            <a:pPr algn="l">
              <a:spcAft>
                <a:spcPts val="200"/>
              </a:spcAft>
            </a:pPr>
            <a:r>
              <a:rPr sz="900" b="0">
                <a:solidFill>
                  <a:srgbClr val="21201C"/>
                </a:solidFill>
                <a:latin typeface="Calibri"/>
              </a:rPr>
              <a:t>and it runs the routine and catches me up on everything:</a:t>
            </a:r>
          </a:p>
          <a:p>
            <a:pPr algn="l">
              <a:spcAft>
                <a:spcPts val="200"/>
              </a:spcAft>
            </a:pPr>
            <a:r>
              <a:rPr sz="900" b="0">
                <a:solidFill>
                  <a:srgbClr val="21201C"/>
                </a:solidFill>
                <a:latin typeface="Calibri"/>
              </a:rPr>
              <a:t/>
            </a:r>
          </a:p>
          <a:p>
            <a:pPr algn="l">
              <a:spcAft>
                <a:spcPts val="200"/>
              </a:spcAft>
            </a:pPr>
            <a:r>
              <a:rPr sz="900" b="0">
                <a:solidFill>
                  <a:srgbClr val="21201C"/>
                </a:solidFill>
                <a:latin typeface="Calibri"/>
              </a:rPr>
              <a:t>- What changed in the Meridian Finance folder on Google Drive since</a:t>
            </a:r>
          </a:p>
          <a:p>
            <a:pPr algn="l">
              <a:spcAft>
                <a:spcPts val="200"/>
              </a:spcAft>
            </a:pPr>
            <a:r>
              <a:rPr sz="900" b="0">
                <a:solidFill>
                  <a:srgbClr val="21201C"/>
                </a:solidFill>
                <a:latin typeface="Calibri"/>
              </a:rPr>
              <a:t>  yesterday?</a:t>
            </a:r>
          </a:p>
          <a:p>
            <a:pPr algn="l">
              <a:spcAft>
                <a:spcPts val="200"/>
              </a:spcAft>
            </a:pPr>
            <a:r>
              <a:rPr sz="900" b="0">
                <a:solidFill>
                  <a:srgbClr val="21201C"/>
                </a:solidFill>
                <a:latin typeface="Calibri"/>
              </a:rPr>
              <a:t>- Which desks are behind their quarterly target right now?</a:t>
            </a:r>
          </a:p>
          <a:p>
            <a:pPr algn="l">
              <a:spcAft>
                <a:spcPts val="200"/>
              </a:spcAft>
            </a:pPr>
            <a:r>
              <a:rPr sz="900" b="0">
                <a:solidFill>
                  <a:srgbClr val="21201C"/>
                </a:solidFill>
                <a:latin typeface="Calibri"/>
              </a:rPr>
              <a:t>- What finance emails do I need to respond to today?</a:t>
            </a:r>
          </a:p>
          <a:p>
            <a:pPr algn="l">
              <a:spcAft>
                <a:spcPts val="200"/>
              </a:spcAft>
            </a:pPr>
            <a:r>
              <a:rPr sz="900" b="0">
                <a:solidFill>
                  <a:srgbClr val="21201C"/>
                </a:solidFill>
                <a:latin typeface="Calibri"/>
              </a:rPr>
              <a:t/>
            </a:r>
          </a:p>
          <a:p>
            <a:pPr algn="l">
              <a:spcAft>
                <a:spcPts val="200"/>
              </a:spcAft>
            </a:pPr>
            <a:r>
              <a:rPr sz="900" b="0">
                <a:solidFill>
                  <a:srgbClr val="21201C"/>
                </a:solidFill>
                <a:latin typeface="Calibri"/>
              </a:rPr>
              <a:t>I want fallbacks. If there is nothing in a section, say so plainly —</a:t>
            </a:r>
          </a:p>
          <a:p>
            <a:pPr algn="l">
              <a:spcAft>
                <a:spcPts val="200"/>
              </a:spcAft>
            </a:pPr>
            <a:r>
              <a:rPr sz="900" b="0">
                <a:solidFill>
                  <a:srgbClr val="21201C"/>
                </a:solidFill>
                <a:latin typeface="Calibri"/>
              </a:rPr>
              <a:t>"No new files since yesterday" — rather than padding it out.</a:t>
            </a:r>
          </a:p>
          <a:p>
            <a:pPr algn="l">
              <a:spcAft>
                <a:spcPts val="200"/>
              </a:spcAft>
            </a:pPr>
            <a:r>
              <a:rPr sz="900" b="0">
                <a:solidFill>
                  <a:srgbClr val="21201C"/>
                </a:solidFill>
                <a:latin typeface="Calibri"/>
              </a:rPr>
              <a:t>End with one line on what most needs my attention, or "Nothing</a:t>
            </a:r>
          </a:p>
          <a:p>
            <a:pPr algn="l">
              <a:spcAft>
                <a:spcPts val="200"/>
              </a:spcAft>
            </a:pPr>
            <a:r>
              <a:rPr sz="900" b="0">
                <a:solidFill>
                  <a:srgbClr val="21201C"/>
                </a:solidFill>
                <a:latin typeface="Calibri"/>
              </a:rPr>
              <a:t>urgent — have a good day" if there is nothing.</a:t>
            </a:r>
          </a:p>
          <a:p>
            <a:pPr algn="l">
              <a:spcAft>
                <a:spcPts val="200"/>
              </a:spcAft>
            </a:pPr>
            <a:r>
              <a:rPr sz="900" b="0">
                <a:solidFill>
                  <a:srgbClr val="21201C"/>
                </a:solidFill>
                <a:latin typeface="Calibri"/>
              </a:rPr>
              <a:t/>
            </a:r>
          </a:p>
          <a:p>
            <a:pPr algn="l">
              <a:spcAft>
                <a:spcPts val="200"/>
              </a:spcAft>
            </a:pPr>
            <a:r>
              <a:rPr sz="900" b="0">
                <a:solidFill>
                  <a:srgbClr val="21201C"/>
                </a:solidFill>
                <a:latin typeface="Calibri"/>
              </a:rPr>
              <a:t>Keep all money in Singapore dollars with thousands separators.</a:t>
            </a:r>
          </a:p>
          <a:p>
            <a:pPr algn="l">
              <a:spcAft>
                <a:spcPts val="200"/>
              </a:spcAft>
            </a:pPr>
            <a:r>
              <a:rPr sz="900" b="0">
                <a:solidFill>
                  <a:srgbClr val="21201C"/>
                </a:solidFill>
                <a:latin typeface="Calibri"/>
              </a:rPr>
              <a:t>Draft only — never send an email as part of this routine.</a:t>
            </a:r>
          </a:p>
          <a:p>
            <a:pPr algn="l">
              <a:spcAft>
                <a:spcPts val="200"/>
              </a:spcAft>
            </a:pPr>
            <a:r>
              <a:rPr sz="900" b="0">
                <a:solidFill>
                  <a:srgbClr val="21201C"/>
                </a:solidFill>
                <a:latin typeface="Calibri"/>
              </a:rPr>
              <a:t/>
            </a:r>
          </a:p>
          <a:p>
            <a:pPr algn="l">
              <a:spcAft>
                <a:spcPts val="200"/>
              </a:spcAft>
            </a:pPr>
            <a:r>
              <a:rPr sz="900" b="0">
                <a:solidFill>
                  <a:srgbClr val="21201C"/>
                </a:solidFill>
                <a:latin typeface="Calibri"/>
              </a:rPr>
              <a:t>Save this as a skill I can reuse, and show me the finished SKILL.md.</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description line is what tells Claude when to load the skill — keep it specific.</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 1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1</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Make sure the Drive and Gmail connectors from Labs 3 and 4 are still enabled.</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skill drives those connectors, so it can only work if they are on.</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1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 2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2</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Paste the lab prompt into Cowork.</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You are describing the routine once; Claude writes it into the skill structure.</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2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 3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3</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Read the SKILL.md Claude produces, starting with the description line.</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description is how Claude decides whether to load the skill for a future task.</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3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 4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4</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Check each of the three sections is there, with its fallback wording.</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fallbacks are what stop the routine inventing filler on a quiet morning.</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4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 5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5</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Confirm the skill drafts only and never sends — ask for a correction if not.</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A routine that runs unattended must not be able to send mail on its own.</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5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 6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6</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Save the skill, then run it by name to see the briefing.</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This is the payoff: one command instead of re-describing the whole routine.</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6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 7 OF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7</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Run it a second time and confirm the format is identical.</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Consistency is the point of a skill — the same structure every single run.</a:t>
            </a:r>
          </a:p>
        </p:txBody>
      </p:sp>
      <p:sp>
        <p:nvSpPr>
          <p:cNvPr id="11" name="Rectangle 10"/>
          <p:cNvSpPr/>
          <p:nvPr/>
        </p:nvSpPr>
        <p:spPr>
          <a:xfrm>
            <a:off x="54864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969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30752"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21808"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12864"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094976" y="5715000"/>
            <a:ext cx="1517904"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7 of 7</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a /daily-brief Skill</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Running the skill produces a briefing with all three sections — Drive changes, desks behind target, emails needing a reply — using the plain fallback wording where a section is empty, ending with a single attention line, with all money in SGD and no email sent.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Tools and Skills</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enable the Google Drive connector and read finance data held outside the chat.</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04</a:t>
            </a:r>
          </a:p>
          <a:p>
            <a:pPr algn="l">
              <a:spcAft>
                <a:spcPts val="300"/>
              </a:spcAft>
            </a:pPr>
            <a:r>
              <a:rPr sz="1150" b="0">
                <a:solidFill>
                  <a:srgbClr val="6B6862"/>
                </a:solidFill>
                <a:latin typeface="Calibri"/>
              </a:rPr>
              <a:t>You can now update the Live Artefact from connected data and deliver an approved summary by Gmail.</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05</a:t>
            </a:r>
          </a:p>
          <a:p>
            <a:pPr algn="l">
              <a:spcAft>
                <a:spcPts val="300"/>
              </a:spcAft>
            </a:pPr>
            <a:r>
              <a:rPr sz="1150" b="0">
                <a:solidFill>
                  <a:srgbClr val="6B6862"/>
                </a:solidFill>
                <a:latin typeface="Calibri"/>
              </a:rPr>
              <a:t>You can now write an Agent Skill that runs a repeatable routine across your connected tools.</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Claude Projects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a Project is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Project knowledge</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Assemble the workspace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Lab 6: the Meridian project</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same files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Your artefacts are scattered across conversations.</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Knowledge leaves when you do.</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Files are added once as project knowledge.</a:t>
            </a:r>
          </a:p>
          <a:p>
            <a:pPr algn="l">
              <a:spcAft>
                <a:spcPts val="900"/>
              </a:spcAft>
            </a:pPr>
            <a:r>
              <a:rPr sz="1250" b="0">
                <a:solidFill>
                  <a:srgbClr val="21201C"/>
                </a:solidFill>
                <a:latin typeface="Calibri"/>
              </a:rPr>
              <a:t>•  Custom instructions apply to every chat.</a:t>
            </a:r>
          </a:p>
          <a:p>
            <a:pPr algn="l">
              <a:spcAft>
                <a:spcPts val="900"/>
              </a:spcAft>
            </a:pPr>
            <a:r>
              <a:rPr sz="1250" b="0">
                <a:solidFill>
                  <a:srgbClr val="21201C"/>
                </a:solidFill>
                <a:latin typeface="Calibri"/>
              </a:rPr>
              <a:t>•  Artefacts and skills live in one workspace.</a:t>
            </a:r>
          </a:p>
          <a:p>
            <a:pPr algn="l">
              <a:spcAft>
                <a:spcPts val="900"/>
              </a:spcAft>
            </a:pPr>
            <a:r>
              <a:rPr sz="1250" b="0">
                <a:solidFill>
                  <a:srgbClr val="21201C"/>
                </a:solidFill>
                <a:latin typeface="Calibri"/>
              </a:rPr>
              <a:t>•  A colleague opens the project and is ready.</a:t>
            </a:r>
          </a:p>
          <a:p>
            <a:pPr algn="l">
              <a:spcAft>
                <a:spcPts val="900"/>
              </a:spcAft>
            </a:pPr>
            <a:r>
              <a:rPr sz="1250" b="0">
                <a:solidFill>
                  <a:srgbClr val="21201C"/>
                </a:solidFill>
                <a:latin typeface="Calibri"/>
              </a:rPr>
              <a:t>•  The setup outlives any single conversation.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Three Ways to Start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In Cowork, the files and instructions stay in a folder on your computer.</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from scratch</a:t>
            </a:r>
          </a:p>
          <a:p>
            <a:pPr algn="l">
              <a:spcAft>
                <a:spcPts val="300"/>
              </a:spcAft>
            </a:pPr>
            <a:r>
              <a:rPr sz="1150" b="0">
                <a:solidFill>
                  <a:srgbClr val="6B6862"/>
                </a:solidFill>
                <a:latin typeface="Calibri"/>
              </a:rPr>
              <a:t>Set up a new folder with instructions and files.</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Import a project</a:t>
            </a:r>
          </a:p>
          <a:p>
            <a:pPr algn="l">
              <a:spcAft>
                <a:spcPts val="300"/>
              </a:spcAft>
            </a:pPr>
            <a:r>
              <a:rPr sz="1150" b="0">
                <a:solidFill>
                  <a:srgbClr val="6B6862"/>
                </a:solidFill>
                <a:latin typeface="Calibri"/>
              </a:rPr>
              <a:t>Bring a project you made in Chat over to Cowork.</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an existing folder</a:t>
            </a:r>
          </a:p>
          <a:p>
            <a:pPr algn="l">
              <a:spcAft>
                <a:spcPts val="300"/>
              </a:spcAft>
            </a:pPr>
            <a:r>
              <a:rPr sz="1150" b="0">
                <a:solidFill>
                  <a:srgbClr val="6B6862"/>
                </a:solidFill>
                <a:latin typeface="Calibri"/>
              </a:rPr>
              <a:t>Give Claude a folder you already work from.</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Goes in the Project</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The project folder</a:t>
            </a:r>
          </a:p>
          <a:p>
            <a:pPr algn="l">
              <a:spcAft>
                <a:spcPts val="300"/>
              </a:spcAft>
            </a:pPr>
            <a:r>
              <a:rPr sz="1150" b="0">
                <a:solidFill>
                  <a:srgbClr val="6B6862"/>
                </a:solidFill>
                <a:latin typeface="Calibri"/>
              </a:rPr>
              <a:t>A real folder on your computer holding the files and instructions — Claude works in it, and so can you.</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Project instructions</a:t>
            </a:r>
          </a:p>
          <a:p>
            <a:pPr algn="l">
              <a:spcAft>
                <a:spcPts val="300"/>
              </a:spcAft>
            </a:pPr>
            <a:r>
              <a:rPr sz="1150" b="0">
                <a:solidFill>
                  <a:srgbClr val="6B6862"/>
                </a:solidFill>
                <a:latin typeface="Calibri"/>
              </a:rPr>
              <a:t>The standing rules for this work: house style, SGD formatting, check before sending.</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The finance data</a:t>
            </a:r>
          </a:p>
          <a:p>
            <a:pPr algn="l">
              <a:spcAft>
                <a:spcPts val="300"/>
              </a:spcAft>
            </a:pPr>
            <a:r>
              <a:rPr sz="1150" b="0">
                <a:solidFill>
                  <a:srgbClr val="6B6862"/>
                </a:solidFill>
                <a:latin typeface="Calibri"/>
              </a:rPr>
              <a:t>The Meridian files, in the folder once, so no chat has to re-attach them.</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skill</a:t>
            </a:r>
          </a:p>
          <a:p>
            <a:pPr algn="l">
              <a:spcAft>
                <a:spcPts val="300"/>
              </a:spcAft>
            </a:pPr>
            <a:r>
              <a:rPr sz="1150" b="0">
                <a:solidFill>
                  <a:srgbClr val="6B6862"/>
                </a:solidFill>
                <a:latin typeface="Calibri"/>
              </a:rPr>
              <a:t>The daily-brief routine, available to everyone working in the project.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artefacts</a:t>
            </a:r>
          </a:p>
          <a:p>
            <a:pPr algn="l">
              <a:spcAft>
                <a:spcPts val="300"/>
              </a:spcAft>
            </a:pPr>
            <a:r>
              <a:rPr sz="1150" b="0">
                <a:solidFill>
                  <a:srgbClr val="6B6862"/>
                </a:solidFill>
                <a:latin typeface="Calibri"/>
              </a:rPr>
              <a:t>The FY2026 dashboard, saved where the team looks for it.</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Connected tools</a:t>
            </a:r>
          </a:p>
          <a:p>
            <a:pPr algn="l">
              <a:spcAft>
                <a:spcPts val="300"/>
              </a:spcAft>
            </a:pPr>
            <a:r>
              <a:rPr sz="1150" b="0">
                <a:solidFill>
                  <a:srgbClr val="6B6862"/>
                </a:solidFill>
                <a:latin typeface="Calibri"/>
              </a:rPr>
              <a:t>Drive and Gmail, already enabled for the tasks this project runs.</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Assembling the Meridian Project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Create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New project → Start from scratch, and name it Meridian Finance Reporting.</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Add files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Put the finance data and brand guidelines into the project folder.</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Set instructions</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Write the standing rules that apply to every task in the project.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Bring your tools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Add the dashboard artefact and the daily-brief skill.</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Share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Hand the folder to the team so they work from the same setup.</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Everything from Labs 1–5, gathered into one workspace you can hand to the team.</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Claude Projects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Claude Project</a:t>
            </a:r>
          </a:p>
          <a:p>
            <a:pPr algn="l">
              <a:spcAft>
                <a:spcPts val="300"/>
              </a:spcAft>
            </a:pPr>
            <a:r>
              <a:rPr sz="1150" b="0">
                <a:solidFill>
                  <a:srgbClr val="6B6862"/>
                </a:solidFill>
                <a:latin typeface="Calibri"/>
              </a:rPr>
              <a:t>A dedicated place for ongoing work, where context builds over time instead of resetting each chat.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Backed by a folder</a:t>
            </a:r>
          </a:p>
          <a:p>
            <a:pPr algn="l">
              <a:spcAft>
                <a:spcPts val="300"/>
              </a:spcAft>
            </a:pPr>
            <a:r>
              <a:rPr sz="1150" b="0">
                <a:solidFill>
                  <a:srgbClr val="6B6862"/>
                </a:solidFill>
                <a:latin typeface="Calibri"/>
              </a:rPr>
              <a:t>In Cowork the files and instructions live in a real folder on your computer — you can still open them yourself.</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Three ways to start</a:t>
            </a:r>
          </a:p>
          <a:p>
            <a:pPr algn="l">
              <a:spcAft>
                <a:spcPts val="300"/>
              </a:spcAft>
            </a:pPr>
            <a:r>
              <a:rPr sz="1150" b="0">
                <a:solidFill>
                  <a:srgbClr val="6B6862"/>
                </a:solidFill>
                <a:latin typeface="Calibri"/>
              </a:rPr>
              <a:t>Start from scratch, import a project you made in Chat, or point Claude at a folder you already work from.</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Project instructions</a:t>
            </a:r>
          </a:p>
          <a:p>
            <a:pPr algn="l">
              <a:spcAft>
                <a:spcPts val="300"/>
              </a:spcAft>
            </a:pPr>
            <a:r>
              <a:rPr sz="1150" b="0">
                <a:solidFill>
                  <a:srgbClr val="6B6862"/>
                </a:solidFill>
                <a:latin typeface="Calibri"/>
              </a:rPr>
              <a:t>Standing rules for this body of work — house style, SGD formatting, check before sending.</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Everything in one place</a:t>
            </a:r>
          </a:p>
          <a:p>
            <a:pPr algn="l">
              <a:spcAft>
                <a:spcPts val="300"/>
              </a:spcAft>
            </a:pPr>
            <a:r>
              <a:rPr sz="1150" b="0">
                <a:solidFill>
                  <a:srgbClr val="6B6862"/>
                </a:solidFill>
                <a:latin typeface="Calibri"/>
              </a:rPr>
              <a:t>The finance data, the brand rules, your daily-brief skill and the dashboard, together.</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 the folder</a:t>
            </a:r>
          </a:p>
          <a:p>
            <a:pPr algn="l">
              <a:spcAft>
                <a:spcPts val="300"/>
              </a:spcAft>
            </a:pPr>
            <a:r>
              <a:rPr sz="1150" b="0">
                <a:solidFill>
                  <a:srgbClr val="6B6862"/>
                </a:solidFill>
                <a:latin typeface="Calibri"/>
              </a:rPr>
              <a:t>A colleague opens the same project and inherits the data, rules and tools you set up.</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Everything you have built so far lives in separate places — a dashboard in your sidebar, files in Drive, a skill, and rules you have been restating by hand. In this final lab you gather them into one Cowork Project: a dedicated folder on your computer where context builds over time, and which a colleague can open and be immediately productive in.</a:t>
            </a:r>
          </a:p>
        </p:txBody>
      </p:sp>
      <p:sp>
        <p:nvSpPr>
          <p:cNvPr id="8" name="Rectangle 7"/>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1" name="TextBox 10"/>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Meridian Finance Reporting project holding the data, instructions, skill and dashboard.</a:t>
            </a:r>
          </a:p>
        </p:txBody>
      </p:sp>
      <p:sp>
        <p:nvSpPr>
          <p:cNvPr id="12" name="TextBox 11"/>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Cowork, Projects, Agent Skills, Live Artefacts, Google Drive connector</a:t>
            </a:r>
          </a:p>
        </p:txBody>
      </p:sp>
      <p:sp>
        <p:nvSpPr>
          <p:cNvPr id="13" name="TextBox 1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5" name="TextBox 1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project instructions</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950" b="0">
                <a:solidFill>
                  <a:srgbClr val="21201C"/>
                </a:solidFill>
                <a:latin typeface="Calibri"/>
              </a:rPr>
              <a:t>This project is Meridian Finance Reporting. Write the project</a:t>
            </a:r>
          </a:p>
          <a:p>
            <a:pPr algn="l">
              <a:spcAft>
                <a:spcPts val="200"/>
              </a:spcAft>
            </a:pPr>
            <a:r>
              <a:rPr sz="950" b="0">
                <a:solidFill>
                  <a:srgbClr val="21201C"/>
                </a:solidFill>
                <a:latin typeface="Calibri"/>
              </a:rPr>
              <a:t>instructions that should apply to every task I run in here:</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 We are the finance team at Meridian Capital Partners Pte Ltd.</a:t>
            </a:r>
          </a:p>
          <a:p>
            <a:pPr algn="l">
              <a:spcAft>
                <a:spcPts val="200"/>
              </a:spcAft>
            </a:pPr>
            <a:r>
              <a:rPr sz="950" b="0">
                <a:solidFill>
                  <a:srgbClr val="21201C"/>
                </a:solidFill>
                <a:latin typeface="Calibri"/>
              </a:rPr>
              <a:t>  Our four revenue desks are Advisory, Asset Management, Private</a:t>
            </a:r>
          </a:p>
          <a:p>
            <a:pPr algn="l">
              <a:spcAft>
                <a:spcPts val="200"/>
              </a:spcAft>
            </a:pPr>
            <a:r>
              <a:rPr sz="950" b="0">
                <a:solidFill>
                  <a:srgbClr val="21201C"/>
                </a:solidFill>
                <a:latin typeface="Calibri"/>
              </a:rPr>
              <a:t>  Credit and Corporate Finance.</a:t>
            </a:r>
          </a:p>
          <a:p>
            <a:pPr algn="l">
              <a:spcAft>
                <a:spcPts val="200"/>
              </a:spcAft>
            </a:pPr>
            <a:r>
              <a:rPr sz="950" b="0">
                <a:solidFill>
                  <a:srgbClr val="21201C"/>
                </a:solidFill>
                <a:latin typeface="Calibri"/>
              </a:rPr>
              <a:t>- All money in Singapore dollars, thousands separators, no decimals.</a:t>
            </a:r>
          </a:p>
          <a:p>
            <a:pPr algn="l">
              <a:spcAft>
                <a:spcPts val="200"/>
              </a:spcAft>
            </a:pPr>
            <a:r>
              <a:rPr sz="950" b="0">
                <a:solidFill>
                  <a:srgbClr val="21201C"/>
                </a:solidFill>
                <a:latin typeface="Calibri"/>
              </a:rPr>
              <a:t>- Variances show both the absolute figure and the percentage.</a:t>
            </a:r>
          </a:p>
          <a:p>
            <a:pPr algn="l">
              <a:spcAft>
                <a:spcPts val="200"/>
              </a:spcAft>
            </a:pPr>
            <a:r>
              <a:rPr sz="950" b="0">
                <a:solidFill>
                  <a:srgbClr val="21201C"/>
                </a:solidFill>
                <a:latin typeface="Calibri"/>
              </a:rPr>
              <a:t>- Every report carries the title "Meridian Capital Partners" and</a:t>
            </a:r>
          </a:p>
          <a:p>
            <a:pPr algn="l">
              <a:spcAft>
                <a:spcPts val="200"/>
              </a:spcAft>
            </a:pPr>
            <a:r>
              <a:rPr sz="950" b="0">
                <a:solidFill>
                  <a:srgbClr val="21201C"/>
                </a:solidFill>
                <a:latin typeface="Calibri"/>
              </a:rPr>
              <a:t>  the reporting period, and the footer "internal use only".</a:t>
            </a:r>
          </a:p>
          <a:p>
            <a:pPr algn="l">
              <a:spcAft>
                <a:spcPts val="200"/>
              </a:spcAft>
            </a:pPr>
            <a:r>
              <a:rPr sz="950" b="0">
                <a:solidFill>
                  <a:srgbClr val="21201C"/>
                </a:solidFill>
                <a:latin typeface="Calibri"/>
              </a:rPr>
              <a:t>- Headings in a serif font, body text in a clean sans-serif.</a:t>
            </a:r>
          </a:p>
          <a:p>
            <a:pPr algn="l">
              <a:spcAft>
                <a:spcPts val="200"/>
              </a:spcAft>
            </a:pPr>
            <a:r>
              <a:rPr sz="950" b="0">
                <a:solidFill>
                  <a:srgbClr val="21201C"/>
                </a:solidFill>
                <a:latin typeface="Calibri"/>
              </a:rPr>
              <a:t>- Tone: factual and concise. No marketing language.</a:t>
            </a:r>
          </a:p>
          <a:p>
            <a:pPr algn="l">
              <a:spcAft>
                <a:spcPts val="200"/>
              </a:spcAft>
            </a:pPr>
            <a:r>
              <a:rPr sz="950" b="0">
                <a:solidFill>
                  <a:srgbClr val="21201C"/>
                </a:solidFill>
                <a:latin typeface="Calibri"/>
              </a:rPr>
              <a:t>- Always show me a draft before sending anything. Never send email</a:t>
            </a:r>
          </a:p>
          <a:p>
            <a:pPr algn="l">
              <a:spcAft>
                <a:spcPts val="200"/>
              </a:spcAft>
            </a:pPr>
            <a:r>
              <a:rPr sz="950" b="0">
                <a:solidFill>
                  <a:srgbClr val="21201C"/>
                </a:solidFill>
                <a:latin typeface="Calibri"/>
              </a:rPr>
              <a:t>  without my explicit approval.</a:t>
            </a:r>
          </a:p>
          <a:p>
            <a:pPr algn="l">
              <a:spcAft>
                <a:spcPts val="200"/>
              </a:spcAft>
            </a:pPr>
            <a:r>
              <a:rPr sz="950" b="0">
                <a:solidFill>
                  <a:srgbClr val="21201C"/>
                </a:solidFill>
                <a:latin typeface="Calibri"/>
              </a:rPr>
              <a:t>- The finance data in this project folder is the source of truth.</a:t>
            </a:r>
          </a:p>
          <a:p>
            <a:pPr algn="l">
              <a:spcAft>
                <a:spcPts val="200"/>
              </a:spcAft>
            </a:pPr>
            <a:r>
              <a:rPr sz="950" b="0">
                <a:solidFill>
                  <a:srgbClr val="21201C"/>
                </a:solidFill>
                <a:latin typeface="Calibri"/>
              </a:rPr>
              <a:t/>
            </a:r>
          </a:p>
          <a:p>
            <a:pPr algn="l">
              <a:spcAft>
                <a:spcPts val="200"/>
              </a:spcAft>
            </a:pPr>
            <a:r>
              <a:rPr sz="950" b="0">
                <a:solidFill>
                  <a:srgbClr val="21201C"/>
                </a:solidFill>
                <a:latin typeface="Calibri"/>
              </a:rPr>
              <a:t>Write these as clear project instructions, then confirm what you</a:t>
            </a:r>
          </a:p>
          <a:p>
            <a:pPr algn="l">
              <a:spcAft>
                <a:spcPts val="200"/>
              </a:spcAft>
            </a:pPr>
            <a:r>
              <a:rPr sz="950" b="0">
                <a:solidFill>
                  <a:srgbClr val="21201C"/>
                </a:solidFill>
                <a:latin typeface="Calibri"/>
              </a:rPr>
              <a:t>will now do differently in every chat in this project.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Project instructions apply to every chat in the project — you stop restating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1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1</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In Cowork, choose New project, then Start from scratch.</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other two routes on that screen are Import a project (bring one over from Chat) and Use an existing folder (point Claude at a folder you already work from).</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1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2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2</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In the Start a new project dialog, type the Name: Meridian Finance Reporting.</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dialog has four fields — Name, Instructions, Add files and Choose project location.</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2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3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3</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Paste the lab prompt's rules into the Instructions box.</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These are the standing rules — house style, SGD formatting and the approval habit — applied to every chat in the project.</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3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4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4</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Under Add files, drop in the Meridian finance data and the brand guidelines.</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Adding them once means no chat in this project has to re-attach them.</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4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5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5</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Set Choose project location to where you want the folder to live, then click Create.</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A Cowork project is backed by a real folder on your computer — you can open the files yourself at any time.</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5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6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6</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Add the daily-brief skill from Lab 5 to the project.</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routine now travels with the project, so anyone working in it can run it.</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6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7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7</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Open the project folder on your computer and confirm the files are really there.</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This is what distinguishes a Cowork project — the instructions and files are a folder you own, not something locked inside the app.</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7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8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8</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Save the FY2026 dashboard into the project so it sits with the data it reports on.</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The artefact, its data and its rules finally live in one place.</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8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9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9</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Start a fresh chat in the project and ask for a one-paragraph Q4 summary.</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Test the payoff: no files attached, no rules restated, and the output already follows the house style.</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9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 10 OF 10</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Oval 4"/>
          <p:cNvSpPr/>
          <p:nvPr/>
        </p:nvSpPr>
        <p:spPr>
          <a:xfrm>
            <a:off x="548640" y="2148840"/>
            <a:ext cx="1188720" cy="11887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148840"/>
            <a:ext cx="1188720" cy="1188720"/>
          </a:xfrm>
          <a:prstGeom prst="rect">
            <a:avLst/>
          </a:prstGeom>
          <a:noFill/>
        </p:spPr>
        <p:txBody>
          <a:bodyPr wrap="square" anchor="ctr" lIns="0" rIns="0" tIns="0" bIns="0">
            <a:spAutoFit/>
          </a:bodyPr>
          <a:lstStyle/>
          <a:p>
            <a:pPr algn="ctr">
              <a:spcAft>
                <a:spcPts val="400"/>
              </a:spcAft>
            </a:pPr>
            <a:r>
              <a:rPr sz="3400" b="1">
                <a:solidFill>
                  <a:srgbClr val="FFFFFF"/>
                </a:solidFill>
                <a:latin typeface="Cambria"/>
              </a:rPr>
              <a:t>10</a:t>
            </a:r>
          </a:p>
        </p:txBody>
      </p:sp>
      <p:sp>
        <p:nvSpPr>
          <p:cNvPr id="7" name="TextBox 6"/>
          <p:cNvSpPr txBox="1"/>
          <p:nvPr/>
        </p:nvSpPr>
        <p:spPr>
          <a:xfrm>
            <a:off x="2057400" y="2011680"/>
            <a:ext cx="9509760" cy="1463040"/>
          </a:xfrm>
          <a:prstGeom prst="rect">
            <a:avLst/>
          </a:prstGeom>
          <a:noFill/>
        </p:spPr>
        <p:txBody>
          <a:bodyPr wrap="square" anchor="ctr" lIns="0" rIns="0" tIns="0" bIns="0">
            <a:spAutoFit/>
          </a:bodyPr>
          <a:lstStyle/>
          <a:p>
            <a:pPr algn="l">
              <a:spcAft>
                <a:spcPts val="400"/>
              </a:spcAft>
            </a:pPr>
            <a:r>
              <a:rPr sz="2100" b="0">
                <a:solidFill>
                  <a:srgbClr val="21201C"/>
                </a:solidFill>
                <a:latin typeface="Calibri"/>
              </a:rPr>
              <a:t>Confirm the folder holds the data, instructions, skill and dashboard, ready to share.</a:t>
            </a:r>
          </a:p>
        </p:txBody>
      </p:sp>
      <p:sp>
        <p:nvSpPr>
          <p:cNvPr id="8" name="Rectangle 7"/>
          <p:cNvSpPr/>
          <p:nvPr/>
        </p:nvSpPr>
        <p:spPr>
          <a:xfrm>
            <a:off x="2057400" y="3703320"/>
            <a:ext cx="9509760"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57400" y="3703320"/>
            <a:ext cx="54864" cy="13258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0" y="3886200"/>
            <a:ext cx="9052560" cy="960120"/>
          </a:xfrm>
          <a:prstGeom prst="rect">
            <a:avLst/>
          </a:prstGeom>
          <a:noFill/>
        </p:spPr>
        <p:txBody>
          <a:bodyPr wrap="square" anchor="ctr" lIns="0" rIns="0" tIns="0" bIns="0">
            <a:spAutoFit/>
          </a:bodyPr>
          <a:lstStyle/>
          <a:p>
            <a:pPr algn="l">
              <a:spcAft>
                <a:spcPts val="500"/>
              </a:spcAft>
            </a:pPr>
            <a:r>
              <a:rPr sz="1050" b="1">
                <a:solidFill>
                  <a:srgbClr val="3A7D7B"/>
                </a:solidFill>
                <a:latin typeface="Calibri"/>
              </a:rPr>
              <a:t>WHY THIS STEP</a:t>
            </a:r>
          </a:p>
          <a:p>
            <a:pPr algn="l">
              <a:spcAft>
                <a:spcPts val="500"/>
              </a:spcAft>
            </a:pPr>
            <a:r>
              <a:rPr sz="1300" b="0">
                <a:solidFill>
                  <a:srgbClr val="6B6862"/>
                </a:solidFill>
                <a:latin typeface="Calibri"/>
              </a:rPr>
              <a:t>Handing a colleague this folder hands them the whole working setup.</a:t>
            </a:r>
          </a:p>
        </p:txBody>
      </p:sp>
      <p:sp>
        <p:nvSpPr>
          <p:cNvPr id="11" name="Rectangle 10"/>
          <p:cNvSpPr/>
          <p:nvPr/>
        </p:nvSpPr>
        <p:spPr>
          <a:xfrm>
            <a:off x="548640"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62379"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6118"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89857"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3596"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17335"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31074"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44813"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58552"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572291" y="5715000"/>
            <a:ext cx="1040587" cy="9144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897880"/>
            <a:ext cx="11064240" cy="274320"/>
          </a:xfrm>
          <a:prstGeom prst="rect">
            <a:avLst/>
          </a:prstGeom>
          <a:noFill/>
        </p:spPr>
        <p:txBody>
          <a:bodyPr wrap="square" anchor="t" lIns="0" rIns="0" tIns="0" bIns="0">
            <a:spAutoFit/>
          </a:bodyPr>
          <a:lstStyle/>
          <a:p>
            <a:pPr algn="r">
              <a:spcAft>
                <a:spcPts val="400"/>
              </a:spcAft>
            </a:pPr>
            <a:r>
              <a:rPr sz="1050" b="0">
                <a:solidFill>
                  <a:srgbClr val="6B6862"/>
                </a:solidFill>
                <a:latin typeface="Calibri"/>
              </a:rPr>
              <a:t>Step 10 of 10</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Meridian Claude Project</a:t>
            </a:r>
          </a:p>
        </p:txBody>
      </p:sp>
      <p:sp>
        <p:nvSpPr>
          <p:cNvPr id="5" name="Rectangle 4"/>
          <p:cNvSpPr/>
          <p:nvPr/>
        </p:nvSpPr>
        <p:spPr>
          <a:xfrm>
            <a:off x="548640" y="2103120"/>
            <a:ext cx="1106424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246888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13716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Meridian Finance Reporting project exists, backed by a folder containing the finance data and brand guidelines, with project instructions set, the daily-brief skill available and the dashboard saved. A brand-new chat in the project produces a Q4 summary in SGD with the correct header and footer without you attaching a file or restating a single rule.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a:t>
            </a:r>
          </a:p>
        </p:txBody>
      </p:sp>
      <p:sp>
        <p:nvSpPr>
          <p:cNvPr id="5" name="Rectangle 4"/>
          <p:cNvSpPr/>
          <p:nvPr/>
        </p:nvSpPr>
        <p:spPr>
          <a:xfrm>
            <a:off x="548640" y="1783080"/>
            <a:ext cx="11064240" cy="4114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41148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3895344"/>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06</a:t>
            </a:r>
          </a:p>
          <a:p>
            <a:pPr algn="l">
              <a:spcAft>
                <a:spcPts val="300"/>
              </a:spcAft>
            </a:pPr>
            <a:r>
              <a:rPr sz="1150" b="0">
                <a:solidFill>
                  <a:srgbClr val="6B6862"/>
                </a:solidFill>
                <a:latin typeface="Calibri"/>
              </a:rPr>
              <a:t>You can now assemble the data, instructions, skill and dashboard into one reusable Project.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Set up Cowork</a:t>
            </a:r>
          </a:p>
          <a:p>
            <a:pPr algn="l">
              <a:spcAft>
                <a:spcPts val="300"/>
              </a:spcAft>
            </a:pPr>
            <a:r>
              <a:rPr sz="1150" b="0">
                <a:solidFill>
                  <a:srgbClr val="6B6862"/>
                </a:solidFill>
                <a:latin typeface="Calibri"/>
              </a:rPr>
              <a:t>Set up Claude and the Cowork desktop workspace, and explain where Cowork fits in the Claude product family.</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Build a Live Artefact</a:t>
            </a:r>
          </a:p>
          <a:p>
            <a:pPr algn="l">
              <a:spcAft>
                <a:spcPts val="300"/>
              </a:spcAft>
            </a:pPr>
            <a:r>
              <a:rPr sz="1150" b="0">
                <a:solidFill>
                  <a:srgbClr val="6B6862"/>
                </a:solidFill>
                <a:latin typeface="Calibri"/>
              </a:rPr>
              <a:t>Build, save and download a Live Artefact, including an interactive sales dashboard from supplied data.</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Drive</a:t>
            </a:r>
          </a:p>
          <a:p>
            <a:pPr algn="l">
              <a:spcAft>
                <a:spcPts val="300"/>
              </a:spcAft>
            </a:pPr>
            <a:r>
              <a:rPr sz="1150" b="0">
                <a:solidFill>
                  <a:srgbClr val="6B6862"/>
                </a:solidFill>
                <a:latin typeface="Calibri"/>
              </a:rPr>
              <a:t>Connect the Google Drive connector so Claude can read finance data held outside the chat.</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Deliver by Gmail</a:t>
            </a:r>
          </a:p>
          <a:p>
            <a:pPr algn="l">
              <a:spcAft>
                <a:spcPts val="300"/>
              </a:spcAft>
            </a:pPr>
            <a:r>
              <a:rPr sz="1150" b="0">
                <a:solidFill>
                  <a:srgbClr val="6B6862"/>
                </a:solidFill>
                <a:latin typeface="Calibri"/>
              </a:rPr>
              <a:t>Refresh a Live Artefact from connected data and send an approved summary with the Gmail connector.</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Automate with a skill</a:t>
            </a:r>
          </a:p>
          <a:p>
            <a:pPr algn="l">
              <a:spcAft>
                <a:spcPts val="300"/>
              </a:spcAft>
            </a:pPr>
            <a:r>
              <a:rPr sz="1150" b="0">
                <a:solidFill>
                  <a:srgbClr val="6B6862"/>
                </a:solidFill>
                <a:latin typeface="Calibri"/>
              </a:rPr>
              <a:t>Write an Agent Skill that runs a repeatable routine across your connected tools on one command.</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Build the Project</a:t>
            </a:r>
          </a:p>
          <a:p>
            <a:pPr algn="l">
              <a:spcAft>
                <a:spcPts val="300"/>
              </a:spcAft>
            </a:pPr>
            <a:r>
              <a:rPr sz="1150" b="0">
                <a:solidFill>
                  <a:srgbClr val="6B6862"/>
                </a:solidFill>
                <a:latin typeface="Calibri"/>
              </a:rPr>
              <a:t>Assemble a Claude Project that holds the data, instructions, skill and dashboard as one reusable team workspace.</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Meridian data — never real client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numbers back against the source file before you trust them.</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the drafted email in full; approve it only when the figures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client.</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original</a:t>
            </a:r>
          </a:p>
          <a:p>
            <a:pPr algn="l">
              <a:spcAft>
                <a:spcPts val="300"/>
              </a:spcAft>
            </a:pPr>
            <a:r>
              <a:rPr sz="1150" b="0">
                <a:solidFill>
                  <a:srgbClr val="6B6862"/>
                </a:solidFill>
                <a:latin typeface="Calibri"/>
              </a:rPr>
              <a:t>Let Claude write new files; leave the source data untouched.</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Rebuild it with your own data</a:t>
            </a:r>
          </a:p>
          <a:p>
            <a:pPr algn="l">
              <a:spcAft>
                <a:spcPts val="300"/>
              </a:spcAft>
            </a:pPr>
            <a:r>
              <a:rPr sz="1150" b="0">
                <a:solidFill>
                  <a:srgbClr val="6B6862"/>
                </a:solidFill>
                <a:latin typeface="Calibri"/>
              </a:rPr>
              <a:t>Repeat Lab 2 using a real report you own, on a copy of the file.</a:t>
            </a:r>
          </a:p>
        </p:txBody>
      </p:sp>
      <p:sp>
        <p:nvSpPr>
          <p:cNvPr id="10" name="Rectangle 9"/>
          <p:cNvSpPr/>
          <p:nvPr/>
        </p:nvSpPr>
        <p:spPr>
          <a:xfrm>
            <a:off x="6163056" y="1783080"/>
            <a:ext cx="5449824"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59689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59689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one source</a:t>
            </a:r>
          </a:p>
          <a:p>
            <a:pPr algn="l">
              <a:spcAft>
                <a:spcPts val="300"/>
              </a:spcAft>
            </a:pPr>
            <a:r>
              <a:rPr sz="1150" b="0">
                <a:solidFill>
                  <a:srgbClr val="6B6862"/>
                </a:solidFill>
                <a:latin typeface="Calibri"/>
              </a:rPr>
              <a:t>Enable the connector for the place your finance data actually lives.</a:t>
            </a:r>
          </a:p>
        </p:txBody>
      </p:sp>
      <p:sp>
        <p:nvSpPr>
          <p:cNvPr id="15" name="Rectangle 14"/>
          <p:cNvSpPr/>
          <p:nvPr/>
        </p:nvSpPr>
        <p:spPr>
          <a:xfrm>
            <a:off x="548640" y="3922776"/>
            <a:ext cx="5449824"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22776"/>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032504"/>
            <a:ext cx="4434840"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Automate one routine</a:t>
            </a:r>
          </a:p>
          <a:p>
            <a:pPr algn="l">
              <a:spcAft>
                <a:spcPts val="300"/>
              </a:spcAft>
            </a:pPr>
            <a:r>
              <a:rPr sz="1150" b="0">
                <a:solidFill>
                  <a:srgbClr val="6B6862"/>
                </a:solidFill>
                <a:latin typeface="Calibri"/>
              </a:rPr>
              <a:t>Pick the thing you do every morning and capture it as a skill.</a:t>
            </a:r>
          </a:p>
        </p:txBody>
      </p:sp>
      <p:sp>
        <p:nvSpPr>
          <p:cNvPr id="20" name="Rectangle 19"/>
          <p:cNvSpPr/>
          <p:nvPr/>
        </p:nvSpPr>
        <p:spPr>
          <a:xfrm>
            <a:off x="6163056" y="3922776"/>
            <a:ext cx="5449824" cy="1975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922776"/>
            <a:ext cx="54864" cy="197510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473659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73659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4032504"/>
            <a:ext cx="4434840" cy="175564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Project</a:t>
            </a:r>
          </a:p>
          <a:p>
            <a:pPr algn="l">
              <a:spcAft>
                <a:spcPts val="300"/>
              </a:spcAft>
            </a:pPr>
            <a:r>
              <a:rPr sz="1150" b="0">
                <a:solidFill>
                  <a:srgbClr val="6B6862"/>
                </a:solidFill>
                <a:latin typeface="Calibri"/>
              </a:rPr>
              <a:t>Give your main body of work a project folder, and let the context build.</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Cowork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Cowork toolkit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Live Artefact dashboard, two connected tools, a daily-brief skill and the Project that holds them all.</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Cowork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100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