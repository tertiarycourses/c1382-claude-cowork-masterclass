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v3.1  ·  17 September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Cowork Masterclass</a:t>
            </a:r>
          </a:p>
        </p:txBody>
      </p:sp>
      <p:sp>
        <p:nvSpPr>
          <p:cNvPr id="8" name="TextBox 7"/>
          <p:cNvSpPr txBox="1"/>
          <p:nvPr/>
        </p:nvSpPr>
        <p:spPr>
          <a:xfrm>
            <a:off x="822960" y="406908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Live Artefacts, connected tools, skills and Projects — for finance teams</a:t>
            </a:r>
          </a:p>
        </p:txBody>
      </p:sp>
      <p:sp>
        <p:nvSpPr>
          <p:cNvPr id="9" name="TextBox 8"/>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0" name="TextBox 9"/>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reporting work</a:t>
            </a:r>
          </a:p>
          <a:p>
            <a:pPr algn="l">
              <a:spcAft>
                <a:spcPts val="300"/>
              </a:spcAft>
            </a:pPr>
            <a:r>
              <a:rPr sz="1150" b="0">
                <a:solidFill>
                  <a:srgbClr val="6B6862"/>
                </a:solidFill>
                <a:latin typeface="Calibri"/>
              </a:rPr>
              <a:t>One report or summary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tools</a:t>
            </a:r>
          </a:p>
          <a:p>
            <a:pPr algn="l">
              <a:spcAft>
                <a:spcPts val="300"/>
              </a:spcAft>
            </a:pPr>
            <a:r>
              <a:rPr sz="1150" b="0">
                <a:solidFill>
                  <a:srgbClr val="6B6862"/>
                </a:solidFill>
                <a:latin typeface="Calibri"/>
              </a:rPr>
              <a:t>Whether your finance data lives in Excel, Google Drive or a system.</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to stop doing by hand.</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PMP, AWS, Microsoft, CompTIA, CKA, CKAD.</a:t>
            </a:r>
          </a:p>
        </p:txBody>
      </p:sp>
      <p:sp>
        <p:nvSpPr>
          <p:cNvPr id="22" name="Rectangle 21"/>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4" name="TextBox 23"/>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5" name="Rectangle 24"/>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7" name="TextBox 26"/>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topic ends with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client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send</a:t>
            </a:r>
          </a:p>
          <a:p>
            <a:pPr algn="l">
              <a:spcAft>
                <a:spcPts val="300"/>
              </a:spcAft>
            </a:pPr>
            <a:r>
              <a:rPr sz="1150" b="0">
                <a:solidFill>
                  <a:srgbClr val="6B6862"/>
                </a:solidFill>
                <a:latin typeface="Calibri"/>
              </a:rPr>
              <a:t>Approve every draft against the source figures.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Cowork Fundamentals</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product family</a:t>
            </a:r>
          </a:p>
          <a:p>
            <a:pPr algn="l">
              <a:spcAft>
                <a:spcPts val="800"/>
              </a:spcAft>
            </a:pPr>
            <a:r>
              <a:rPr sz="1200" b="0">
                <a:solidFill>
                  <a:srgbClr val="6B6862"/>
                </a:solidFill>
                <a:latin typeface="Calibri"/>
              </a:rPr>
              <a:t>•  Set up Cowork</a:t>
            </a:r>
          </a:p>
          <a:p>
            <a:pPr algn="l">
              <a:spcAft>
                <a:spcPts val="800"/>
              </a:spcAft>
            </a:pPr>
            <a:r>
              <a:rPr sz="1200" b="0">
                <a:solidFill>
                  <a:srgbClr val="6B6862"/>
                </a:solidFill>
                <a:latin typeface="Calibri"/>
              </a:rPr>
              <a:t>•  Live Artefacts</a:t>
            </a:r>
          </a:p>
          <a:p>
            <a:pPr algn="l">
              <a:spcAft>
                <a:spcPts val="800"/>
              </a:spcAft>
            </a:pPr>
            <a:r>
              <a:rPr sz="1200" b="0">
                <a:solidFill>
                  <a:srgbClr val="6B6862"/>
                </a:solidFill>
                <a:latin typeface="Calibri"/>
              </a:rPr>
              <a:t>•  Working with documents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Tools and Skills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a:t>
            </a:r>
          </a:p>
          <a:p>
            <a:pPr algn="l">
              <a:spcAft>
                <a:spcPts val="800"/>
              </a:spcAft>
            </a:pPr>
            <a:r>
              <a:rPr sz="1200" b="0">
                <a:solidFill>
                  <a:srgbClr val="6B6862"/>
                </a:solidFill>
                <a:latin typeface="Calibri"/>
              </a:rPr>
              <a:t>•  Drive and Gmail</a:t>
            </a:r>
          </a:p>
          <a:p>
            <a:pPr algn="l">
              <a:spcAft>
                <a:spcPts val="800"/>
              </a:spcAft>
            </a:pPr>
            <a:r>
              <a:rPr sz="1200" b="0">
                <a:solidFill>
                  <a:srgbClr val="6B6862"/>
                </a:solidFill>
                <a:latin typeface="Calibri"/>
              </a:rPr>
              <a:t>•  Agent Skills</a:t>
            </a:r>
          </a:p>
          <a:p>
            <a:pPr algn="l">
              <a:spcAft>
                <a:spcPts val="800"/>
              </a:spcAft>
            </a:pPr>
            <a:r>
              <a:rPr sz="1200" b="0">
                <a:solidFill>
                  <a:srgbClr val="6B6862"/>
                </a:solidFill>
                <a:latin typeface="Calibri"/>
              </a:rPr>
              <a:t>•  Do · Verify · Save</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What a Project is</a:t>
            </a:r>
          </a:p>
          <a:p>
            <a:pPr algn="l">
              <a:spcAft>
                <a:spcPts val="800"/>
              </a:spcAft>
            </a:pPr>
            <a:r>
              <a:rPr sz="1200" b="0">
                <a:solidFill>
                  <a:srgbClr val="6B6862"/>
                </a:solidFill>
                <a:latin typeface="Calibri"/>
              </a:rPr>
              <a:t>•  Project instructions</a:t>
            </a:r>
          </a:p>
          <a:p>
            <a:pPr algn="l">
              <a:spcAft>
                <a:spcPts val="800"/>
              </a:spcAft>
            </a:pPr>
            <a:r>
              <a:rPr sz="1200" b="0">
                <a:solidFill>
                  <a:srgbClr val="6B6862"/>
                </a:solidFill>
                <a:latin typeface="Calibri"/>
              </a:rPr>
              <a:t>•  Assemble the workspace</a:t>
            </a:r>
          </a:p>
          <a:p>
            <a:pPr algn="l">
              <a:spcAft>
                <a:spcPts val="800"/>
              </a:spcAft>
            </a:pPr>
            <a:r>
              <a:rPr sz="1200" b="0">
                <a:solidFill>
                  <a:srgbClr val="6B6862"/>
                </a:solidFill>
                <a:latin typeface="Calibri"/>
              </a:rPr>
              <a:t>•  Lab 7: the Meridian project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Process documents</a:t>
            </a:r>
          </a:p>
          <a:p>
            <a:pPr algn="l">
              <a:spcAft>
                <a:spcPts val="300"/>
              </a:spcAft>
            </a:pPr>
            <a:r>
              <a:rPr sz="11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a Live Artefact</a:t>
            </a:r>
          </a:p>
          <a:p>
            <a:pPr algn="l">
              <a:spcAft>
                <a:spcPts val="300"/>
              </a:spcAft>
            </a:pPr>
            <a:r>
              <a:rPr sz="11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Drive</a:t>
            </a:r>
          </a:p>
          <a:p>
            <a:pPr algn="l">
              <a:spcAft>
                <a:spcPts val="300"/>
              </a:spcAft>
            </a:pPr>
            <a:r>
              <a:rPr sz="1150" b="0">
                <a:solidFill>
                  <a:srgbClr val="6B6862"/>
                </a:solidFill>
                <a:latin typeface="Calibri"/>
              </a:rPr>
              <a:t>Connect the Google Drive connector so Claude can read finance data held outside the chat.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Deliver by Gmail</a:t>
            </a:r>
          </a:p>
          <a:p>
            <a:pPr algn="l">
              <a:spcAft>
                <a:spcPts val="300"/>
              </a:spcAft>
            </a:pPr>
            <a:r>
              <a:rPr sz="11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Save it as a skill</a:t>
            </a:r>
          </a:p>
          <a:p>
            <a:pPr algn="l">
              <a:spcAft>
                <a:spcPts val="300"/>
              </a:spcAft>
            </a:pPr>
            <a:r>
              <a:rPr sz="1150" b="0">
                <a:solidFill>
                  <a:srgbClr val="6B6862"/>
                </a:solidFill>
                <a:latin typeface="Calibri"/>
              </a:rPr>
              <a:t>Turn a verified routine into an Agent Skill with /skill-creator, update it, and explain a skill's three layers.</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the Project</a:t>
            </a:r>
          </a:p>
          <a:p>
            <a:pPr algn="l">
              <a:spcAft>
                <a:spcPts val="300"/>
              </a:spcAft>
            </a:pPr>
            <a:r>
              <a:rPr sz="1150" b="0">
                <a:solidFill>
                  <a:srgbClr val="6B6862"/>
                </a:solidFill>
                <a:latin typeface="Calibri"/>
              </a:rPr>
              <a:t>Assemble a Claude Project that holds the data, instructions, skill and dashboard as one reusable team workspace.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00" b="0">
                <a:solidFill>
                  <a:srgbClr val="21201C"/>
                </a:solidFill>
                <a:latin typeface="Calibri"/>
              </a:rPr>
              <a:t>•  9:00  Welcome</a:t>
            </a:r>
          </a:p>
          <a:p>
            <a:pPr algn="l">
              <a:spcAft>
                <a:spcPts val="900"/>
              </a:spcAft>
            </a:pPr>
            <a:r>
              <a:rPr sz="1200" b="0">
                <a:solidFill>
                  <a:srgbClr val="21201C"/>
                </a:solidFill>
                <a:latin typeface="Calibri"/>
              </a:rPr>
              <a:t>•  9:20  Topic 1 — Claude Cowork Fundamentals</a:t>
            </a:r>
          </a:p>
          <a:p>
            <a:pPr algn="l">
              <a:spcAft>
                <a:spcPts val="900"/>
              </a:spcAft>
            </a:pPr>
            <a:r>
              <a:rPr sz="1200" b="0">
                <a:solidFill>
                  <a:srgbClr val="21201C"/>
                </a:solidFill>
                <a:latin typeface="Calibri"/>
              </a:rPr>
              <a:t>•  10:00  Topic 1 — Live Artefacts</a:t>
            </a:r>
          </a:p>
          <a:p>
            <a:pPr algn="l">
              <a:spcAft>
                <a:spcPts val="900"/>
              </a:spcAft>
            </a:pPr>
            <a:r>
              <a:rPr sz="1200" b="0">
                <a:solidFill>
                  <a:srgbClr val="21201C"/>
                </a:solidFill>
                <a:latin typeface="Calibri"/>
              </a:rPr>
              <a:t>•  10:30  Tea break</a:t>
            </a:r>
          </a:p>
          <a:p>
            <a:pPr algn="l">
              <a:spcAft>
                <a:spcPts val="900"/>
              </a:spcAft>
            </a:pPr>
            <a:r>
              <a:rPr sz="1200" b="0">
                <a:solidFill>
                  <a:srgbClr val="21201C"/>
                </a:solidFill>
                <a:latin typeface="Calibri"/>
              </a:rPr>
              <a:t>•  10:45  Topic 1 — Working with documents</a:t>
            </a:r>
          </a:p>
          <a:p>
            <a:pPr algn="l">
              <a:spcAft>
                <a:spcPts val="900"/>
              </a:spcAft>
            </a:pPr>
            <a:r>
              <a:rPr sz="1200" b="0">
                <a:solidFill>
                  <a:srgbClr val="21201C"/>
                </a:solidFill>
                <a:latin typeface="Calibri"/>
              </a:rPr>
              <a:t>•  11:15  Hands-on: Labs 1, 2</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00" b="0">
                <a:solidFill>
                  <a:srgbClr val="21201C"/>
                </a:solidFill>
                <a:latin typeface="Calibri"/>
              </a:rPr>
              <a:t>•  12:30  Lunch break</a:t>
            </a:r>
          </a:p>
          <a:p>
            <a:pPr algn="l">
              <a:spcAft>
                <a:spcPts val="900"/>
              </a:spcAft>
            </a:pPr>
            <a:r>
              <a:rPr sz="1200" b="0">
                <a:solidFill>
                  <a:srgbClr val="21201C"/>
                </a:solidFill>
                <a:latin typeface="Calibri"/>
              </a:rPr>
              <a:t>•  13:30  Hands-on: Lab 3</a:t>
            </a:r>
          </a:p>
          <a:p>
            <a:pPr algn="l">
              <a:spcAft>
                <a:spcPts val="900"/>
              </a:spcAft>
            </a:pPr>
            <a:r>
              <a:rPr sz="1200" b="0">
                <a:solidFill>
                  <a:srgbClr val="21201C"/>
                </a:solidFill>
                <a:latin typeface="Calibri"/>
              </a:rPr>
              <a:t>•  14:10  Topic 2 — Tools and Skills</a:t>
            </a:r>
          </a:p>
          <a:p>
            <a:pPr algn="l">
              <a:spcAft>
                <a:spcPts val="900"/>
              </a:spcAft>
            </a:pPr>
            <a:r>
              <a:rPr sz="1200" b="0">
                <a:solidFill>
                  <a:srgbClr val="21201C"/>
                </a:solidFill>
                <a:latin typeface="Calibri"/>
              </a:rPr>
              <a:t>•  14:40  Hands-on: Labs 4, 5</a:t>
            </a:r>
          </a:p>
          <a:p>
            <a:pPr algn="l">
              <a:spcAft>
                <a:spcPts val="900"/>
              </a:spcAft>
            </a:pPr>
            <a:r>
              <a:rPr sz="1200" b="0">
                <a:solidFill>
                  <a:srgbClr val="21201C"/>
                </a:solidFill>
                <a:latin typeface="Calibri"/>
              </a:rPr>
              <a:t>•  15:35  Tea break</a:t>
            </a:r>
          </a:p>
          <a:p>
            <a:pPr algn="l">
              <a:spcAft>
                <a:spcPts val="900"/>
              </a:spcAft>
            </a:pPr>
            <a:r>
              <a:rPr sz="1200" b="0">
                <a:solidFill>
                  <a:srgbClr val="21201C"/>
                </a:solidFill>
                <a:latin typeface="Calibri"/>
              </a:rPr>
              <a:t>•  15:50  Topic 2 — Agent Skills</a:t>
            </a:r>
          </a:p>
          <a:p>
            <a:pPr algn="l">
              <a:spcAft>
                <a:spcPts val="900"/>
              </a:spcAft>
            </a:pPr>
            <a:r>
              <a:rPr sz="1200" b="0">
                <a:solidFill>
                  <a:srgbClr val="21201C"/>
                </a:solidFill>
                <a:latin typeface="Calibri"/>
              </a:rPr>
              <a:t>•  16:10  Hands-on: Lab 6</a:t>
            </a:r>
          </a:p>
          <a:p>
            <a:pPr algn="l">
              <a:spcAft>
                <a:spcPts val="900"/>
              </a:spcAft>
            </a:pPr>
            <a:r>
              <a:rPr sz="1200" b="0">
                <a:solidFill>
                  <a:srgbClr val="21201C"/>
                </a:solidFill>
                <a:latin typeface="Calibri"/>
              </a:rPr>
              <a:t>•  16:45  Topic 3 — Claude Projects</a:t>
            </a:r>
          </a:p>
          <a:p>
            <a:pPr algn="l">
              <a:spcAft>
                <a:spcPts val="900"/>
              </a:spcAft>
            </a:pPr>
            <a:r>
              <a:rPr sz="1200" b="0">
                <a:solidFill>
                  <a:srgbClr val="21201C"/>
                </a:solidFill>
                <a:latin typeface="Calibri"/>
              </a:rPr>
              <a:t>•  17:05  Hands-on: Lab 7</a:t>
            </a:r>
          </a:p>
          <a:p>
            <a:pPr algn="l">
              <a:spcAft>
                <a:spcPts val="900"/>
              </a:spcAft>
            </a:pPr>
            <a:r>
              <a:rPr sz="1200" b="0">
                <a:solidFill>
                  <a:srgbClr val="21201C"/>
                </a:solidFill>
                <a:latin typeface="Calibri"/>
              </a:rPr>
              <a:t>•  17:45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Seven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One firm, seven labs</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Meridian Capital Partners is a fictitious Singapore-based investment and advisory firm with four revenue desks — Advisory, Asset Management, Private Credit and Corporate Finance. All figures, clients, staff and documents in this course are synthetic and used for training only.</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Cowork Fundamentals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product family</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Set up Cowork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Live Artefacts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Working with documents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A</a:t>
            </a:r>
          </a:p>
        </p:txBody>
      </p:sp>
      <p:sp>
        <p:nvSpPr>
          <p:cNvPr id="9" name="TextBox 8"/>
          <p:cNvSpPr txBox="1"/>
          <p:nvPr/>
        </p:nvSpPr>
        <p:spPr>
          <a:xfrm>
            <a:off x="82296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Claude.ai</a:t>
            </a:r>
          </a:p>
        </p:txBody>
      </p:sp>
      <p:sp>
        <p:nvSpPr>
          <p:cNvPr id="10" name="TextBox 9"/>
          <p:cNvSpPr txBox="1"/>
          <p:nvPr/>
        </p:nvSpPr>
        <p:spPr>
          <a:xfrm>
            <a:off x="82296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chat assistant on web, desktop &amp; mobile for everyday tasks.</a:t>
            </a:r>
          </a:p>
        </p:txBody>
      </p:sp>
      <p:sp>
        <p:nvSpPr>
          <p:cNvPr id="11" name="Rectangle 10"/>
          <p:cNvSpPr/>
          <p:nvPr/>
        </p:nvSpPr>
        <p:spPr>
          <a:xfrm>
            <a:off x="336042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4" name="TextBox 13"/>
          <p:cNvSpPr txBox="1"/>
          <p:nvPr/>
        </p:nvSpPr>
        <p:spPr>
          <a:xfrm>
            <a:off x="363474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363474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Agentic coding tool in your terminal, IDE &amp; desktop.</a:t>
            </a:r>
          </a:p>
        </p:txBody>
      </p:sp>
      <p:sp>
        <p:nvSpPr>
          <p:cNvPr id="16" name="Rectangle 15"/>
          <p:cNvSpPr/>
          <p:nvPr/>
        </p:nvSpPr>
        <p:spPr>
          <a:xfrm>
            <a:off x="617220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9" name="TextBox 18"/>
          <p:cNvSpPr txBox="1"/>
          <p:nvPr/>
        </p:nvSpPr>
        <p:spPr>
          <a:xfrm>
            <a:off x="644652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Cowork</a:t>
            </a:r>
          </a:p>
        </p:txBody>
      </p:sp>
      <p:sp>
        <p:nvSpPr>
          <p:cNvPr id="20" name="TextBox 19"/>
          <p:cNvSpPr txBox="1"/>
          <p:nvPr/>
        </p:nvSpPr>
        <p:spPr>
          <a:xfrm>
            <a:off x="644652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Desktop agent for non-developers to automate files &amp; tasks.</a:t>
            </a:r>
          </a:p>
        </p:txBody>
      </p:sp>
      <p:sp>
        <p:nvSpPr>
          <p:cNvPr id="21" name="Rectangle 20"/>
          <p:cNvSpPr/>
          <p:nvPr/>
        </p:nvSpPr>
        <p:spPr>
          <a:xfrm>
            <a:off x="898398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24" name="TextBox 23"/>
          <p:cNvSpPr txBox="1"/>
          <p:nvPr/>
        </p:nvSpPr>
        <p:spPr>
          <a:xfrm>
            <a:off x="925830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5" name="TextBox 24"/>
          <p:cNvSpPr txBox="1"/>
          <p:nvPr/>
        </p:nvSpPr>
        <p:spPr>
          <a:xfrm>
            <a:off x="925830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Generates polished UI &amp; frontend designs.</a:t>
            </a:r>
          </a:p>
        </p:txBody>
      </p:sp>
      <p:sp>
        <p:nvSpPr>
          <p:cNvPr id="26" name="Rectangle 25"/>
          <p:cNvSpPr/>
          <p:nvPr/>
        </p:nvSpPr>
        <p:spPr>
          <a:xfrm>
            <a:off x="54864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9" name="TextBox 28"/>
          <p:cNvSpPr txBox="1"/>
          <p:nvPr/>
        </p:nvSpPr>
        <p:spPr>
          <a:xfrm>
            <a:off x="82296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30" name="TextBox 29"/>
          <p:cNvSpPr txBox="1"/>
          <p:nvPr/>
        </p:nvSpPr>
        <p:spPr>
          <a:xfrm>
            <a:off x="82296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Microsoft 365 &amp; Outlook.</a:t>
            </a:r>
          </a:p>
        </p:txBody>
      </p:sp>
      <p:sp>
        <p:nvSpPr>
          <p:cNvPr id="31" name="Rectangle 30"/>
          <p:cNvSpPr/>
          <p:nvPr/>
        </p:nvSpPr>
        <p:spPr>
          <a:xfrm>
            <a:off x="336042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347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47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34" name="TextBox 33"/>
          <p:cNvSpPr txBox="1"/>
          <p:nvPr/>
        </p:nvSpPr>
        <p:spPr>
          <a:xfrm>
            <a:off x="363474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5" name="TextBox 34"/>
          <p:cNvSpPr txBox="1"/>
          <p:nvPr/>
        </p:nvSpPr>
        <p:spPr>
          <a:xfrm>
            <a:off x="363474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navigates and acts on the web for you.</a:t>
            </a:r>
          </a:p>
        </p:txBody>
      </p:sp>
      <p:sp>
        <p:nvSpPr>
          <p:cNvPr id="36" name="Rectangle 35"/>
          <p:cNvSpPr/>
          <p:nvPr/>
        </p:nvSpPr>
        <p:spPr>
          <a:xfrm>
            <a:off x="617220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9" name="TextBox 38"/>
          <p:cNvSpPr txBox="1"/>
          <p:nvPr/>
        </p:nvSpPr>
        <p:spPr>
          <a:xfrm>
            <a:off x="644652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40" name="TextBox 39"/>
          <p:cNvSpPr txBox="1"/>
          <p:nvPr/>
        </p:nvSpPr>
        <p:spPr>
          <a:xfrm>
            <a:off x="644652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41" name="TextBox 40"/>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a:t>
            </a:r>
          </a:p>
        </p:txBody>
      </p:sp>
      <p:sp>
        <p:nvSpPr>
          <p:cNvPr id="42" name="TextBox 4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3" name="TextBox 4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4" name="TextBox 4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Chat, Cowork or Code?</a:t>
            </a:r>
          </a:p>
        </p:txBody>
      </p:sp>
      <p:sp>
        <p:nvSpPr>
          <p:cNvPr id="5" name="Oval 4"/>
          <p:cNvSpPr/>
          <p:nvPr/>
        </p:nvSpPr>
        <p:spPr>
          <a:xfrm>
            <a:off x="189890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9890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Cha</a:t>
            </a:r>
          </a:p>
        </p:txBody>
      </p:sp>
      <p:sp>
        <p:nvSpPr>
          <p:cNvPr id="7" name="TextBox 6"/>
          <p:cNvSpPr txBox="1"/>
          <p:nvPr/>
        </p:nvSpPr>
        <p:spPr>
          <a:xfrm>
            <a:off x="54864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a:t>
            </a:r>
          </a:p>
        </p:txBody>
      </p:sp>
      <p:sp>
        <p:nvSpPr>
          <p:cNvPr id="8" name="TextBox 7"/>
          <p:cNvSpPr txBox="1"/>
          <p:nvPr/>
        </p:nvSpPr>
        <p:spPr>
          <a:xfrm>
            <a:off x="54864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partner”</a:t>
            </a:r>
          </a:p>
        </p:txBody>
      </p:sp>
      <p:sp>
        <p:nvSpPr>
          <p:cNvPr id="9" name="Rectangle 8"/>
          <p:cNvSpPr/>
          <p:nvPr/>
        </p:nvSpPr>
        <p:spPr>
          <a:xfrm>
            <a:off x="224637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4637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4637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0114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114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Brainstorming and ideation</a:t>
            </a:r>
          </a:p>
          <a:p>
            <a:pPr algn="l">
              <a:spcAft>
                <a:spcPts val="700"/>
              </a:spcAft>
            </a:pPr>
            <a:r>
              <a:rPr sz="1250" b="0">
                <a:solidFill>
                  <a:srgbClr val="21201C"/>
                </a:solidFill>
                <a:latin typeface="Calibri"/>
              </a:rPr>
              <a:t>•  Research and analysis</a:t>
            </a:r>
          </a:p>
          <a:p>
            <a:pPr algn="l">
              <a:spcAft>
                <a:spcPts val="700"/>
              </a:spcAft>
            </a:pPr>
            <a:r>
              <a:rPr sz="1250" b="0">
                <a:solidFill>
                  <a:srgbClr val="21201C"/>
                </a:solidFill>
                <a:latin typeface="Calibri"/>
              </a:rPr>
              <a:t>•  One-off thinking and decisions</a:t>
            </a:r>
          </a:p>
        </p:txBody>
      </p:sp>
      <p:sp>
        <p:nvSpPr>
          <p:cNvPr id="16" name="Oval 15"/>
          <p:cNvSpPr/>
          <p:nvPr/>
        </p:nvSpPr>
        <p:spPr>
          <a:xfrm>
            <a:off x="572414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2414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Cow</a:t>
            </a:r>
          </a:p>
        </p:txBody>
      </p:sp>
      <p:sp>
        <p:nvSpPr>
          <p:cNvPr id="18" name="TextBox 17"/>
          <p:cNvSpPr txBox="1"/>
          <p:nvPr/>
        </p:nvSpPr>
        <p:spPr>
          <a:xfrm>
            <a:off x="437388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Cowork</a:t>
            </a:r>
          </a:p>
        </p:txBody>
      </p:sp>
      <p:sp>
        <p:nvSpPr>
          <p:cNvPr id="19" name="TextBox 18"/>
          <p:cNvSpPr txBox="1"/>
          <p:nvPr/>
        </p:nvSpPr>
        <p:spPr>
          <a:xfrm>
            <a:off x="437388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“Work partner”</a:t>
            </a:r>
          </a:p>
        </p:txBody>
      </p:sp>
      <p:sp>
        <p:nvSpPr>
          <p:cNvPr id="20" name="Rectangle 19"/>
          <p:cNvSpPr/>
          <p:nvPr/>
        </p:nvSpPr>
        <p:spPr>
          <a:xfrm>
            <a:off x="607161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7161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7161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388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2638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2638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464820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Working with files &amp; docs</a:t>
            </a:r>
          </a:p>
          <a:p>
            <a:pPr algn="l">
              <a:spcAft>
                <a:spcPts val="700"/>
              </a:spcAft>
            </a:pPr>
            <a:r>
              <a:rPr sz="1250" b="0">
                <a:solidFill>
                  <a:srgbClr val="21201C"/>
                </a:solidFill>
                <a:latin typeface="Calibri"/>
              </a:rPr>
              <a:t>•  Processing tasks in your tools</a:t>
            </a:r>
          </a:p>
          <a:p>
            <a:pPr algn="l">
              <a:spcAft>
                <a:spcPts val="700"/>
              </a:spcAft>
            </a:pPr>
            <a:r>
              <a:rPr sz="1250" b="0">
                <a:solidFill>
                  <a:srgbClr val="21201C"/>
                </a:solidFill>
                <a:latin typeface="Calibri"/>
              </a:rPr>
              <a:t>•  Running multi-step workflows</a:t>
            </a:r>
          </a:p>
        </p:txBody>
      </p:sp>
      <p:sp>
        <p:nvSpPr>
          <p:cNvPr id="27" name="Oval 26"/>
          <p:cNvSpPr/>
          <p:nvPr/>
        </p:nvSpPr>
        <p:spPr>
          <a:xfrm>
            <a:off x="954938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938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Cod</a:t>
            </a:r>
          </a:p>
        </p:txBody>
      </p:sp>
      <p:sp>
        <p:nvSpPr>
          <p:cNvPr id="29" name="TextBox 28"/>
          <p:cNvSpPr txBox="1"/>
          <p:nvPr/>
        </p:nvSpPr>
        <p:spPr>
          <a:xfrm>
            <a:off x="819912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30" name="TextBox 29"/>
          <p:cNvSpPr txBox="1"/>
          <p:nvPr/>
        </p:nvSpPr>
        <p:spPr>
          <a:xfrm>
            <a:off x="819912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31" name="Rectangle 30"/>
          <p:cNvSpPr/>
          <p:nvPr/>
        </p:nvSpPr>
        <p:spPr>
          <a:xfrm>
            <a:off x="989685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9685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9685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9912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5162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162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37" name="TextBox 36"/>
          <p:cNvSpPr txBox="1"/>
          <p:nvPr/>
        </p:nvSpPr>
        <p:spPr>
          <a:xfrm>
            <a:off x="847344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Building apps and tools</a:t>
            </a:r>
          </a:p>
          <a:p>
            <a:pPr algn="l">
              <a:spcAft>
                <a:spcPts val="700"/>
              </a:spcAft>
            </a:pPr>
            <a:r>
              <a:rPr sz="1250" b="0">
                <a:solidFill>
                  <a:srgbClr val="21201C"/>
                </a:solidFill>
                <a:latin typeface="Calibri"/>
              </a:rPr>
              <a:t>•  Custom automation scripts</a:t>
            </a:r>
          </a:p>
          <a:p>
            <a:pPr algn="l">
              <a:spcAft>
                <a:spcPts val="700"/>
              </a:spcAft>
            </a:pPr>
            <a:r>
              <a:rPr sz="1250" b="0">
                <a:solidFill>
                  <a:srgbClr val="21201C"/>
                </a:solidFill>
                <a:latin typeface="Calibri"/>
              </a:rPr>
              <a:t>•  Debugging and fixing code</a:t>
            </a:r>
          </a:p>
        </p:txBody>
      </p:sp>
      <p:sp>
        <p:nvSpPr>
          <p:cNvPr id="38" name="TextBox 37"/>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This course is about the middle one — the work partner that acts on your files and tools rather than only answering.</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Evolution of AI Engineering</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Craft the wording of a single prompt to get good output.</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Curate what the model sees — files, memory and tools.</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Build the system around the model: loop, tools, verification.</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Systems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Agents run long tasks autonomously — Claude Code, Cowork, Codex.</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More capable models shift the work from wording prompts → curating context → engineering the whole harness.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Makes Cowork So Useful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and runs it — you never see or edit it.</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is a desktop feature of the paid Claude plans — the same subscription that covers Claude Chat and Claude Code.</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(annual) · $20 monthly. Cowork included.</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more usage than Pro.</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standard · $100/seat premium (5× usage).</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E</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 usage at API rates. Contact sales.</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API pay-as-you-go (per million tokens, input / output):  Opus 4.8 $5 / $25   ·   Sonnet 4.6 $3 / $15   ·   Haiku 4.5 $1 / $5</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 free plan is also available, but it does not include Cowork. Prices as of June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 Cowork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runs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Live Artefacts and local file access are desktop features.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Cowork is available on paid plans; sign in with the account that has your subscription.</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Open Cowork</a:t>
            </a:r>
          </a:p>
          <a:p>
            <a:pPr algn="l">
              <a:spcAft>
                <a:spcPts val="300"/>
              </a:spcAft>
            </a:pPr>
            <a:r>
              <a:rPr sz="1150" b="0">
                <a:solidFill>
                  <a:srgbClr val="6B6862"/>
                </a:solidFill>
                <a:latin typeface="Calibri"/>
              </a:rPr>
              <a:t>Choose Cowork in the sidebar to get the agent workspace rather than a plain chat.</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Point it at a folder</a:t>
            </a:r>
          </a:p>
          <a:p>
            <a:pPr algn="l">
              <a:spcAft>
                <a:spcPts val="300"/>
              </a:spcAft>
            </a:pPr>
            <a:r>
              <a:rPr sz="1150" b="0">
                <a:solidFill>
                  <a:srgbClr val="6B6862"/>
                </a:solidFill>
                <a:latin typeface="Calibri"/>
              </a:rPr>
              <a:t>Connect the one folder for the task so Claude reads your files and writes its output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the task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The desktop app must stay open while a task is using your computer.</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Cowork Fundamentals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Cowork</a:t>
            </a:r>
          </a:p>
          <a:p>
            <a:pPr algn="l">
              <a:spcAft>
                <a:spcPts val="300"/>
              </a:spcAft>
            </a:pPr>
            <a:r>
              <a:rPr sz="1150" b="0">
                <a:solidFill>
                  <a:srgbClr val="6B6862"/>
                </a:solidFill>
                <a:latin typeface="Calibri"/>
              </a:rPr>
              <a:t>The desktop agent that works on your files and tasks — built for non-developers, not coders.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that persist in your workspace and refresh their data when reopened.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Desktop, not browser</a:t>
            </a:r>
          </a:p>
          <a:p>
            <a:pPr algn="l">
              <a:spcAft>
                <a:spcPts val="300"/>
              </a:spcAft>
            </a:pPr>
            <a:r>
              <a:rPr sz="1150" b="0">
                <a:solidFill>
                  <a:srgbClr val="6B6862"/>
                </a:solidFill>
                <a:latin typeface="Calibri"/>
              </a:rPr>
              <a:t>Live Artefacts and local file access need the Claude desktop app on a paid plan.</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Describe, don't code</a:t>
            </a:r>
          </a:p>
          <a:p>
            <a:pPr algn="l">
              <a:spcAft>
                <a:spcPts val="300"/>
              </a:spcAft>
            </a:pPr>
            <a:r>
              <a:rPr sz="1150" b="0">
                <a:solidFill>
                  <a:srgbClr val="6B6862"/>
                </a:solidFill>
                <a:latin typeface="Calibri"/>
              </a:rPr>
              <a:t>You describe the tool you want in plain English; Claude writes and runs the code.</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Save to the sidebar</a:t>
            </a:r>
          </a:p>
          <a:p>
            <a:pPr algn="l">
              <a:spcAft>
                <a:spcPts val="300"/>
              </a:spcAft>
            </a:pPr>
            <a:r>
              <a:rPr sz="1150" b="0">
                <a:solidFill>
                  <a:srgbClr val="6B6862"/>
                </a:solidFill>
                <a:latin typeface="Calibri"/>
              </a:rPr>
              <a:t>A saved artefact is reopenable and reusable — it is not lost in the chat history.</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to share</a:t>
            </a:r>
          </a:p>
          <a:p>
            <a:pPr algn="l">
              <a:spcAft>
                <a:spcPts val="300"/>
              </a:spcAft>
            </a:pPr>
            <a:r>
              <a:rPr sz="1150" b="0">
                <a:solidFill>
                  <a:srgbClr val="6B6862"/>
                </a:solidFill>
                <a:latin typeface="Calibri"/>
              </a:rPr>
              <a:t>Export the artefact so it can be filed, attached or handed to someone without Claude.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accountant needs the 2025 supplier invoices summarised and filed. You point Cowork at a folder of 126 PDFs — a full year of invoices, a few expense receipts, and the untidy filenames a real downloads folder collects — and have it read every document, build one CSV, and sort the files into month folders. This is work no dashboard can do: reading documents and acting on your file system. It is also far more than you would ever do by hand, which is the point.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invoices_2025.csv summary plus the PDFs filed into YEAR-MONTH folders.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local files, PDF reading</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Extract the invoice data and file the PDFs</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In this folder are all my invoices from 2025. I need you to process</a:t>
            </a:r>
          </a:p>
          <a:p>
            <a:pPr algn="l">
              <a:spcAft>
                <a:spcPts val="200"/>
              </a:spcAft>
            </a:pPr>
            <a:r>
              <a:rPr sz="1300" b="0">
                <a:solidFill>
                  <a:srgbClr val="21201C"/>
                </a:solidFill>
                <a:latin typeface="Calibri"/>
              </a:rPr>
              <a:t>these so I can send them to my accountant.</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Read each invoice and extract the following data points: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 invoice number</a:t>
            </a:r>
          </a:p>
          <a:p>
            <a:pPr algn="l">
              <a:spcAft>
                <a:spcPts val="200"/>
              </a:spcAft>
            </a:pPr>
            <a:r>
              <a:rPr sz="1300" b="0">
                <a:solidFill>
                  <a:srgbClr val="21201C"/>
                </a:solidFill>
                <a:latin typeface="Calibri"/>
              </a:rPr>
              <a:t>- invoice sender</a:t>
            </a:r>
          </a:p>
          <a:p>
            <a:pPr algn="l">
              <a:spcAft>
                <a:spcPts val="200"/>
              </a:spcAft>
            </a:pPr>
            <a:r>
              <a:rPr sz="1300" b="0">
                <a:solidFill>
                  <a:srgbClr val="21201C"/>
                </a:solidFill>
                <a:latin typeface="Calibri"/>
              </a:rPr>
              <a:t>- invoice sender address</a:t>
            </a:r>
          </a:p>
          <a:p>
            <a:pPr algn="l">
              <a:spcAft>
                <a:spcPts val="200"/>
              </a:spcAft>
            </a:pPr>
            <a:r>
              <a:rPr sz="1300" b="0">
                <a:solidFill>
                  <a:srgbClr val="21201C"/>
                </a:solidFill>
                <a:latin typeface="Calibri"/>
              </a:rPr>
              <a:t>- invoice date</a:t>
            </a:r>
          </a:p>
          <a:p>
            <a:pPr algn="l">
              <a:spcAft>
                <a:spcPts val="200"/>
              </a:spcAft>
            </a:pPr>
            <a:r>
              <a:rPr sz="1300" b="0">
                <a:solidFill>
                  <a:srgbClr val="21201C"/>
                </a:solidFill>
                <a:latin typeface="Calibri"/>
              </a:rPr>
              <a:t>- invoice due date</a:t>
            </a:r>
          </a:p>
          <a:p>
            <a:pPr algn="l">
              <a:spcAft>
                <a:spcPts val="200"/>
              </a:spcAft>
            </a:pPr>
            <a:r>
              <a:rPr sz="1300" b="0">
                <a:solidFill>
                  <a:srgbClr val="21201C"/>
                </a:solidFill>
                <a:latin typeface="Calibri"/>
              </a:rPr>
              <a:t>- total amount due</a:t>
            </a:r>
          </a:p>
          <a:p>
            <a:pPr algn="l">
              <a:spcAft>
                <a:spcPts val="200"/>
              </a:spcAft>
            </a:pPr>
            <a:r>
              <a:rPr sz="1300" b="0">
                <a:solidFill>
                  <a:srgbClr val="21201C"/>
                </a:solidFill>
                <a:latin typeface="Calibri"/>
              </a:rPr>
              <a:t>- currency</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Extract the invoice data and file the PDFs (cont.)</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Then create a CSV called invoices_2025.csv where you store all this</a:t>
            </a:r>
          </a:p>
          <a:p>
            <a:pPr algn="l">
              <a:spcAft>
                <a:spcPts val="200"/>
              </a:spcAft>
            </a:pPr>
            <a:r>
              <a:rPr sz="1300" b="0">
                <a:solidFill>
                  <a:srgbClr val="21201C"/>
                </a:solidFill>
                <a:latin typeface="Calibri"/>
              </a:rPr>
              <a:t>information as well as the filename.</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After you have extracted the information, move each invoice PDF into</a:t>
            </a:r>
          </a:p>
          <a:p>
            <a:pPr algn="l">
              <a:spcAft>
                <a:spcPts val="200"/>
              </a:spcAft>
            </a:pPr>
            <a:r>
              <a:rPr sz="1300" b="0">
                <a:solidFill>
                  <a:srgbClr val="21201C"/>
                </a:solidFill>
                <a:latin typeface="Calibri"/>
              </a:rPr>
              <a:t>sub folders based on the YEAR-MONTH of the invoice date, using the</a:t>
            </a:r>
          </a:p>
          <a:p>
            <a:pPr algn="l">
              <a:spcAft>
                <a:spcPts val="200"/>
              </a:spcAft>
            </a:pPr>
            <a:r>
              <a:rPr sz="1300" b="0">
                <a:solidFill>
                  <a:srgbClr val="21201C"/>
                </a:solidFill>
                <a:latin typeface="Calibri"/>
              </a:rPr>
              <a:t>naming convention 2025-01, 2025-02 and so on.</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Flag anything that does not look like a normal supplier invoice, or</a:t>
            </a:r>
          </a:p>
          <a:p>
            <a:pPr algn="l">
              <a:spcAft>
                <a:spcPts val="200"/>
              </a:spcAft>
            </a:pPr>
            <a:r>
              <a:rPr sz="1300" b="0">
                <a:solidFill>
                  <a:srgbClr val="21201C"/>
                </a:solidFill>
                <a:latin typeface="Calibri"/>
              </a:rPr>
              <a:t>that you think I should check. Do not delete any file.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Work on a copy of the folder — tell Claude to move files, never to delete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Claude desktop app, sign in, and choose Cowork in the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Copy the lab's "2025 Invoices" folder somewhere you can work on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folder yourself and skim it before you start — 126 files.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pointed at that folder, then paste the lab prompt.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Let Claude work through the PDFs — this one takes a few minutes.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invoices_2025.csv and check the row count against the folder.</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Total the SGD column and compare it against S$777,954.81.</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currency column — four invoices are in US dollars.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PDFs now sit in 2025-01 … 2025-12 folders and nothing was deleted.</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Claude's list of flagged items and decide what to do about each.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invoices_2025.csv lists every invoice with all seven fields plus the filename. The 117 SGD invoices total S$777,954.81; the four USD invoices are marked USD rather than added to that total. The duplicated invoice and the four expense receipts are flagged rather than counted as ordinary invoices. The PDFs now sit in 2025-01 … 2025-12 folders and all 126 files are still present.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space in the sidebar.</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Pulls fresh data when you open it.</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calculator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to the sidebar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Now you have seen Cowork do a real piece of work, meet the other thing it makes: a Live Artefact. You build a small tool rather than ask a question, so you can see how an artefact differs from a chat answer — it persists, it is interactive, it pulls fresh data every time you open it, and you can save and download it.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downloaded Live Artefact — an FX converter on live rates.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Cowork, Live Artefacts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Build me a Live Artefact: a currency converter for Meridian Capital</a:t>
            </a:r>
          </a:p>
          <a:p>
            <a:pPr algn="l">
              <a:spcAft>
                <a:spcPts val="200"/>
              </a:spcAft>
            </a:pPr>
            <a:r>
              <a:rPr sz="950" b="0">
                <a:solidFill>
                  <a:srgbClr val="21201C"/>
                </a:solidFill>
                <a:latin typeface="Calibri"/>
              </a:rPr>
              <a:t>Partners that uses the LATEST exchange rates, not fixed ones.</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Requirements:</a:t>
            </a:r>
          </a:p>
          <a:p>
            <a:pPr algn="l">
              <a:spcAft>
                <a:spcPts val="200"/>
              </a:spcAft>
            </a:pPr>
            <a:r>
              <a:rPr sz="950" b="0">
                <a:solidFill>
                  <a:srgbClr val="21201C"/>
                </a:solidFill>
                <a:latin typeface="Calibri"/>
              </a:rPr>
              <a:t>- Convert between SGD, USD, EUR and GBP.</a:t>
            </a:r>
          </a:p>
          <a:p>
            <a:pPr algn="l">
              <a:spcAft>
                <a:spcPts val="200"/>
              </a:spcAft>
            </a:pPr>
            <a:r>
              <a:rPr sz="950" b="0">
                <a:solidFill>
                  <a:srgbClr val="21201C"/>
                </a:solidFill>
                <a:latin typeface="Calibri"/>
              </a:rPr>
              <a:t>- Fetch current rates from a free, no-key exchange rate API each time</a:t>
            </a:r>
          </a:p>
          <a:p>
            <a:pPr algn="l">
              <a:spcAft>
                <a:spcPts val="200"/>
              </a:spcAft>
            </a:pPr>
            <a:r>
              <a:rPr sz="950" b="0">
                <a:solidFill>
                  <a:srgbClr val="21201C"/>
                </a:solidFill>
                <a:latin typeface="Calibri"/>
              </a:rPr>
              <a:t>  the artefact is opened, and refresh them when I click a Refresh</a:t>
            </a:r>
          </a:p>
          <a:p>
            <a:pPr algn="l">
              <a:spcAft>
                <a:spcPts val="200"/>
              </a:spcAft>
            </a:pPr>
            <a:r>
              <a:rPr sz="950" b="0">
                <a:solidFill>
                  <a:srgbClr val="21201C"/>
                </a:solidFill>
                <a:latin typeface="Calibri"/>
              </a:rPr>
              <a:t>  button.</a:t>
            </a:r>
          </a:p>
          <a:p>
            <a:pPr algn="l">
              <a:spcAft>
                <a:spcPts val="200"/>
              </a:spcAft>
            </a:pPr>
            <a:r>
              <a:rPr sz="950" b="0">
                <a:solidFill>
                  <a:srgbClr val="21201C"/>
                </a:solidFill>
                <a:latin typeface="Calibri"/>
              </a:rPr>
              <a:t>- One amount box, a from-currency and a to-currency selector, and a</a:t>
            </a:r>
          </a:p>
          <a:p>
            <a:pPr algn="l">
              <a:spcAft>
                <a:spcPts val="200"/>
              </a:spcAft>
            </a:pPr>
            <a:r>
              <a:rPr sz="950" b="0">
                <a:solidFill>
                  <a:srgbClr val="21201C"/>
                </a:solidFill>
                <a:latin typeface="Calibri"/>
              </a:rPr>
              <a:t>  large result.</a:t>
            </a:r>
          </a:p>
          <a:p>
            <a:pPr algn="l">
              <a:spcAft>
                <a:spcPts val="200"/>
              </a:spcAft>
            </a:pPr>
            <a:r>
              <a:rPr sz="950" b="0">
                <a:solidFill>
                  <a:srgbClr val="21201C"/>
                </a:solidFill>
                <a:latin typeface="Calibri"/>
              </a:rPr>
              <a:t>- Under the result show the rate used and the time the rates were</a:t>
            </a:r>
          </a:p>
          <a:p>
            <a:pPr algn="l">
              <a:spcAft>
                <a:spcPts val="200"/>
              </a:spcAft>
            </a:pPr>
            <a:r>
              <a:rPr sz="950" b="0">
                <a:solidFill>
                  <a:srgbClr val="21201C"/>
                </a:solidFill>
                <a:latin typeface="Calibri"/>
              </a:rPr>
              <a:t>  last fetched.</a:t>
            </a:r>
          </a:p>
          <a:p>
            <a:pPr algn="l">
              <a:spcAft>
                <a:spcPts val="200"/>
              </a:spcAft>
            </a:pPr>
            <a:r>
              <a:rPr sz="950" b="0">
                <a:solidFill>
                  <a:srgbClr val="21201C"/>
                </a:solidFill>
                <a:latin typeface="Calibri"/>
              </a:rPr>
              <a:t>- If the rate lookup fails, say so plainly and show the last rate you</a:t>
            </a:r>
          </a:p>
          <a:p>
            <a:pPr algn="l">
              <a:spcAft>
                <a:spcPts val="200"/>
              </a:spcAft>
            </a:pPr>
            <a:r>
              <a:rPr sz="950" b="0">
                <a:solidFill>
                  <a:srgbClr val="21201C"/>
                </a:solidFill>
                <a:latin typeface="Calibri"/>
              </a:rPr>
              <a:t>  had rather than a wrong number.</a:t>
            </a:r>
          </a:p>
          <a:p>
            <a:pPr algn="l">
              <a:spcAft>
                <a:spcPts val="200"/>
              </a:spcAft>
            </a:pPr>
            <a:r>
              <a:rPr sz="950" b="0">
                <a:solidFill>
                  <a:srgbClr val="21201C"/>
                </a:solidFill>
                <a:latin typeface="Calibri"/>
              </a:rPr>
              <a:t>- Clean, professional finance styling. Label it "Meridian Capital</a:t>
            </a:r>
          </a:p>
          <a:p>
            <a:pPr algn="l">
              <a:spcAft>
                <a:spcPts val="200"/>
              </a:spcAft>
            </a:pPr>
            <a:r>
              <a:rPr sz="950" b="0">
                <a:solidFill>
                  <a:srgbClr val="21201C"/>
                </a:solidFill>
                <a:latin typeface="Calibri"/>
              </a:rPr>
              <a:t>  Partners".</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Make it interactive so I can change the amount and see the result update.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Because the rates are live, your figures will differ from the screenshots — that is the point of a Live Artefact.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Cowork session — this lab needs no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into the composer and send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Try the converter: change the amount and switch the currencies.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live rate against a search for "1 USD to SGD".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Refresh, and note the 'last fetched' time updates.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in plain English, for example: Add a thousands separator to the result.</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so it appears in your sidebar.</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a copy of the artefact to your lab folder.</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2103120"/>
            <a:ext cx="726948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662940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6537960" cy="1371600"/>
          </a:xfrm>
          <a:prstGeom prst="rect">
            <a:avLst/>
          </a:prstGeom>
          <a:noFill/>
        </p:spPr>
        <p:txBody>
          <a:bodyPr wrap="square" anchor="t" lIns="0" rIns="0" tIns="0" bIns="0">
            <a:spAutoFit/>
          </a:bodyPr>
          <a:lstStyle/>
          <a:p>
            <a:pPr algn="l">
              <a:spcAft>
                <a:spcPts val="400"/>
              </a:spcAft>
            </a:pPr>
            <a:r>
              <a:rPr sz="1500" b="0">
                <a:solidFill>
                  <a:srgbClr val="21201C"/>
                </a:solidFill>
                <a:latin typeface="Calibri"/>
              </a:rPr>
              <a:t>Converting S$10,000 to USD gives a figure that matches a live search for the SGD/USD rate, and the artefact shows when the rates were last fetched. Clicking Refresh updates that time. The artefact appears in your sidebar after saving, still works when you reopen it, and a downloaded copy is in your lab folder.</a:t>
            </a:r>
          </a:p>
        </p:txBody>
      </p:sp>
      <p:sp>
        <p:nvSpPr>
          <p:cNvPr id="9" name="Rectangle 8"/>
          <p:cNvSpPr/>
          <p:nvPr/>
        </p:nvSpPr>
        <p:spPr>
          <a:xfrm>
            <a:off x="8757338" y="1737360"/>
            <a:ext cx="2282081" cy="4251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2-fx-converter.png"/>
          <p:cNvPicPr>
            <a:picLocks noChangeAspect="1"/>
          </p:cNvPicPr>
          <p:nvPr/>
        </p:nvPicPr>
        <p:blipFill>
          <a:blip r:embed="rId2"/>
          <a:stretch>
            <a:fillRect/>
          </a:stretch>
        </p:blipFill>
        <p:spPr>
          <a:xfrm>
            <a:off x="8803058" y="1783080"/>
            <a:ext cx="2190641" cy="4160520"/>
          </a:xfrm>
          <a:prstGeom prst="rect">
            <a:avLst/>
          </a:prstGeom>
        </p:spPr>
      </p:pic>
      <p:sp>
        <p:nvSpPr>
          <p:cNvPr id="11" name="TextBox 10"/>
          <p:cNvSpPr txBox="1"/>
          <p:nvPr/>
        </p:nvSpPr>
        <p:spPr>
          <a:xfrm>
            <a:off x="8183879" y="6053328"/>
            <a:ext cx="3429000" cy="274320"/>
          </a:xfrm>
          <a:prstGeom prst="rect">
            <a:avLst/>
          </a:prstGeom>
          <a:noFill/>
        </p:spPr>
        <p:txBody>
          <a:bodyPr wrap="square" anchor="t" lIns="0" rIns="0" tIns="0" bIns="0">
            <a:spAutoFit/>
          </a:bodyPr>
          <a:lstStyle/>
          <a:p>
            <a:pPr algn="ctr">
              <a:spcAft>
                <a:spcPts val="400"/>
              </a:spcAft>
            </a:pPr>
            <a:r>
              <a:rPr sz="1050" b="0">
                <a:solidFill>
                  <a:srgbClr val="6B6862"/>
                </a:solidFill>
                <a:latin typeface="Calibri"/>
              </a:rPr>
              <a:t>The finished converter — your rate will differ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head of finance wants to see how the four revenue desks performed this year without opening a spreadsheet. You take the supplied sales data and build it into a Live Artefact dashboard — KPI tiles, a trend chart and a desk breakdown — then save it. This dashboard is the artefact every later lab builds on.</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Live Artefact dashboard showing Meridian's FY2025 revenue by desk.</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local files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sales dashboard</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attached meridian-sales-fy2025.csv, build me a Live Artefact:</a:t>
            </a:r>
          </a:p>
          <a:p>
            <a:pPr algn="l">
              <a:spcAft>
                <a:spcPts val="200"/>
              </a:spcAft>
            </a:pPr>
            <a:r>
              <a:rPr sz="1300" b="0">
                <a:solidFill>
                  <a:srgbClr val="21201C"/>
                </a:solidFill>
                <a:latin typeface="Calibri"/>
              </a:rPr>
              <a:t>an interactive sales dashboard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Include:</a:t>
            </a:r>
          </a:p>
          <a:p>
            <a:pPr algn="l">
              <a:spcAft>
                <a:spcPts val="200"/>
              </a:spcAft>
            </a:pPr>
            <a:r>
              <a:rPr sz="1300" b="0">
                <a:solidFill>
                  <a:srgbClr val="21201C"/>
                </a:solidFill>
                <a:latin typeface="Calibri"/>
              </a:rPr>
              <a:t>- KPI tiles: total revenue, total deals, average deal size, best desk.</a:t>
            </a:r>
          </a:p>
          <a:p>
            <a:pPr algn="l">
              <a:spcAft>
                <a:spcPts val="200"/>
              </a:spcAft>
            </a:pPr>
            <a:r>
              <a:rPr sz="1300" b="0">
                <a:solidFill>
                  <a:srgbClr val="21201C"/>
                </a:solidFill>
                <a:latin typeface="Calibri"/>
              </a:rPr>
              <a:t>- A monthly revenue trend chart for the full year.</a:t>
            </a:r>
          </a:p>
          <a:p>
            <a:pPr algn="l">
              <a:spcAft>
                <a:spcPts val="200"/>
              </a:spcAft>
            </a:pPr>
            <a:r>
              <a:rPr sz="1300" b="0">
                <a:solidFill>
                  <a:srgbClr val="21201C"/>
                </a:solidFill>
                <a:latin typeface="Calibri"/>
              </a:rPr>
              <a:t>- A breakdown of revenue by desk (Advisory, Asset Management,</a:t>
            </a:r>
          </a:p>
          <a:p>
            <a:pPr algn="l">
              <a:spcAft>
                <a:spcPts val="200"/>
              </a:spcAft>
            </a:pPr>
            <a:r>
              <a:rPr sz="1300" b="0">
                <a:solidFill>
                  <a:srgbClr val="21201C"/>
                </a:solidFill>
                <a:latin typeface="Calibri"/>
              </a:rPr>
              <a:t>  Private Credit, Corporate Finance).</a:t>
            </a:r>
          </a:p>
          <a:p>
            <a:pPr algn="l">
              <a:spcAft>
                <a:spcPts val="200"/>
              </a:spcAft>
            </a:pPr>
            <a:r>
              <a:rPr sz="1300" b="0">
                <a:solidFill>
                  <a:srgbClr val="21201C"/>
                </a:solidFill>
                <a:latin typeface="Calibri"/>
              </a:rPr>
              <a:t>- A filter to show one desk at a time or all desks.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Format all money as Singapore dollars with thousands separators.</a:t>
            </a:r>
          </a:p>
          <a:p>
            <a:pPr algn="l">
              <a:spcAft>
                <a:spcPts val="200"/>
              </a:spcAft>
            </a:pPr>
            <a:r>
              <a:rPr sz="1300" b="0">
                <a:solidFill>
                  <a:srgbClr val="21201C"/>
                </a:solidFill>
                <a:latin typeface="Calibri"/>
              </a:rPr>
              <a:t>Use a clean, professional finance layout. Title it</a:t>
            </a:r>
          </a:p>
          <a:p>
            <a:pPr algn="l">
              <a:spcAft>
                <a:spcPts val="200"/>
              </a:spcAft>
            </a:pPr>
            <a:r>
              <a:rPr sz="1300" b="0">
                <a:solidFill>
                  <a:srgbClr val="21201C"/>
                </a:solidFill>
                <a:latin typeface="Calibri"/>
              </a:rPr>
              <a:t>"Meridian Capital Partners — FY2025 Revenue".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CSV from your lab's mock-data folder before sending the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folder and look at meridian-sales-fy2025.csv so you know what the data holds.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and attach the CSV, or point Claude at the lab folder.</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and send it.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against the CSV: total revenue should be S$24,850,000 across 214 deals.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Use the desk filter to view Advisory on its own, then return to all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Refine the layout in plain English, for example: Move the KPI tiles above the chart.</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dashboard to your sidebar with a clear name, then download a copy.</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total revenue S$24,850,000 and 214 deals, Advisory is the best desk at S$8,420,000, the desk filter changes the chart, and the artefact reopens from your sidebar after you close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Cowork Fundamentals</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extract structured data from a folder of PDFs and reorganise the files.</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set up the Cowork workspace and build, save and download a Live Artefact.</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supplied finance data into an interactive Live Artefact dashboard.</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Tools and Skills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Drive and Gmail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Do · Verify · Save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Known limits</a:t>
            </a:r>
          </a:p>
          <a:p>
            <a:pPr algn="l">
              <a:spcAft>
                <a:spcPts val="300"/>
              </a:spcAft>
            </a:pPr>
            <a:r>
              <a:rPr sz="1150" b="0">
                <a:solidFill>
                  <a:srgbClr val="6B6862"/>
                </a:solidFill>
                <a:latin typeface="Calibri"/>
              </a:rPr>
              <a:t>Attachment contents are not read (metadata only) and images embedded in Docs are not processed.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GOOGLE DRIVE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on</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on Google Drive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session.</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session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Session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Start a fresh session for a new task rather than letting one fill up.</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task per session, only the connectors you need, and only the files the task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Working folder</a:t>
            </a:r>
          </a:p>
          <a:p>
            <a:pPr algn="l">
              <a:spcAft>
                <a:spcPts val="500"/>
              </a:spcAft>
            </a:pPr>
            <a:r>
              <a:rPr sz="1250" b="0">
                <a:solidFill>
                  <a:srgbClr val="6B6862"/>
                </a:solidFill>
                <a:latin typeface="Calibri"/>
              </a:rPr>
              <a:t>The files and folders Claude can access while working on the task.</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a:t>
            </a:r>
          </a:p>
          <a:p>
            <a:pPr algn="l">
              <a:spcAft>
                <a:spcPts val="500"/>
              </a:spcAft>
            </a:pPr>
            <a:r>
              <a:rPr sz="1250" b="0">
                <a:solidFill>
                  <a:srgbClr val="6B6862"/>
                </a:solidFill>
                <a:latin typeface="Calibri"/>
              </a:rPr>
              <a:t>Saved instructions at the folder level, which Claude always reads first.</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the working folder in Lab 1, connectors in Labs 4–5, a skill in Lab 6, and project instructions in Lab 7.</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code.</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daily-brief.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which tools to check, in what order, and what to report.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templates, documents or code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hand a colleague the plugin and they get every skill, tool and agent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Retyping the request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whole routine again every morning.</a:t>
            </a:r>
          </a:p>
          <a:p>
            <a:pPr algn="l">
              <a:spcAft>
                <a:spcPts val="900"/>
              </a:spcAft>
            </a:pPr>
            <a:r>
              <a:rPr sz="1250" b="0">
                <a:solidFill>
                  <a:srgbClr val="21201C"/>
                </a:solidFill>
                <a:latin typeface="Calibri"/>
              </a:rPr>
              <a:t>•  Easy to forget a step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The output format drifts from day to day.</a:t>
            </a:r>
          </a:p>
          <a:p>
            <a:pPr algn="l">
              <a:spcAft>
                <a:spcPts val="900"/>
              </a:spcAft>
            </a:pPr>
            <a:r>
              <a:rPr sz="1250" b="0">
                <a:solidFill>
                  <a:srgbClr val="21201C"/>
                </a:solidFill>
                <a:latin typeface="Calibri"/>
              </a:rPr>
              <a:t>•  Nothing to hand to a new joiner.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run by name.</a:t>
            </a:r>
          </a:p>
          <a:p>
            <a:pPr algn="l">
              <a:spcAft>
                <a:spcPts val="900"/>
              </a:spcAft>
            </a:pPr>
            <a:r>
              <a:rPr sz="1250" b="0">
                <a:solidFill>
                  <a:srgbClr val="21201C"/>
                </a:solidFill>
                <a:latin typeface="Calibri"/>
              </a:rPr>
              <a:t>•  Claude follows every step, every time.</a:t>
            </a:r>
          </a:p>
          <a:p>
            <a:pPr algn="l">
              <a:spcAft>
                <a:spcPts val="900"/>
              </a:spcAft>
            </a:pPr>
            <a:r>
              <a:rPr sz="1250" b="0">
                <a:solidFill>
                  <a:srgbClr val="21201C"/>
                </a:solidFill>
                <a:latin typeface="Calibri"/>
              </a:rPr>
              <a:t>•  The whole team shares one folder.</a:t>
            </a:r>
          </a:p>
          <a:p>
            <a:pPr algn="l">
              <a:spcAft>
                <a:spcPts val="900"/>
              </a:spcAft>
            </a:pPr>
            <a:r>
              <a:rPr sz="1250" b="0">
                <a:solidFill>
                  <a:srgbClr val="21201C"/>
                </a:solidFill>
                <a:latin typeface="Calibri"/>
              </a:rPr>
              <a:t>•  The same structure and format each run.</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AUTOMATION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check — Drive, Gmail, Calendar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reports back in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fallbacks</a:t>
            </a:r>
          </a:p>
          <a:p>
            <a:pPr algn="l">
              <a:spcAft>
                <a:spcPts val="300"/>
              </a:spcAft>
            </a:pPr>
            <a:r>
              <a:rPr sz="1150" b="0">
                <a:solidFill>
                  <a:srgbClr val="6B6862"/>
                </a:solidFill>
                <a:latin typeface="Calibri"/>
              </a:rPr>
              <a:t>When a source has nothing new, it says so plainly rather than inventing filler.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sending anything still needs your approval.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briefing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Tools and Skills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Toggle Gmail, Calendar and Drive on from the + menu so Claude can reach data outside the chat.</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Claude reads Sheets, Docs, Slides and PDFs from Drive, and can upload files back to a folder.</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folder</a:t>
            </a:r>
          </a:p>
          <a:p>
            <a:pPr algn="l">
              <a:spcAft>
                <a:spcPts val="300"/>
              </a:spcAft>
            </a:pPr>
            <a:r>
              <a:rPr sz="1150" b="0">
                <a:solidFill>
                  <a:srgbClr val="6B6862"/>
                </a:solidFill>
                <a:latin typeface="Calibri"/>
              </a:rPr>
              <a:t>Point Claude at one Drive folder for the task — not your whole Drive.</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Claude drafts, sends, replies and labels — sending asks for explicit approval by default.</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Skills</a:t>
            </a:r>
          </a:p>
          <a:p>
            <a:pPr algn="l">
              <a:spcAft>
                <a:spcPts val="300"/>
              </a:spcAft>
            </a:pPr>
            <a:r>
              <a:rPr sz="1150" b="0">
                <a:solidFill>
                  <a:srgbClr val="6B6862"/>
                </a:solidFill>
                <a:latin typeface="Calibri"/>
              </a:rPr>
              <a:t>A folder of instructions Claude loads on demand, so a task runs the same way every time.</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Three layers</a:t>
            </a:r>
          </a:p>
          <a:p>
            <a:pPr algn="l">
              <a:spcAft>
                <a:spcPts val="300"/>
              </a:spcAft>
            </a:pPr>
            <a:r>
              <a:rPr sz="1150" b="0">
                <a:solidFill>
                  <a:srgbClr val="6B6862"/>
                </a:solidFill>
                <a:latin typeface="Calibri"/>
              </a:rPr>
              <a:t>Metadata is always in context; the SKILL.md loads when triggered; resources load only when needed.</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/skill-creator</a:t>
            </a:r>
          </a:p>
          <a:p>
            <a:pPr algn="l">
              <a:spcAft>
                <a:spcPts val="300"/>
              </a:spcAft>
            </a:pPr>
            <a:r>
              <a:rPr sz="1150" b="0">
                <a:solidFill>
                  <a:srgbClr val="6B6862"/>
                </a:solidFill>
                <a:latin typeface="Calibri"/>
              </a:rPr>
              <a:t>Do the task once, verify the output, then let skill-creator write the SKILL.md for you.</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evolve</a:t>
            </a:r>
          </a:p>
          <a:p>
            <a:pPr algn="l">
              <a:spcAft>
                <a:spcPts val="300"/>
              </a:spcAft>
            </a:pPr>
            <a:r>
              <a:rPr sz="1150" b="0">
                <a:solidFill>
                  <a:srgbClr val="6B6862"/>
                </a:solidFill>
                <a:latin typeface="Calibri"/>
              </a:rPr>
              <a:t>Update a skill as you learn what you want — saving over it replaces the old version, so re-run to confirm.</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use tools</a:t>
            </a:r>
          </a:p>
          <a:p>
            <a:pPr algn="l">
              <a:spcAft>
                <a:spcPts val="300"/>
              </a:spcAft>
            </a:pPr>
            <a:r>
              <a:rPr sz="1150" b="0">
                <a:solidFill>
                  <a:srgbClr val="6B6862"/>
                </a:solidFill>
                <a:latin typeface="Calibri"/>
              </a:rPr>
              <a:t>A skill can drive the connectors for you — one command that checks Drive and Gmail and reports back.</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finance data does not live on your laptop — it sits in a shared Google Drive folder. You upload the firm's wider finance files to Drive, enable the Google Drive connector, and confirm Claude can read them without you attaching anything by hand.</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working Google Drive connection scoped to the Meridian finance folder.</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Read the Meridian finance data from Drive</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Google Drive connector, open the folder "Meridian Finance"</a:t>
            </a:r>
          </a:p>
          <a:p>
            <a:pPr algn="l">
              <a:spcAft>
                <a:spcPts val="200"/>
              </a:spcAft>
            </a:pPr>
            <a:r>
              <a:rPr sz="1300" b="0">
                <a:solidFill>
                  <a:srgbClr val="21201C"/>
                </a:solidFill>
                <a:latin typeface="Calibri"/>
              </a:rPr>
              <a:t>in my Drive and tell me what you find.</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 each file, give me:</a:t>
            </a:r>
          </a:p>
          <a:p>
            <a:pPr algn="l">
              <a:spcAft>
                <a:spcPts val="200"/>
              </a:spcAft>
            </a:pPr>
            <a:r>
              <a:rPr sz="1300" b="0">
                <a:solidFill>
                  <a:srgbClr val="21201C"/>
                </a:solidFill>
                <a:latin typeface="Calibri"/>
              </a:rPr>
              <a:t>- The file name and what kind of data it holds.</a:t>
            </a:r>
          </a:p>
          <a:p>
            <a:pPr algn="l">
              <a:spcAft>
                <a:spcPts val="200"/>
              </a:spcAft>
            </a:pPr>
            <a:r>
              <a:rPr sz="1300" b="0">
                <a:solidFill>
                  <a:srgbClr val="21201C"/>
                </a:solidFill>
                <a:latin typeface="Calibri"/>
              </a:rPr>
              <a:t>- The period it covers.</a:t>
            </a:r>
          </a:p>
          <a:p>
            <a:pPr algn="l">
              <a:spcAft>
                <a:spcPts val="200"/>
              </a:spcAft>
            </a:pPr>
            <a:r>
              <a:rPr sz="1300" b="0">
                <a:solidFill>
                  <a:srgbClr val="21201C"/>
                </a:solidFill>
                <a:latin typeface="Calibri"/>
              </a:rPr>
              <a:t>- The three figures you would use in a quarterly revenue summary.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Do not change, move or delete anything — read only.</a:t>
            </a:r>
          </a:p>
          <a:p>
            <a:pPr algn="l">
              <a:spcAft>
                <a:spcPts val="200"/>
              </a:spcAft>
            </a:pPr>
            <a:r>
              <a:rPr sz="1300" b="0">
                <a:solidFill>
                  <a:srgbClr val="21201C"/>
                </a:solidFill>
                <a:latin typeface="Calibri"/>
              </a:rPr>
              <a:t>List anything that looks inconsistent between the files.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Claude asks for approval before it moves, shares or deletes a Drive file.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lab's mock-data files to a new Google Drive folder named Meridian Finance.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Claude, click the plus sign in the composer and hover over Connectors.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Toggle Google Drive on and sign in to your Google account.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permissions Google asks for.</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so Claude reads the Meridian Finance folder.</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Compare Claude's file summary against what you actually uploaded.</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Note any inconsistency Claude reports between the files.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lists all three Meridian Finance files with their periods, reports FY2025 revenue of S$24,850,000, and flags that the Q4 Advisory target disagrees between the two files — S$2,320,000 in the targets file against S$2,410,000 in the workbook. Nothing in Drive has been changed.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Quarter end has arrived. You refresh the dashboard you built in Lab 3 using the data Claude now reads from Drive, then have it draft a quarterly summary email to the head of finance. You read the draft against the figures and approve it before a single message leaves your outbox.</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updated dashboard plus an approved quarterly summary email sent to yourself.</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Google Drive connector, Gmail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then draft the summary</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Two tasks, in order.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1. Open my saved "Meridian Capital Partners — FY2025 Revenue"</a:t>
            </a:r>
          </a:p>
          <a:p>
            <a:pPr algn="l">
              <a:spcAft>
                <a:spcPts val="200"/>
              </a:spcAft>
            </a:pPr>
            <a:r>
              <a:rPr sz="1200" b="0">
                <a:solidFill>
                  <a:srgbClr val="21201C"/>
                </a:solidFill>
                <a:latin typeface="Calibri"/>
              </a:rPr>
              <a:t>   dashboard and update it from the Meridian Finance folder in Google</a:t>
            </a:r>
          </a:p>
          <a:p>
            <a:pPr algn="l">
              <a:spcAft>
                <a:spcPts val="200"/>
              </a:spcAft>
            </a:pPr>
            <a:r>
              <a:rPr sz="1200" b="0">
                <a:solidFill>
                  <a:srgbClr val="21201C"/>
                </a:solidFill>
                <a:latin typeface="Calibri"/>
              </a:rPr>
              <a:t>   Drive. Add a Q4 column to the desk breakdown and show each desk's</a:t>
            </a:r>
          </a:p>
          <a:p>
            <a:pPr algn="l">
              <a:spcAft>
                <a:spcPts val="200"/>
              </a:spcAft>
            </a:pPr>
            <a:r>
              <a:rPr sz="1200" b="0">
                <a:solidFill>
                  <a:srgbClr val="21201C"/>
                </a:solidFill>
                <a:latin typeface="Calibri"/>
              </a:rPr>
              <a:t>   actual against its target.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2. Then draft an email to &lt;YOUR OWN ADDRESS&gt; with the subject</a:t>
            </a:r>
          </a:p>
          <a:p>
            <a:pPr algn="l">
              <a:spcAft>
                <a:spcPts val="200"/>
              </a:spcAft>
            </a:pPr>
            <a:r>
              <a:rPr sz="1200" b="0">
                <a:solidFill>
                  <a:srgbClr val="21201C"/>
                </a:solidFill>
                <a:latin typeface="Calibri"/>
              </a:rPr>
              <a:t>   "Meridian FY2025 — Q4 revenue summary". In the body:</a:t>
            </a:r>
          </a:p>
          <a:p>
            <a:pPr algn="l">
              <a:spcAft>
                <a:spcPts val="200"/>
              </a:spcAft>
            </a:pPr>
            <a:r>
              <a:rPr sz="1200" b="0">
                <a:solidFill>
                  <a:srgbClr val="21201C"/>
                </a:solidFill>
                <a:latin typeface="Calibri"/>
              </a:rPr>
              <a:t>   - Total FY2025 revenue and the Q4 figure.</a:t>
            </a:r>
          </a:p>
          <a:p>
            <a:pPr algn="l">
              <a:spcAft>
                <a:spcPts val="200"/>
              </a:spcAft>
            </a:pPr>
            <a:r>
              <a:rPr sz="1200" b="0">
                <a:solidFill>
                  <a:srgbClr val="21201C"/>
                </a:solidFill>
                <a:latin typeface="Calibri"/>
              </a:rPr>
              <a:t>   - Each desk's Q4 actual against target, best and worst first.</a:t>
            </a:r>
          </a:p>
          <a:p>
            <a:pPr algn="l">
              <a:spcAft>
                <a:spcPts val="200"/>
              </a:spcAft>
            </a:pPr>
            <a:r>
              <a:rPr sz="1200" b="0">
                <a:solidFill>
                  <a:srgbClr val="21201C"/>
                </a:solidFill>
                <a:latin typeface="Calibri"/>
              </a:rPr>
              <a:t>   - Two sentences explaining the largest variance.</a:t>
            </a:r>
          </a:p>
          <a:p>
            <a:pPr algn="l">
              <a:spcAft>
                <a:spcPts val="200"/>
              </a:spcAft>
            </a:pPr>
            <a:r>
              <a:rPr sz="1200" b="0">
                <a:solidFill>
                  <a:srgbClr val="21201C"/>
                </a:solidFill>
                <a:latin typeface="Calibri"/>
              </a:rPr>
              <a:t>   - A closing line noting the Q4 Advisory target discrepancy.</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Show me the draft. Do not send it until I approve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OWN ADDRESS&gt; with your own email — never a real client's.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Reopen the dashboard you saved in Lab 3 from your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Enable the Gmail connector from the plus menu, alongside Google Drive.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replacing the placeholder with your own email address.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Claude refresh the dashboard from Drive and add the Q4 target comparison.</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refreshed dashboard: Q4 revenue should be S$6,980,000 across the four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drafted email in full and compare every figure against the dashboard.</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send, then confirm the message arrived in your own inbox.</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a Q4 column with actual against target per desk and Q4 revenue of S$6,980,000. The email arrives in your own inbox with the correct totals and a closing note about the Advisory target discrepancy.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Labs 4 and 5 showed what the connectors can do — but you had to describe the whole routine each time. Now you capture it once. The reliable way to build a skill is the Do / Verify / Save pattern: do the task with Claude once, refine until the output is right, then use the /skill-creator skill to save it. You have already done the doing — this lab turns it into a command, then updates it.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daily-brief Agent Skill you can run by name each morning, updated once.</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/skill-creator, Google Drive connector, Gmail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Do the routine, then save it as a skill</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100" b="0">
                <a:solidFill>
                  <a:srgbClr val="21201C"/>
                </a:solidFill>
                <a:latin typeface="Calibri"/>
              </a:rPr>
              <a:t>Step 1 — DO. Run my morning finance briefing for Meridian Capital</a:t>
            </a:r>
          </a:p>
          <a:p>
            <a:pPr algn="l">
              <a:spcAft>
                <a:spcPts val="200"/>
              </a:spcAft>
            </a:pPr>
            <a:r>
              <a:rPr sz="1100" b="0">
                <a:solidFill>
                  <a:srgbClr val="21201C"/>
                </a:solidFill>
                <a:latin typeface="Calibri"/>
              </a:rPr>
              <a:t>Partners, once, so we can get the format right together:</a:t>
            </a:r>
          </a:p>
          <a:p>
            <a:pPr algn="l">
              <a:spcAft>
                <a:spcPts val="200"/>
              </a:spcAft>
            </a:pPr>
            <a:r>
              <a:rPr sz="1100" b="0">
                <a:solidFill>
                  <a:srgbClr val="21201C"/>
                </a:solidFill>
                <a:latin typeface="Calibri"/>
              </a:rPr>
              <a:t/>
            </a:r>
          </a:p>
          <a:p>
            <a:pPr algn="l">
              <a:spcAft>
                <a:spcPts val="200"/>
              </a:spcAft>
            </a:pPr>
            <a:r>
              <a:rPr sz="1100" b="0">
                <a:solidFill>
                  <a:srgbClr val="21201C"/>
                </a:solidFill>
                <a:latin typeface="Calibri"/>
              </a:rPr>
              <a:t>- What changed in the Meridian Finance folder on Google Drive since</a:t>
            </a:r>
          </a:p>
          <a:p>
            <a:pPr algn="l">
              <a:spcAft>
                <a:spcPts val="200"/>
              </a:spcAft>
            </a:pPr>
            <a:r>
              <a:rPr sz="1100" b="0">
                <a:solidFill>
                  <a:srgbClr val="21201C"/>
                </a:solidFill>
                <a:latin typeface="Calibri"/>
              </a:rPr>
              <a:t>  yesterday?</a:t>
            </a:r>
          </a:p>
          <a:p>
            <a:pPr algn="l">
              <a:spcAft>
                <a:spcPts val="200"/>
              </a:spcAft>
            </a:pPr>
            <a:r>
              <a:rPr sz="1100" b="0">
                <a:solidFill>
                  <a:srgbClr val="21201C"/>
                </a:solidFill>
                <a:latin typeface="Calibri"/>
              </a:rPr>
              <a:t>- Which desks are behind their quarterly target right now?</a:t>
            </a:r>
          </a:p>
          <a:p>
            <a:pPr algn="l">
              <a:spcAft>
                <a:spcPts val="200"/>
              </a:spcAft>
            </a:pPr>
            <a:r>
              <a:rPr sz="1100" b="0">
                <a:solidFill>
                  <a:srgbClr val="21201C"/>
                </a:solidFill>
                <a:latin typeface="Calibri"/>
              </a:rPr>
              <a:t>- What finance emails do I need to respond to today?</a:t>
            </a:r>
          </a:p>
          <a:p>
            <a:pPr algn="l">
              <a:spcAft>
                <a:spcPts val="200"/>
              </a:spcAft>
            </a:pPr>
            <a:r>
              <a:rPr sz="1100" b="0">
                <a:solidFill>
                  <a:srgbClr val="21201C"/>
                </a:solidFill>
                <a:latin typeface="Calibri"/>
              </a:rPr>
              <a:t/>
            </a:r>
          </a:p>
          <a:p>
            <a:pPr algn="l">
              <a:spcAft>
                <a:spcPts val="200"/>
              </a:spcAft>
            </a:pPr>
            <a:r>
              <a:rPr sz="1100" b="0">
                <a:solidFill>
                  <a:srgbClr val="21201C"/>
                </a:solidFill>
                <a:latin typeface="Calibri"/>
              </a:rPr>
              <a:t>If a section has nothing in it, say so plainly — "No new files since</a:t>
            </a:r>
          </a:p>
          <a:p>
            <a:pPr algn="l">
              <a:spcAft>
                <a:spcPts val="200"/>
              </a:spcAft>
            </a:pPr>
            <a:r>
              <a:rPr sz="1100" b="0">
                <a:solidFill>
                  <a:srgbClr val="21201C"/>
                </a:solidFill>
                <a:latin typeface="Calibri"/>
              </a:rPr>
              <a:t>yesterday" — rather than padding it out. End with one line on what most</a:t>
            </a:r>
          </a:p>
          <a:p>
            <a:pPr algn="l">
              <a:spcAft>
                <a:spcPts val="200"/>
              </a:spcAft>
            </a:pPr>
            <a:r>
              <a:rPr sz="1100" b="0">
                <a:solidFill>
                  <a:srgbClr val="21201C"/>
                </a:solidFill>
                <a:latin typeface="Calibri"/>
              </a:rPr>
              <a:t>needs my attention, or "Nothing urgent — have a good day" if there is</a:t>
            </a:r>
          </a:p>
          <a:p>
            <a:pPr algn="l">
              <a:spcAft>
                <a:spcPts val="200"/>
              </a:spcAft>
            </a:pPr>
            <a:r>
              <a:rPr sz="1100" b="0">
                <a:solidFill>
                  <a:srgbClr val="21201C"/>
                </a:solidFill>
                <a:latin typeface="Calibri"/>
              </a:rPr>
              <a:t>nothing. All money in Singapore dollars. Draft only — never send email.</a:t>
            </a:r>
          </a:p>
          <a:p>
            <a:pPr algn="l">
              <a:spcAft>
                <a:spcPts val="200"/>
              </a:spcAft>
            </a:pPr>
            <a:r>
              <a:rPr sz="1100" b="0">
                <a:solidFill>
                  <a:srgbClr val="21201C"/>
                </a:solidFill>
                <a:latin typeface="Calibri"/>
              </a:rPr>
              <a:t/>
            </a:r>
          </a:p>
          <a:p>
            <a:pPr algn="l">
              <a:spcAft>
                <a:spcPts val="200"/>
              </a:spcAft>
            </a:pPr>
            <a:r>
              <a:rPr sz="1100" b="0">
                <a:solidFill>
                  <a:srgbClr val="21201C"/>
                </a:solidFill>
                <a:latin typeface="Calibri"/>
              </a:rPr>
              <a:t>Step 2 — SAVE. Once I confirm the output is right, use the</a:t>
            </a:r>
          </a:p>
          <a:p>
            <a:pPr algn="l">
              <a:spcAft>
                <a:spcPts val="200"/>
              </a:spcAft>
            </a:pPr>
            <a:r>
              <a:rPr sz="1100" b="0">
                <a:solidFill>
                  <a:srgbClr val="21201C"/>
                </a:solidFill>
                <a:latin typeface="Calibri"/>
              </a:rPr>
              <a:t>/skill-creator skill to turn exactly this routine into a skill called</a:t>
            </a:r>
          </a:p>
          <a:p>
            <a:pPr algn="l">
              <a:spcAft>
                <a:spcPts val="200"/>
              </a:spcAft>
            </a:pPr>
            <a:r>
              <a:rPr sz="1100" b="0">
                <a:solidFill>
                  <a:srgbClr val="21201C"/>
                </a:solidFill>
                <a:latin typeface="Calibri"/>
              </a:rPr>
              <a:t>daily-brief that I can run every morning.</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Do it once, check the output, then save it — that order is what makes the skill reliable.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Make sure the Drive and Gmail connectors from Labs 4 and 5 are still enabled.</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 — paste Step 1 of the lab prompt and let Claude run the routine once.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VERIFY — read the briefing and ask for changes until the format is right.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fallback wording on any empty section.</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it drafted and did not send anything.</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 run Step 2 so /skill-creator turns the routine into a daily-brief skill.</a:t>
            </a:r>
          </a:p>
        </p:txBody>
      </p:sp>
      <p:sp>
        <p:nvSpPr>
          <p:cNvPr id="24" name="Oval 23"/>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SKILL.md it produces, especially the description line.</a:t>
            </a:r>
          </a:p>
        </p:txBody>
      </p:sp>
      <p:sp>
        <p:nvSpPr>
          <p:cNvPr id="27" name="Oval 26"/>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Run the skill by name, then run it again.</a:t>
            </a:r>
          </a:p>
        </p:txBody>
      </p:sp>
      <p:sp>
        <p:nvSpPr>
          <p:cNvPr id="30" name="Oval 29"/>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UPDATE — ask for one change, such as putting the emails section first.</a:t>
            </a:r>
          </a:p>
        </p:txBody>
      </p:sp>
      <p:sp>
        <p:nvSpPr>
          <p:cNvPr id="33" name="Oval 32"/>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change under the same skill name and confirm the replace prompt.</a:t>
            </a:r>
          </a:p>
        </p:txBody>
      </p:sp>
      <p:sp>
        <p:nvSpPr>
          <p:cNvPr id="36" name="Oval 35"/>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Run the skill once more to confirm the change took effect.</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Running the daily-brief skill by name produces a briefing with all three sections — Drive changes, desks behind target, emails needing a reply — using the plain fallback wording where a section is empty, ending with a single attention line, with all money in SGD and no email sent. After the update, the revised section order appears on the next run — and Claude warned you before replacing the existing skill.</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Tools and Skills</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enable the Google Drive connector and read finance data held outside the chat.</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update the Live Artefact from connected data and deliver an approved summary by Gmail.</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turn a routine you have already done into a reusable Agent Skill, and update it.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Projects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a Project is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 instructions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Assemble the workspace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Lab 7: the Meridian project</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same files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Your artefacts are scattered across conversations.</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Knowledge leaves when you do.</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Files are added once as project knowledge.</a:t>
            </a:r>
          </a:p>
          <a:p>
            <a:pPr algn="l">
              <a:spcAft>
                <a:spcPts val="900"/>
              </a:spcAft>
            </a:pPr>
            <a:r>
              <a:rPr sz="1250" b="0">
                <a:solidFill>
                  <a:srgbClr val="21201C"/>
                </a:solidFill>
                <a:latin typeface="Calibri"/>
              </a:rPr>
              <a:t>•  Custom instructions apply to every chat.</a:t>
            </a:r>
          </a:p>
          <a:p>
            <a:pPr algn="l">
              <a:spcAft>
                <a:spcPts val="900"/>
              </a:spcAft>
            </a:pPr>
            <a:r>
              <a:rPr sz="1250" b="0">
                <a:solidFill>
                  <a:srgbClr val="21201C"/>
                </a:solidFill>
                <a:latin typeface="Calibri"/>
              </a:rPr>
              <a:t>•  Artefacts and skills live in one workspace.</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The setup outlives any single conversation.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Three Ways to Start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 Cowork, the files and instructions stay in a folder on your computer.</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from scratch</a:t>
            </a:r>
          </a:p>
          <a:p>
            <a:pPr algn="l">
              <a:spcAft>
                <a:spcPts val="300"/>
              </a:spcAft>
            </a:pPr>
            <a:r>
              <a:rPr sz="1150" b="0">
                <a:solidFill>
                  <a:srgbClr val="6B6862"/>
                </a:solidFill>
                <a:latin typeface="Calibri"/>
              </a:rPr>
              <a:t>Set up a new folder with instructions and files.</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Import a project</a:t>
            </a:r>
          </a:p>
          <a:p>
            <a:pPr algn="l">
              <a:spcAft>
                <a:spcPts val="300"/>
              </a:spcAft>
            </a:pPr>
            <a:r>
              <a:rPr sz="1150" b="0">
                <a:solidFill>
                  <a:srgbClr val="6B6862"/>
                </a:solidFill>
                <a:latin typeface="Calibri"/>
              </a:rPr>
              <a:t>Bring a project you made in Chat over to Cowork.</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an existing folder</a:t>
            </a:r>
          </a:p>
          <a:p>
            <a:pPr algn="l">
              <a:spcAft>
                <a:spcPts val="300"/>
              </a:spcAft>
            </a:pPr>
            <a:r>
              <a:rPr sz="1150" b="0">
                <a:solidFill>
                  <a:srgbClr val="6B6862"/>
                </a:solidFill>
                <a:latin typeface="Calibri"/>
              </a:rPr>
              <a:t>Give Claude a folder you already work from.</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New project → Start from scratch opens this dialog.</a:t>
            </a:r>
          </a:p>
        </p:txBody>
      </p:sp>
      <p:sp>
        <p:nvSpPr>
          <p:cNvPr id="6" name="Rectangle 5"/>
          <p:cNvSpPr/>
          <p:nvPr/>
        </p:nvSpPr>
        <p:spPr>
          <a:xfrm>
            <a:off x="548640" y="2148840"/>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34315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4315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Name</a:t>
            </a:r>
          </a:p>
          <a:p>
            <a:pPr algn="l">
              <a:spcAft>
                <a:spcPts val="500"/>
              </a:spcAft>
            </a:pPr>
            <a:r>
              <a:rPr sz="1250" b="0">
                <a:solidFill>
                  <a:srgbClr val="6B6862"/>
                </a:solidFill>
                <a:latin typeface="Calibri"/>
              </a:rPr>
              <a:t>What this body of work is called, e.g. Meridian Finance Reporting. Required.</a:t>
            </a:r>
          </a:p>
        </p:txBody>
      </p:sp>
      <p:sp>
        <p:nvSpPr>
          <p:cNvPr id="10" name="Rectangle 9"/>
          <p:cNvSpPr/>
          <p:nvPr/>
        </p:nvSpPr>
        <p:spPr>
          <a:xfrm>
            <a:off x="548640" y="3049524"/>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24383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4383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049524"/>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a:t>
            </a:r>
          </a:p>
          <a:p>
            <a:pPr algn="l">
              <a:spcAft>
                <a:spcPts val="500"/>
              </a:spcAft>
            </a:pPr>
            <a:r>
              <a:rPr sz="1250" b="0">
                <a:solidFill>
                  <a:srgbClr val="6B6862"/>
                </a:solidFill>
                <a:latin typeface="Calibri"/>
              </a:rPr>
              <a:t>The standing rules for every chat in the project — house style, number formats, and the approval habit.</a:t>
            </a:r>
          </a:p>
        </p:txBody>
      </p:sp>
      <p:sp>
        <p:nvSpPr>
          <p:cNvPr id="14" name="Rectangle 13"/>
          <p:cNvSpPr/>
          <p:nvPr/>
        </p:nvSpPr>
        <p:spPr>
          <a:xfrm>
            <a:off x="548640" y="3950208"/>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4451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4451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950208"/>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Add files</a:t>
            </a:r>
          </a:p>
          <a:p>
            <a:pPr algn="l">
              <a:spcAft>
                <a:spcPts val="500"/>
              </a:spcAft>
            </a:pPr>
            <a:r>
              <a:rPr sz="1250" b="0">
                <a:solidFill>
                  <a:srgbClr val="6B6862"/>
                </a:solidFill>
                <a:latin typeface="Calibri"/>
              </a:rPr>
              <a:t>Drop in the files the work always needs, so no chat has to re-attach them.</a:t>
            </a:r>
          </a:p>
        </p:txBody>
      </p:sp>
      <p:sp>
        <p:nvSpPr>
          <p:cNvPr id="18" name="Rectangle 17"/>
          <p:cNvSpPr/>
          <p:nvPr/>
        </p:nvSpPr>
        <p:spPr>
          <a:xfrm>
            <a:off x="548640" y="4850892"/>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504520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4520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850892"/>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Choose project location</a:t>
            </a:r>
          </a:p>
          <a:p>
            <a:pPr algn="l">
              <a:spcAft>
                <a:spcPts val="500"/>
              </a:spcAft>
            </a:pPr>
            <a:r>
              <a:rPr sz="1250" b="0">
                <a:solidFill>
                  <a:srgbClr val="6B6862"/>
                </a:solidFill>
                <a:latin typeface="Calibri"/>
              </a:rPr>
              <a:t>Where the project folder lives on your computer — you can open and edit it outside Claude.</a:t>
            </a:r>
          </a:p>
        </p:txBody>
      </p:sp>
      <p:sp>
        <p:nvSpPr>
          <p:cNvPr id="22" name="TextBox 2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Then click Create. Memory can stay on, so the project also remembers what you work on over time.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Goes in the Project</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The project folder</a:t>
            </a:r>
          </a:p>
          <a:p>
            <a:pPr algn="l">
              <a:spcAft>
                <a:spcPts val="300"/>
              </a:spcAft>
            </a:pPr>
            <a:r>
              <a:rPr sz="1150" b="0">
                <a:solidFill>
                  <a:srgbClr val="6B6862"/>
                </a:solidFill>
                <a:latin typeface="Calibri"/>
              </a:rPr>
              <a:t>A real folder on your computer holding the files and instructions — Claude works in it, and so can you.</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 instructions</a:t>
            </a:r>
          </a:p>
          <a:p>
            <a:pPr algn="l">
              <a:spcAft>
                <a:spcPts val="300"/>
              </a:spcAft>
            </a:pPr>
            <a:r>
              <a:rPr sz="1150" b="0">
                <a:solidFill>
                  <a:srgbClr val="6B6862"/>
                </a:solidFill>
                <a:latin typeface="Calibri"/>
              </a:rPr>
              <a:t>The standing rules for this work: house style, SGD formatting, check before sending.</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The finance data</a:t>
            </a:r>
          </a:p>
          <a:p>
            <a:pPr algn="l">
              <a:spcAft>
                <a:spcPts val="300"/>
              </a:spcAft>
            </a:pPr>
            <a:r>
              <a:rPr sz="1150" b="0">
                <a:solidFill>
                  <a:srgbClr val="6B6862"/>
                </a:solidFill>
                <a:latin typeface="Calibri"/>
              </a:rPr>
              <a:t>The Meridian files, in the folder once, so no chat has to re-attach them.</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skill</a:t>
            </a:r>
          </a:p>
          <a:p>
            <a:pPr algn="l">
              <a:spcAft>
                <a:spcPts val="300"/>
              </a:spcAft>
            </a:pPr>
            <a:r>
              <a:rPr sz="1150" b="0">
                <a:solidFill>
                  <a:srgbClr val="6B6862"/>
                </a:solidFill>
                <a:latin typeface="Calibri"/>
              </a:rPr>
              <a:t>The daily-brief routine, available to everyone working in the project.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artefacts</a:t>
            </a:r>
          </a:p>
          <a:p>
            <a:pPr algn="l">
              <a:spcAft>
                <a:spcPts val="300"/>
              </a:spcAft>
            </a:pPr>
            <a:r>
              <a:rPr sz="1150" b="0">
                <a:solidFill>
                  <a:srgbClr val="6B6862"/>
                </a:solidFill>
                <a:latin typeface="Calibri"/>
              </a:rPr>
              <a:t>The FY2025 dashboard, saved where the team looks for it.</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Connected tools</a:t>
            </a:r>
          </a:p>
          <a:p>
            <a:pPr algn="l">
              <a:spcAft>
                <a:spcPts val="300"/>
              </a:spcAft>
            </a:pPr>
            <a:r>
              <a:rPr sz="1150" b="0">
                <a:solidFill>
                  <a:srgbClr val="6B6862"/>
                </a:solidFill>
                <a:latin typeface="Calibri"/>
              </a:rPr>
              <a:t>Drive and Gmail, already enabled for the tasks this project runs.</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Assembling the Meridian Project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Create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New project → Start from scratch, and name it Meridian Finance Reporting.</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Add files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Put the finance data and brand guidelines into the project folder.</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Set instructions</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Write the standing rules that apply to every task in the project.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Bring your tools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dashboard artefact and the daily-brief skill.</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Share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Hand the folder to the team so they work from the same setup.</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Everything from Labs 1–5, gathered into one workspace you can hand to the team.</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Projects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Claude Project</a:t>
            </a:r>
          </a:p>
          <a:p>
            <a:pPr algn="l">
              <a:spcAft>
                <a:spcPts val="300"/>
              </a:spcAft>
            </a:pPr>
            <a:r>
              <a:rPr sz="1150" b="0">
                <a:solidFill>
                  <a:srgbClr val="6B6862"/>
                </a:solidFill>
                <a:latin typeface="Calibri"/>
              </a:rPr>
              <a:t>A dedicated place for ongoing work, where context builds over time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Backed by a folder</a:t>
            </a:r>
          </a:p>
          <a:p>
            <a:pPr algn="l">
              <a:spcAft>
                <a:spcPts val="300"/>
              </a:spcAft>
            </a:pPr>
            <a:r>
              <a:rPr sz="1150" b="0">
                <a:solidFill>
                  <a:srgbClr val="6B6862"/>
                </a:solidFill>
                <a:latin typeface="Calibri"/>
              </a:rPr>
              <a:t>In Cowork the files and instructions live in a real folder on your computer — you can still open them yourself.</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Three ways to start</a:t>
            </a:r>
          </a:p>
          <a:p>
            <a:pPr algn="l">
              <a:spcAft>
                <a:spcPts val="300"/>
              </a:spcAft>
            </a:pPr>
            <a:r>
              <a:rPr sz="1150" b="0">
                <a:solidFill>
                  <a:srgbClr val="6B6862"/>
                </a:solidFill>
                <a:latin typeface="Calibri"/>
              </a:rPr>
              <a:t>Start from scratch, import a project you made in Chat, or point Claude at a folder you already work from.</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 instructions</a:t>
            </a:r>
          </a:p>
          <a:p>
            <a:pPr algn="l">
              <a:spcAft>
                <a:spcPts val="300"/>
              </a:spcAft>
            </a:pPr>
            <a:r>
              <a:rPr sz="1150" b="0">
                <a:solidFill>
                  <a:srgbClr val="6B6862"/>
                </a:solidFill>
                <a:latin typeface="Calibri"/>
              </a:rPr>
              <a:t>Standing rules for this body of work — house style, SGD formatting, check before sending.</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Everything in one place</a:t>
            </a:r>
          </a:p>
          <a:p>
            <a:pPr algn="l">
              <a:spcAft>
                <a:spcPts val="300"/>
              </a:spcAft>
            </a:pPr>
            <a:r>
              <a:rPr sz="1150" b="0">
                <a:solidFill>
                  <a:srgbClr val="6B6862"/>
                </a:solidFill>
                <a:latin typeface="Calibri"/>
              </a:rPr>
              <a:t>The finance data, the brand rules, your daily-brief skill and the dashboard, together.</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 the folder</a:t>
            </a:r>
          </a:p>
          <a:p>
            <a:pPr algn="l">
              <a:spcAft>
                <a:spcPts val="300"/>
              </a:spcAft>
            </a:pPr>
            <a:r>
              <a:rPr sz="1150" b="0">
                <a:solidFill>
                  <a:srgbClr val="6B6862"/>
                </a:solidFill>
                <a:latin typeface="Calibri"/>
              </a:rPr>
              <a:t>A colleague opens the same project and inherits the data, rules and tools you set up.</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Everything you have built so far lives in separate places — a dashboard in your sidebar, files in Drive, a skill, and rules you have been restating by hand. In this final lab you gather them into one Cowork Project: a dedicated folder on your computer where context builds over time, and which a colleague can open and be immediately productive in.</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Meridian Finance Reporting project holding the data, instructions, skill and dashboard.</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Projects, Agent Skills, Live Artefacts,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project instructions</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This project is Meridian Finance Reporting. Write the project</a:t>
            </a:r>
          </a:p>
          <a:p>
            <a:pPr algn="l">
              <a:spcAft>
                <a:spcPts val="200"/>
              </a:spcAft>
            </a:pPr>
            <a:r>
              <a:rPr sz="950" b="0">
                <a:solidFill>
                  <a:srgbClr val="21201C"/>
                </a:solidFill>
                <a:latin typeface="Calibri"/>
              </a:rPr>
              <a:t>instructions that should apply to every task I run in here:</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 We are the finance team at Meridian Capital Partners Pte Ltd.</a:t>
            </a:r>
          </a:p>
          <a:p>
            <a:pPr algn="l">
              <a:spcAft>
                <a:spcPts val="200"/>
              </a:spcAft>
            </a:pPr>
            <a:r>
              <a:rPr sz="950" b="0">
                <a:solidFill>
                  <a:srgbClr val="21201C"/>
                </a:solidFill>
                <a:latin typeface="Calibri"/>
              </a:rPr>
              <a:t>  Our four revenue desks are Advisory, Asset Management, Private</a:t>
            </a:r>
          </a:p>
          <a:p>
            <a:pPr algn="l">
              <a:spcAft>
                <a:spcPts val="200"/>
              </a:spcAft>
            </a:pPr>
            <a:r>
              <a:rPr sz="950" b="0">
                <a:solidFill>
                  <a:srgbClr val="21201C"/>
                </a:solidFill>
                <a:latin typeface="Calibri"/>
              </a:rPr>
              <a:t>  Credit and Corporate Finance.</a:t>
            </a:r>
          </a:p>
          <a:p>
            <a:pPr algn="l">
              <a:spcAft>
                <a:spcPts val="200"/>
              </a:spcAft>
            </a:pPr>
            <a:r>
              <a:rPr sz="950" b="0">
                <a:solidFill>
                  <a:srgbClr val="21201C"/>
                </a:solidFill>
                <a:latin typeface="Calibri"/>
              </a:rPr>
              <a:t>- All money in Singapore dollars, thousands separators, no decimals.</a:t>
            </a:r>
          </a:p>
          <a:p>
            <a:pPr algn="l">
              <a:spcAft>
                <a:spcPts val="200"/>
              </a:spcAft>
            </a:pPr>
            <a:r>
              <a:rPr sz="950" b="0">
                <a:solidFill>
                  <a:srgbClr val="21201C"/>
                </a:solidFill>
                <a:latin typeface="Calibri"/>
              </a:rPr>
              <a:t>- Variances show both the absolute figure and the percentage.</a:t>
            </a:r>
          </a:p>
          <a:p>
            <a:pPr algn="l">
              <a:spcAft>
                <a:spcPts val="200"/>
              </a:spcAft>
            </a:pPr>
            <a:r>
              <a:rPr sz="950" b="0">
                <a:solidFill>
                  <a:srgbClr val="21201C"/>
                </a:solidFill>
                <a:latin typeface="Calibri"/>
              </a:rPr>
              <a:t>- Every report carries the title "Meridian Capital Partners" and</a:t>
            </a:r>
          </a:p>
          <a:p>
            <a:pPr algn="l">
              <a:spcAft>
                <a:spcPts val="200"/>
              </a:spcAft>
            </a:pPr>
            <a:r>
              <a:rPr sz="950" b="0">
                <a:solidFill>
                  <a:srgbClr val="21201C"/>
                </a:solidFill>
                <a:latin typeface="Calibri"/>
              </a:rPr>
              <a:t>  the reporting period, and the footer "internal use only".</a:t>
            </a:r>
          </a:p>
          <a:p>
            <a:pPr algn="l">
              <a:spcAft>
                <a:spcPts val="200"/>
              </a:spcAft>
            </a:pPr>
            <a:r>
              <a:rPr sz="950" b="0">
                <a:solidFill>
                  <a:srgbClr val="21201C"/>
                </a:solidFill>
                <a:latin typeface="Calibri"/>
              </a:rPr>
              <a:t>- Headings in a serif font, body text in a clean sans-serif.</a:t>
            </a:r>
          </a:p>
          <a:p>
            <a:pPr algn="l">
              <a:spcAft>
                <a:spcPts val="200"/>
              </a:spcAft>
            </a:pPr>
            <a:r>
              <a:rPr sz="950" b="0">
                <a:solidFill>
                  <a:srgbClr val="21201C"/>
                </a:solidFill>
                <a:latin typeface="Calibri"/>
              </a:rPr>
              <a:t>- Tone: factual and concise. No marketing language.</a:t>
            </a:r>
          </a:p>
          <a:p>
            <a:pPr algn="l">
              <a:spcAft>
                <a:spcPts val="200"/>
              </a:spcAft>
            </a:pPr>
            <a:r>
              <a:rPr sz="950" b="0">
                <a:solidFill>
                  <a:srgbClr val="21201C"/>
                </a:solidFill>
                <a:latin typeface="Calibri"/>
              </a:rPr>
              <a:t>- Always show me a draft before sending anything. Never send email</a:t>
            </a:r>
          </a:p>
          <a:p>
            <a:pPr algn="l">
              <a:spcAft>
                <a:spcPts val="200"/>
              </a:spcAft>
            </a:pPr>
            <a:r>
              <a:rPr sz="950" b="0">
                <a:solidFill>
                  <a:srgbClr val="21201C"/>
                </a:solidFill>
                <a:latin typeface="Calibri"/>
              </a:rPr>
              <a:t>  without my explicit approval.</a:t>
            </a:r>
          </a:p>
          <a:p>
            <a:pPr algn="l">
              <a:spcAft>
                <a:spcPts val="200"/>
              </a:spcAft>
            </a:pPr>
            <a:r>
              <a:rPr sz="950" b="0">
                <a:solidFill>
                  <a:srgbClr val="21201C"/>
                </a:solidFill>
                <a:latin typeface="Calibri"/>
              </a:rPr>
              <a:t>- The finance data in this project folder is the source of truth.</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Write these as clear project instructions, then confirm what you</a:t>
            </a:r>
          </a:p>
          <a:p>
            <a:pPr algn="l">
              <a:spcAft>
                <a:spcPts val="200"/>
              </a:spcAft>
            </a:pPr>
            <a:r>
              <a:rPr sz="950" b="0">
                <a:solidFill>
                  <a:srgbClr val="21201C"/>
                </a:solidFill>
                <a:latin typeface="Calibri"/>
              </a:rPr>
              <a:t>will now do differently in every chat in this project.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Project instructions apply to every chat in the project — you stop restating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Cowork, choose New project, then Start from scratch.</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Start a new project dialog, type the Name: Meridian Finance Reporting.</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prompt's rules into the Instructions box.</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Under Add files, drop in the Meridian finance data and the brand guidelines.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 Choose project location to where you want the folder to live, then click Create.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daily-brief skill from Lab 6 to the project.</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project folder on your computer and confirm the files are really there.</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FY2025 dashboard into the project so it sits with the data it reports on.</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fresh chat in the project and ask for a one-paragraph Q4 summary.</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folder holds the data, instructions, skill and dashboard, ready to share.</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Meridian Finance Reporting project exists, backed by a folder containing the finance data and brand guidelines, with project instructions set, the daily-brief skill available and the dashboard saved. A brand-new chat in the project produces a Q4 summary in SGD with the correct header and footer without you attaching a file or restating a single rule.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a:t>
            </a:r>
          </a:p>
        </p:txBody>
      </p:sp>
      <p:sp>
        <p:nvSpPr>
          <p:cNvPr id="5" name="Rectangle 4"/>
          <p:cNvSpPr/>
          <p:nvPr/>
        </p:nvSpPr>
        <p:spPr>
          <a:xfrm>
            <a:off x="548640" y="1783080"/>
            <a:ext cx="1106424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41148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3895344"/>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07</a:t>
            </a:r>
          </a:p>
          <a:p>
            <a:pPr algn="l">
              <a:spcAft>
                <a:spcPts val="300"/>
              </a:spcAft>
            </a:pPr>
            <a:r>
              <a:rPr sz="1150" b="0">
                <a:solidFill>
                  <a:srgbClr val="6B6862"/>
                </a:solidFill>
                <a:latin typeface="Calibri"/>
              </a:rPr>
              <a:t>You can now assemble the data, instructions, skill and dashboard into one reusable Project.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Process documents</a:t>
            </a:r>
          </a:p>
          <a:p>
            <a:pPr algn="l">
              <a:spcAft>
                <a:spcPts val="300"/>
              </a:spcAft>
            </a:pPr>
            <a:r>
              <a:rPr sz="11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a Live Artefact</a:t>
            </a:r>
          </a:p>
          <a:p>
            <a:pPr algn="l">
              <a:spcAft>
                <a:spcPts val="300"/>
              </a:spcAft>
            </a:pPr>
            <a:r>
              <a:rPr sz="11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Drive</a:t>
            </a:r>
          </a:p>
          <a:p>
            <a:pPr algn="l">
              <a:spcAft>
                <a:spcPts val="300"/>
              </a:spcAft>
            </a:pPr>
            <a:r>
              <a:rPr sz="1150" b="0">
                <a:solidFill>
                  <a:srgbClr val="6B6862"/>
                </a:solidFill>
                <a:latin typeface="Calibri"/>
              </a:rPr>
              <a:t>Connect the Google Drive connector so Claude can read finance data held outside the chat.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Deliver by Gmail</a:t>
            </a:r>
          </a:p>
          <a:p>
            <a:pPr algn="l">
              <a:spcAft>
                <a:spcPts val="300"/>
              </a:spcAft>
            </a:pPr>
            <a:r>
              <a:rPr sz="11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Save it as a skill</a:t>
            </a:r>
          </a:p>
          <a:p>
            <a:pPr algn="l">
              <a:spcAft>
                <a:spcPts val="300"/>
              </a:spcAft>
            </a:pPr>
            <a:r>
              <a:rPr sz="1150" b="0">
                <a:solidFill>
                  <a:srgbClr val="6B6862"/>
                </a:solidFill>
                <a:latin typeface="Calibri"/>
              </a:rPr>
              <a:t>Turn a verified routine into an Agent Skill with /skill-creator, update it, and explain a skill's three layers.</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the Project</a:t>
            </a:r>
          </a:p>
          <a:p>
            <a:pPr algn="l">
              <a:spcAft>
                <a:spcPts val="300"/>
              </a:spcAft>
            </a:pPr>
            <a:r>
              <a:rPr sz="1150" b="0">
                <a:solidFill>
                  <a:srgbClr val="6B6862"/>
                </a:solidFill>
                <a:latin typeface="Calibri"/>
              </a:rPr>
              <a:t>Assemble a Claude Project that holds the data, instructions, skill and dashboard as one reusable team workspace.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Meridian data — never real client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numbers back against the source file before you trust them.</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the drafted email in full; approve it only when the figures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client.</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original</a:t>
            </a:r>
          </a:p>
          <a:p>
            <a:pPr algn="l">
              <a:spcAft>
                <a:spcPts val="300"/>
              </a:spcAft>
            </a:pPr>
            <a:r>
              <a:rPr sz="1150" b="0">
                <a:solidFill>
                  <a:srgbClr val="6B6862"/>
                </a:solidFill>
                <a:latin typeface="Calibri"/>
              </a:rPr>
              <a:t>Let Claude write new files; leave the source data untouched.</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Rebuild it with your own data</a:t>
            </a:r>
          </a:p>
          <a:p>
            <a:pPr algn="l">
              <a:spcAft>
                <a:spcPts val="300"/>
              </a:spcAft>
            </a:pPr>
            <a:r>
              <a:rPr sz="1150" b="0">
                <a:solidFill>
                  <a:srgbClr val="6B6862"/>
                </a:solidFill>
                <a:latin typeface="Calibri"/>
              </a:rPr>
              <a:t>Repeat Lab 2 using a real report you own, on a copy of the file.</a:t>
            </a:r>
          </a:p>
        </p:txBody>
      </p:sp>
      <p:sp>
        <p:nvSpPr>
          <p:cNvPr id="10" name="Rectangle 9"/>
          <p:cNvSpPr/>
          <p:nvPr/>
        </p:nvSpPr>
        <p:spPr>
          <a:xfrm>
            <a:off x="6163056" y="1783080"/>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one source</a:t>
            </a:r>
          </a:p>
          <a:p>
            <a:pPr algn="l">
              <a:spcAft>
                <a:spcPts val="300"/>
              </a:spcAft>
            </a:pPr>
            <a:r>
              <a:rPr sz="1150" b="0">
                <a:solidFill>
                  <a:srgbClr val="6B6862"/>
                </a:solidFill>
                <a:latin typeface="Calibri"/>
              </a:rPr>
              <a:t>Enable the connector for the place your finance data actually lives.</a:t>
            </a:r>
          </a:p>
        </p:txBody>
      </p:sp>
      <p:sp>
        <p:nvSpPr>
          <p:cNvPr id="15" name="Rectangle 14"/>
          <p:cNvSpPr/>
          <p:nvPr/>
        </p:nvSpPr>
        <p:spPr>
          <a:xfrm>
            <a:off x="548640" y="3922776"/>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Automate one routine</a:t>
            </a:r>
          </a:p>
          <a:p>
            <a:pPr algn="l">
              <a:spcAft>
                <a:spcPts val="300"/>
              </a:spcAft>
            </a:pPr>
            <a:r>
              <a:rPr sz="1150" b="0">
                <a:solidFill>
                  <a:srgbClr val="6B6862"/>
                </a:solidFill>
                <a:latin typeface="Calibri"/>
              </a:rPr>
              <a:t>Pick the thing you do every morning and capture it as a skill.</a:t>
            </a:r>
          </a:p>
        </p:txBody>
      </p:sp>
      <p:sp>
        <p:nvSpPr>
          <p:cNvPr id="20" name="Rectangle 19"/>
          <p:cNvSpPr/>
          <p:nvPr/>
        </p:nvSpPr>
        <p:spPr>
          <a:xfrm>
            <a:off x="6163056" y="3922776"/>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4032504"/>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Project</a:t>
            </a:r>
          </a:p>
          <a:p>
            <a:pPr algn="l">
              <a:spcAft>
                <a:spcPts val="300"/>
              </a:spcAft>
            </a:pPr>
            <a:r>
              <a:rPr sz="1150" b="0">
                <a:solidFill>
                  <a:srgbClr val="6B6862"/>
                </a:solidFill>
                <a:latin typeface="Calibri"/>
              </a:rPr>
              <a:t>Give your main body of work a project folder, and let the context build.</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Cowork toolkit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Live Artefact dashboard, two connected tools, a daily-brief skill and the Project that holds them all.</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81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