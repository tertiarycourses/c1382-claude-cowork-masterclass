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lIns="0" rIns="0" tIns="0" bIns="0">
            <a:spAutoFit/>
          </a:bodyPr>
          <a:lstStyle/>
          <a:p>
            <a:pPr algn="l">
              <a:spcAft>
                <a:spcPts val="400"/>
              </a:spcAft>
            </a:pPr>
            <a:r>
              <a:rPr sz="1400" b="1">
                <a:solidFill>
                  <a:srgbClr val="D97757"/>
                </a:solidFill>
                <a:latin typeface="Calibri"/>
              </a:rPr>
              <a:t>NON-WSQ COURSE  •  C1382</a:t>
            </a:r>
          </a:p>
        </p:txBody>
      </p:sp>
      <p:sp>
        <p:nvSpPr>
          <p:cNvPr id="6" name="TextBox 5"/>
          <p:cNvSpPr txBox="1"/>
          <p:nvPr/>
        </p:nvSpPr>
        <p:spPr>
          <a:xfrm>
            <a:off x="822960" y="1755648"/>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Version v3.1  ·  17 September 2026</a:t>
            </a:r>
          </a:p>
        </p:txBody>
      </p:sp>
      <p:sp>
        <p:nvSpPr>
          <p:cNvPr id="7" name="TextBox 6"/>
          <p:cNvSpPr txBox="1"/>
          <p:nvPr/>
        </p:nvSpPr>
        <p:spPr>
          <a:xfrm>
            <a:off x="777240" y="2240280"/>
            <a:ext cx="8778240" cy="1737360"/>
          </a:xfrm>
          <a:prstGeom prst="rect">
            <a:avLst/>
          </a:prstGeom>
          <a:noFill/>
        </p:spPr>
        <p:txBody>
          <a:bodyPr wrap="square" anchor="ctr" lIns="0" rIns="0" tIns="0" bIns="0">
            <a:spAutoFit/>
          </a:bodyPr>
          <a:lstStyle/>
          <a:p>
            <a:pPr algn="l">
              <a:spcAft>
                <a:spcPts val="400"/>
              </a:spcAft>
            </a:pPr>
            <a:r>
              <a:rPr sz="5200" b="1">
                <a:solidFill>
                  <a:srgbClr val="FFFFFF"/>
                </a:solidFill>
                <a:latin typeface="Cambria"/>
              </a:rPr>
              <a:t>Claude Cowork Masterclass</a:t>
            </a:r>
          </a:p>
        </p:txBody>
      </p:sp>
      <p:sp>
        <p:nvSpPr>
          <p:cNvPr id="8" name="TextBox 7"/>
          <p:cNvSpPr txBox="1"/>
          <p:nvPr/>
        </p:nvSpPr>
        <p:spPr>
          <a:xfrm>
            <a:off x="822960" y="4069080"/>
            <a:ext cx="8229600" cy="457200"/>
          </a:xfrm>
          <a:prstGeom prst="rect">
            <a:avLst/>
          </a:prstGeom>
          <a:noFill/>
        </p:spPr>
        <p:txBody>
          <a:bodyPr wrap="square" anchor="t" lIns="0" rIns="0" tIns="0" bIns="0">
            <a:spAutoFit/>
          </a:bodyPr>
          <a:lstStyle/>
          <a:p>
            <a:pPr algn="l">
              <a:spcAft>
                <a:spcPts val="400"/>
              </a:spcAft>
            </a:pPr>
            <a:r>
              <a:rPr sz="1600" b="0">
                <a:solidFill>
                  <a:srgbClr val="B9B4A9"/>
                </a:solidFill>
                <a:latin typeface="Calibri"/>
              </a:rPr>
              <a:t>Live Artefacts, connected tools, skills and Projects — for finance teams</a:t>
            </a:r>
          </a:p>
        </p:txBody>
      </p:sp>
      <p:sp>
        <p:nvSpPr>
          <p:cNvPr id="9" name="TextBox 8"/>
          <p:cNvSpPr txBox="1"/>
          <p:nvPr/>
        </p:nvSpPr>
        <p:spPr>
          <a:xfrm>
            <a:off x="822960" y="5212080"/>
            <a:ext cx="10058400" cy="640080"/>
          </a:xfrm>
          <a:prstGeom prst="rect">
            <a:avLst/>
          </a:prstGeom>
          <a:noFill/>
        </p:spPr>
        <p:txBody>
          <a:bodyPr wrap="square" anchor="t" lIns="0" rIns="0" tIns="0" bIns="0">
            <a:spAutoFit/>
          </a:bodyPr>
          <a:lstStyle/>
          <a:p>
            <a:pPr algn="l">
              <a:spcAft>
                <a:spcPts val="300"/>
              </a:spcAft>
            </a:pPr>
            <a:r>
              <a:rPr sz="1500" b="1">
                <a:solidFill>
                  <a:srgbClr val="FFFFFF"/>
                </a:solidFill>
                <a:latin typeface="Calibri"/>
              </a:rPr>
              <a:t>Tertiary Infotech Academy Pte Ltd</a:t>
            </a:r>
          </a:p>
          <a:p>
            <a:pPr algn="l">
              <a:spcAft>
                <a:spcPts val="300"/>
              </a:spcAft>
            </a:pPr>
            <a:r>
              <a:rPr sz="1300" b="0">
                <a:solidFill>
                  <a:srgbClr val="B9B4A9"/>
                </a:solidFill>
                <a:latin typeface="Calibri"/>
              </a:rPr>
              <a:t>UEN: 201200696W</a:t>
            </a:r>
          </a:p>
        </p:txBody>
      </p:sp>
      <p:sp>
        <p:nvSpPr>
          <p:cNvPr id="10" name="TextBox 9"/>
          <p:cNvSpPr txBox="1"/>
          <p:nvPr/>
        </p:nvSpPr>
        <p:spPr>
          <a:xfrm>
            <a:off x="822960" y="6172200"/>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www.tertiarycourses.com.sg   |   enquiry@tertiaryinfotech.com   |   +65 6100 0613</a:t>
            </a:r>
          </a:p>
        </p:txBody>
      </p:sp>
      <p:sp>
        <p:nvSpPr>
          <p:cNvPr id="11" name="TextBox 10"/>
          <p:cNvSpPr txBox="1"/>
          <p:nvPr/>
        </p:nvSpPr>
        <p:spPr>
          <a:xfrm>
            <a:off x="822960" y="6492240"/>
            <a:ext cx="5486400" cy="274320"/>
          </a:xfrm>
          <a:prstGeom prst="rect">
            <a:avLst/>
          </a:prstGeom>
          <a:noFill/>
        </p:spPr>
        <p:txBody>
          <a:bodyPr wrap="square" anchor="t" lIns="0" rIns="0" tIns="0" bIns="0">
            <a:spAutoFit/>
          </a:bodyPr>
          <a:lstStyle/>
          <a:p>
            <a:pPr algn="l">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COURSE ADMINISTRATION</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Welcome</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Introductions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Ground rules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Course outline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How today runs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Let's Know Each Other</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Take a minute to introduce yourself to the class.</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name and role</a:t>
            </a:r>
          </a:p>
          <a:p>
            <a:pPr algn="l">
              <a:spcAft>
                <a:spcPts val="300"/>
              </a:spcAft>
            </a:pPr>
            <a:r>
              <a:rPr sz="1150" b="0">
                <a:solidFill>
                  <a:srgbClr val="6B6862"/>
                </a:solidFill>
                <a:latin typeface="Calibri"/>
              </a:rPr>
              <a:t>Which team you sit in and what you are responsible for.</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reporting work</a:t>
            </a:r>
          </a:p>
          <a:p>
            <a:pPr algn="l">
              <a:spcAft>
                <a:spcPts val="300"/>
              </a:spcAft>
            </a:pPr>
            <a:r>
              <a:rPr sz="1150" b="0">
                <a:solidFill>
                  <a:srgbClr val="6B6862"/>
                </a:solidFill>
                <a:latin typeface="Calibri"/>
              </a:rPr>
              <a:t>One report or summary you produce again and again.</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tools</a:t>
            </a:r>
          </a:p>
          <a:p>
            <a:pPr algn="l">
              <a:spcAft>
                <a:spcPts val="300"/>
              </a:spcAft>
            </a:pPr>
            <a:r>
              <a:rPr sz="1150" b="0">
                <a:solidFill>
                  <a:srgbClr val="6B6862"/>
                </a:solidFill>
                <a:latin typeface="Calibri"/>
              </a:rPr>
              <a:t>Whether your finance data lives in Excel, Google Drive or a system.</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goal today</a:t>
            </a:r>
          </a:p>
          <a:p>
            <a:pPr algn="l">
              <a:spcAft>
                <a:spcPts val="300"/>
              </a:spcAft>
            </a:pPr>
            <a:r>
              <a:rPr sz="1150" b="0">
                <a:solidFill>
                  <a:srgbClr val="6B6862"/>
                </a:solidFill>
                <a:latin typeface="Calibri"/>
              </a:rPr>
              <a:t>What you would most like to stop doing by hand.</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Ground Rules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Phones on silent</a:t>
            </a:r>
          </a:p>
          <a:p>
            <a:pPr algn="l">
              <a:spcAft>
                <a:spcPts val="300"/>
              </a:spcAft>
            </a:pPr>
            <a:r>
              <a:rPr sz="1150" b="0">
                <a:solidFill>
                  <a:srgbClr val="6B6862"/>
                </a:solidFill>
                <a:latin typeface="Calibri"/>
              </a:rPr>
              <a:t>Step out quietly if you need to take a call.</a:t>
            </a:r>
          </a:p>
        </p:txBody>
      </p:sp>
      <p:sp>
        <p:nvSpPr>
          <p:cNvPr id="8" name="Rectangle 7"/>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Ask as you go</a:t>
            </a:r>
          </a:p>
          <a:p>
            <a:pPr algn="l">
              <a:spcAft>
                <a:spcPts val="300"/>
              </a:spcAft>
            </a:pPr>
            <a:r>
              <a:rPr sz="1150" b="0">
                <a:solidFill>
                  <a:srgbClr val="6B6862"/>
                </a:solidFill>
                <a:latin typeface="Calibri"/>
              </a:rPr>
              <a:t>No question is too small — others usually have the same one.</a:t>
            </a:r>
          </a:p>
        </p:txBody>
      </p:sp>
      <p:sp>
        <p:nvSpPr>
          <p:cNvPr id="11" name="Rectangle 10"/>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Learn by doing</a:t>
            </a:r>
          </a:p>
          <a:p>
            <a:pPr algn="l">
              <a:spcAft>
                <a:spcPts val="300"/>
              </a:spcAft>
            </a:pPr>
            <a:r>
              <a:rPr sz="1150" b="0">
                <a:solidFill>
                  <a:srgbClr val="6B6862"/>
                </a:solidFill>
                <a:latin typeface="Calibri"/>
              </a:rPr>
              <a:t>Every topic ends with a lab you build yourself.</a:t>
            </a:r>
          </a:p>
        </p:txBody>
      </p:sp>
      <p:sp>
        <p:nvSpPr>
          <p:cNvPr id="14" name="Rectangle 13"/>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the mock data</a:t>
            </a:r>
          </a:p>
          <a:p>
            <a:pPr algn="l">
              <a:spcAft>
                <a:spcPts val="300"/>
              </a:spcAft>
            </a:pPr>
            <a:r>
              <a:rPr sz="1150" b="0">
                <a:solidFill>
                  <a:srgbClr val="6B6862"/>
                </a:solidFill>
                <a:latin typeface="Calibri"/>
              </a:rPr>
              <a:t>Never bring real client or personal data into a training exercise.</a:t>
            </a:r>
          </a:p>
        </p:txBody>
      </p:sp>
      <p:sp>
        <p:nvSpPr>
          <p:cNvPr id="17" name="Rectangle 16"/>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before you send</a:t>
            </a:r>
          </a:p>
          <a:p>
            <a:pPr algn="l">
              <a:spcAft>
                <a:spcPts val="300"/>
              </a:spcAft>
            </a:pPr>
            <a:r>
              <a:rPr sz="1150" b="0">
                <a:solidFill>
                  <a:srgbClr val="6B6862"/>
                </a:solidFill>
                <a:latin typeface="Calibri"/>
              </a:rPr>
              <a:t>Approve every draft against the source figures.</a:t>
            </a:r>
          </a:p>
        </p:txBody>
      </p:sp>
      <p:sp>
        <p:nvSpPr>
          <p:cNvPr id="20" name="Rectangle 1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Mutual respect</a:t>
            </a:r>
          </a:p>
          <a:p>
            <a:pPr algn="l">
              <a:spcAft>
                <a:spcPts val="300"/>
              </a:spcAft>
            </a:pPr>
            <a:r>
              <a:rPr sz="1150" b="0">
                <a:solidFill>
                  <a:srgbClr val="6B6862"/>
                </a:solidFill>
                <a:latin typeface="Calibri"/>
              </a:rPr>
              <a:t>One conversation at a time; agree to disagree.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ROADMAP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Course Outline</a:t>
            </a:r>
          </a:p>
        </p:txBody>
      </p:sp>
      <p:sp>
        <p:nvSpPr>
          <p:cNvPr id="5" name="Rectangle 4"/>
          <p:cNvSpPr/>
          <p:nvPr/>
        </p:nvSpPr>
        <p:spPr>
          <a:xfrm>
            <a:off x="548640"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1</a:t>
            </a:r>
          </a:p>
        </p:txBody>
      </p:sp>
      <p:sp>
        <p:nvSpPr>
          <p:cNvPr id="8" name="TextBox 7"/>
          <p:cNvSpPr txBox="1"/>
          <p:nvPr/>
        </p:nvSpPr>
        <p:spPr>
          <a:xfrm>
            <a:off x="822960"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Cowork Fundamentals</a:t>
            </a:r>
          </a:p>
        </p:txBody>
      </p:sp>
      <p:sp>
        <p:nvSpPr>
          <p:cNvPr id="9" name="TextBox 8"/>
          <p:cNvSpPr txBox="1"/>
          <p:nvPr/>
        </p:nvSpPr>
        <p:spPr>
          <a:xfrm>
            <a:off x="868680"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The Claude product family</a:t>
            </a:r>
          </a:p>
          <a:p>
            <a:pPr algn="l">
              <a:spcAft>
                <a:spcPts val="800"/>
              </a:spcAft>
            </a:pPr>
            <a:r>
              <a:rPr sz="1200" b="0">
                <a:solidFill>
                  <a:srgbClr val="6B6862"/>
                </a:solidFill>
                <a:latin typeface="Calibri"/>
              </a:rPr>
              <a:t>•  Set up Cowork</a:t>
            </a:r>
          </a:p>
          <a:p>
            <a:pPr algn="l">
              <a:spcAft>
                <a:spcPts val="800"/>
              </a:spcAft>
            </a:pPr>
            <a:r>
              <a:rPr sz="1200" b="0">
                <a:solidFill>
                  <a:srgbClr val="6B6862"/>
                </a:solidFill>
                <a:latin typeface="Calibri"/>
              </a:rPr>
              <a:t>•  Live Artefacts</a:t>
            </a:r>
          </a:p>
          <a:p>
            <a:pPr algn="l">
              <a:spcAft>
                <a:spcPts val="800"/>
              </a:spcAft>
            </a:pPr>
            <a:r>
              <a:rPr sz="1200" b="0">
                <a:solidFill>
                  <a:srgbClr val="6B6862"/>
                </a:solidFill>
                <a:latin typeface="Calibri"/>
              </a:rPr>
              <a:t>•  Working with documents</a:t>
            </a:r>
          </a:p>
        </p:txBody>
      </p:sp>
      <p:sp>
        <p:nvSpPr>
          <p:cNvPr id="10" name="Rectangle 9"/>
          <p:cNvSpPr/>
          <p:nvPr/>
        </p:nvSpPr>
        <p:spPr>
          <a:xfrm>
            <a:off x="4325112"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2"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2"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2</a:t>
            </a:r>
          </a:p>
        </p:txBody>
      </p:sp>
      <p:sp>
        <p:nvSpPr>
          <p:cNvPr id="13" name="TextBox 12"/>
          <p:cNvSpPr txBox="1"/>
          <p:nvPr/>
        </p:nvSpPr>
        <p:spPr>
          <a:xfrm>
            <a:off x="4599432"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Tools and Skills</a:t>
            </a:r>
          </a:p>
        </p:txBody>
      </p:sp>
      <p:sp>
        <p:nvSpPr>
          <p:cNvPr id="14" name="TextBox 13"/>
          <p:cNvSpPr txBox="1"/>
          <p:nvPr/>
        </p:nvSpPr>
        <p:spPr>
          <a:xfrm>
            <a:off x="4645152"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Connectors</a:t>
            </a:r>
          </a:p>
          <a:p>
            <a:pPr algn="l">
              <a:spcAft>
                <a:spcPts val="800"/>
              </a:spcAft>
            </a:pPr>
            <a:r>
              <a:rPr sz="1200" b="0">
                <a:solidFill>
                  <a:srgbClr val="6B6862"/>
                </a:solidFill>
                <a:latin typeface="Calibri"/>
              </a:rPr>
              <a:t>•  Drive and Gmail</a:t>
            </a:r>
          </a:p>
          <a:p>
            <a:pPr algn="l">
              <a:spcAft>
                <a:spcPts val="800"/>
              </a:spcAft>
            </a:pPr>
            <a:r>
              <a:rPr sz="1200" b="0">
                <a:solidFill>
                  <a:srgbClr val="6B6862"/>
                </a:solidFill>
                <a:latin typeface="Calibri"/>
              </a:rPr>
              <a:t>•  Agent Skills</a:t>
            </a:r>
          </a:p>
          <a:p>
            <a:pPr algn="l">
              <a:spcAft>
                <a:spcPts val="800"/>
              </a:spcAft>
            </a:pPr>
            <a:r>
              <a:rPr sz="1200" b="0">
                <a:solidFill>
                  <a:srgbClr val="6B6862"/>
                </a:solidFill>
                <a:latin typeface="Calibri"/>
              </a:rPr>
              <a:t>•  Do · Verify · Save</a:t>
            </a:r>
          </a:p>
        </p:txBody>
      </p:sp>
      <p:sp>
        <p:nvSpPr>
          <p:cNvPr id="15" name="Rectangle 14"/>
          <p:cNvSpPr/>
          <p:nvPr/>
        </p:nvSpPr>
        <p:spPr>
          <a:xfrm>
            <a:off x="8101584"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75904"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75904"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3</a:t>
            </a:r>
          </a:p>
        </p:txBody>
      </p:sp>
      <p:sp>
        <p:nvSpPr>
          <p:cNvPr id="18" name="TextBox 17"/>
          <p:cNvSpPr txBox="1"/>
          <p:nvPr/>
        </p:nvSpPr>
        <p:spPr>
          <a:xfrm>
            <a:off x="8375904"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Projects</a:t>
            </a:r>
          </a:p>
        </p:txBody>
      </p:sp>
      <p:sp>
        <p:nvSpPr>
          <p:cNvPr id="19" name="TextBox 18"/>
          <p:cNvSpPr txBox="1"/>
          <p:nvPr/>
        </p:nvSpPr>
        <p:spPr>
          <a:xfrm>
            <a:off x="8421624"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What a Project is</a:t>
            </a:r>
          </a:p>
          <a:p>
            <a:pPr algn="l">
              <a:spcAft>
                <a:spcPts val="800"/>
              </a:spcAft>
            </a:pPr>
            <a:r>
              <a:rPr sz="1200" b="0">
                <a:solidFill>
                  <a:srgbClr val="6B6862"/>
                </a:solidFill>
                <a:latin typeface="Calibri"/>
              </a:rPr>
              <a:t>•  Project instructions</a:t>
            </a:r>
          </a:p>
          <a:p>
            <a:pPr algn="l">
              <a:spcAft>
                <a:spcPts val="800"/>
              </a:spcAft>
            </a:pPr>
            <a:r>
              <a:rPr sz="1200" b="0">
                <a:solidFill>
                  <a:srgbClr val="6B6862"/>
                </a:solidFill>
                <a:latin typeface="Calibri"/>
              </a:rPr>
              <a:t>•  Assemble the workspace</a:t>
            </a:r>
          </a:p>
          <a:p>
            <a:pPr algn="l">
              <a:spcAft>
                <a:spcPts val="800"/>
              </a:spcAft>
            </a:pPr>
            <a:r>
              <a:rPr sz="1200" b="0">
                <a:solidFill>
                  <a:srgbClr val="6B6862"/>
                </a:solidFill>
                <a:latin typeface="Calibri"/>
              </a:rPr>
              <a:t>•  Lab 7: the Meridian project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Learning Outcomes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Lesson Plan — One Day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9:00am – 6:00pm, with a one-hour lunch and two tea breaks.</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Morning</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9:00  Welcome</a:t>
            </a:r>
          </a:p>
          <a:p>
            <a:pPr algn="l">
              <a:spcAft>
                <a:spcPts val="900"/>
              </a:spcAft>
            </a:pPr>
            <a:r>
              <a:rPr sz="1200" b="0">
                <a:solidFill>
                  <a:srgbClr val="21201C"/>
                </a:solidFill>
                <a:latin typeface="Calibri"/>
              </a:rPr>
              <a:t>•  9:20  Topic 1 — Claude Cowork Fundamentals</a:t>
            </a:r>
          </a:p>
          <a:p>
            <a:pPr algn="l">
              <a:spcAft>
                <a:spcPts val="900"/>
              </a:spcAft>
            </a:pPr>
            <a:r>
              <a:rPr sz="1200" b="0">
                <a:solidFill>
                  <a:srgbClr val="21201C"/>
                </a:solidFill>
                <a:latin typeface="Calibri"/>
              </a:rPr>
              <a:t>•  10:00  Topic 1 — Live Artefacts</a:t>
            </a:r>
          </a:p>
          <a:p>
            <a:pPr algn="l">
              <a:spcAft>
                <a:spcPts val="900"/>
              </a:spcAft>
            </a:pPr>
            <a:r>
              <a:rPr sz="1200" b="0">
                <a:solidFill>
                  <a:srgbClr val="21201C"/>
                </a:solidFill>
                <a:latin typeface="Calibri"/>
              </a:rPr>
              <a:t>•  10:30  Tea break</a:t>
            </a:r>
          </a:p>
          <a:p>
            <a:pPr algn="l">
              <a:spcAft>
                <a:spcPts val="900"/>
              </a:spcAft>
            </a:pPr>
            <a:r>
              <a:rPr sz="1200" b="0">
                <a:solidFill>
                  <a:srgbClr val="21201C"/>
                </a:solidFill>
                <a:latin typeface="Calibri"/>
              </a:rPr>
              <a:t>•  10:45  Topic 1 — Working with documents</a:t>
            </a:r>
          </a:p>
          <a:p>
            <a:pPr algn="l">
              <a:spcAft>
                <a:spcPts val="900"/>
              </a:spcAft>
            </a:pPr>
            <a:r>
              <a:rPr sz="1200" b="0">
                <a:solidFill>
                  <a:srgbClr val="21201C"/>
                </a:solidFill>
                <a:latin typeface="Calibri"/>
              </a:rPr>
              <a:t>•  11:15  Hands-on: Labs 1, 2</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Afternoon</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12:30  Lunch break</a:t>
            </a:r>
          </a:p>
          <a:p>
            <a:pPr algn="l">
              <a:spcAft>
                <a:spcPts val="900"/>
              </a:spcAft>
            </a:pPr>
            <a:r>
              <a:rPr sz="1200" b="0">
                <a:solidFill>
                  <a:srgbClr val="21201C"/>
                </a:solidFill>
                <a:latin typeface="Calibri"/>
              </a:rPr>
              <a:t>•  13:30  Hands-on: Lab 3</a:t>
            </a:r>
          </a:p>
          <a:p>
            <a:pPr algn="l">
              <a:spcAft>
                <a:spcPts val="900"/>
              </a:spcAft>
            </a:pPr>
            <a:r>
              <a:rPr sz="1200" b="0">
                <a:solidFill>
                  <a:srgbClr val="21201C"/>
                </a:solidFill>
                <a:latin typeface="Calibri"/>
              </a:rPr>
              <a:t>•  14:10  Topic 2 — Tools and Skills</a:t>
            </a:r>
          </a:p>
          <a:p>
            <a:pPr algn="l">
              <a:spcAft>
                <a:spcPts val="900"/>
              </a:spcAft>
            </a:pPr>
            <a:r>
              <a:rPr sz="1200" b="0">
                <a:solidFill>
                  <a:srgbClr val="21201C"/>
                </a:solidFill>
                <a:latin typeface="Calibri"/>
              </a:rPr>
              <a:t>•  14:40  Hands-on: Labs 4, 5</a:t>
            </a:r>
          </a:p>
          <a:p>
            <a:pPr algn="l">
              <a:spcAft>
                <a:spcPts val="900"/>
              </a:spcAft>
            </a:pPr>
            <a:r>
              <a:rPr sz="1200" b="0">
                <a:solidFill>
                  <a:srgbClr val="21201C"/>
                </a:solidFill>
                <a:latin typeface="Calibri"/>
              </a:rPr>
              <a:t>•  15:35  Tea break</a:t>
            </a:r>
          </a:p>
          <a:p>
            <a:pPr algn="l">
              <a:spcAft>
                <a:spcPts val="900"/>
              </a:spcAft>
            </a:pPr>
            <a:r>
              <a:rPr sz="1200" b="0">
                <a:solidFill>
                  <a:srgbClr val="21201C"/>
                </a:solidFill>
                <a:latin typeface="Calibri"/>
              </a:rPr>
              <a:t>•  15:50  Topic 2 — Agent Skills</a:t>
            </a:r>
          </a:p>
          <a:p>
            <a:pPr algn="l">
              <a:spcAft>
                <a:spcPts val="900"/>
              </a:spcAft>
            </a:pPr>
            <a:r>
              <a:rPr sz="1200" b="0">
                <a:solidFill>
                  <a:srgbClr val="21201C"/>
                </a:solidFill>
                <a:latin typeface="Calibri"/>
              </a:rPr>
              <a:t>•  16:10  Hands-on: Lab 6</a:t>
            </a:r>
          </a:p>
          <a:p>
            <a:pPr algn="l">
              <a:spcAft>
                <a:spcPts val="900"/>
              </a:spcAft>
            </a:pPr>
            <a:r>
              <a:rPr sz="1200" b="0">
                <a:solidFill>
                  <a:srgbClr val="21201C"/>
                </a:solidFill>
                <a:latin typeface="Calibri"/>
              </a:rPr>
              <a:t>•  16:45  Topic 3 — Claude Projects</a:t>
            </a:r>
          </a:p>
          <a:p>
            <a:pPr algn="l">
              <a:spcAft>
                <a:spcPts val="900"/>
              </a:spcAft>
            </a:pPr>
            <a:r>
              <a:rPr sz="1200" b="0">
                <a:solidFill>
                  <a:srgbClr val="21201C"/>
                </a:solidFill>
                <a:latin typeface="Calibri"/>
              </a:rPr>
              <a:t>•  17:05  Hands-on: Lab 7</a:t>
            </a:r>
          </a:p>
          <a:p>
            <a:pPr algn="l">
              <a:spcAft>
                <a:spcPts val="900"/>
              </a:spcAft>
            </a:pPr>
            <a:r>
              <a:rPr sz="1200" b="0">
                <a:solidFill>
                  <a:srgbClr val="21201C"/>
                </a:solidFill>
                <a:latin typeface="Calibri"/>
              </a:rPr>
              <a:t>•  17:45  Recap</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How You'll Learn</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Watch</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trainer demonstrates the technique live.</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Build</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You build it yourself in the hands-on lab.</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Check</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Verify your output against the lab's check step.</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Discuss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We troubleshoot together as a class.</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Reuse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Take the artefact and the prompt back to your own work.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Seven labs, one continuous scenario — each lab builds on the one before it.</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THE SCENARIO</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One firm, seven labs</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Meridian Capital Partners is a fictitious Singapore-based investment and advisory firm with four revenue desks — Advisory, Asset Management, Private Credit and Corporate Finance. All figures, clients, staff and documents in this course are synthetic and used for training only.</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01</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Cowork Fundamentals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The Claude product family</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Set up Cowork</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Live Artefacts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Working with documents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Claude Product Family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Anthropic offers several Claude products — here's how they differ so you know which is which.</a:t>
            </a:r>
          </a:p>
        </p:txBody>
      </p:sp>
      <p:sp>
        <p:nvSpPr>
          <p:cNvPr id="6" name="Rectangle 5"/>
          <p:cNvSpPr/>
          <p:nvPr/>
        </p:nvSpPr>
        <p:spPr>
          <a:xfrm>
            <a:off x="54864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A</a:t>
            </a:r>
          </a:p>
        </p:txBody>
      </p:sp>
      <p:sp>
        <p:nvSpPr>
          <p:cNvPr id="9" name="TextBox 8"/>
          <p:cNvSpPr txBox="1"/>
          <p:nvPr/>
        </p:nvSpPr>
        <p:spPr>
          <a:xfrm>
            <a:off x="82296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Claude.ai</a:t>
            </a:r>
          </a:p>
        </p:txBody>
      </p:sp>
      <p:sp>
        <p:nvSpPr>
          <p:cNvPr id="10" name="TextBox 9"/>
          <p:cNvSpPr txBox="1"/>
          <p:nvPr/>
        </p:nvSpPr>
        <p:spPr>
          <a:xfrm>
            <a:off x="82296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The chat assistant on web, desktop &amp; mobile for everyday tasks.</a:t>
            </a:r>
          </a:p>
        </p:txBody>
      </p:sp>
      <p:sp>
        <p:nvSpPr>
          <p:cNvPr id="11" name="Rectangle 10"/>
          <p:cNvSpPr/>
          <p:nvPr/>
        </p:nvSpPr>
        <p:spPr>
          <a:xfrm>
            <a:off x="336042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4" name="TextBox 13"/>
          <p:cNvSpPr txBox="1"/>
          <p:nvPr/>
        </p:nvSpPr>
        <p:spPr>
          <a:xfrm>
            <a:off x="363474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Code</a:t>
            </a:r>
          </a:p>
        </p:txBody>
      </p:sp>
      <p:sp>
        <p:nvSpPr>
          <p:cNvPr id="15" name="TextBox 14"/>
          <p:cNvSpPr txBox="1"/>
          <p:nvPr/>
        </p:nvSpPr>
        <p:spPr>
          <a:xfrm>
            <a:off x="363474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Agentic coding tool in your terminal, IDE &amp; desktop.</a:t>
            </a:r>
          </a:p>
        </p:txBody>
      </p:sp>
      <p:sp>
        <p:nvSpPr>
          <p:cNvPr id="16" name="Rectangle 15"/>
          <p:cNvSpPr/>
          <p:nvPr/>
        </p:nvSpPr>
        <p:spPr>
          <a:xfrm>
            <a:off x="617220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9" name="TextBox 18"/>
          <p:cNvSpPr txBox="1"/>
          <p:nvPr/>
        </p:nvSpPr>
        <p:spPr>
          <a:xfrm>
            <a:off x="644652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Cowork</a:t>
            </a:r>
          </a:p>
        </p:txBody>
      </p:sp>
      <p:sp>
        <p:nvSpPr>
          <p:cNvPr id="20" name="TextBox 19"/>
          <p:cNvSpPr txBox="1"/>
          <p:nvPr/>
        </p:nvSpPr>
        <p:spPr>
          <a:xfrm>
            <a:off x="644652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Desktop agent for non-developers to automate files &amp; tasks.</a:t>
            </a:r>
          </a:p>
        </p:txBody>
      </p:sp>
      <p:sp>
        <p:nvSpPr>
          <p:cNvPr id="21" name="Rectangle 20"/>
          <p:cNvSpPr/>
          <p:nvPr/>
        </p:nvSpPr>
        <p:spPr>
          <a:xfrm>
            <a:off x="898398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D</a:t>
            </a:r>
          </a:p>
        </p:txBody>
      </p:sp>
      <p:sp>
        <p:nvSpPr>
          <p:cNvPr id="24" name="TextBox 23"/>
          <p:cNvSpPr txBox="1"/>
          <p:nvPr/>
        </p:nvSpPr>
        <p:spPr>
          <a:xfrm>
            <a:off x="925830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Design</a:t>
            </a:r>
          </a:p>
        </p:txBody>
      </p:sp>
      <p:sp>
        <p:nvSpPr>
          <p:cNvPr id="25" name="TextBox 24"/>
          <p:cNvSpPr txBox="1"/>
          <p:nvPr/>
        </p:nvSpPr>
        <p:spPr>
          <a:xfrm>
            <a:off x="925830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Generates polished UI &amp; frontend designs.</a:t>
            </a:r>
          </a:p>
        </p:txBody>
      </p:sp>
      <p:sp>
        <p:nvSpPr>
          <p:cNvPr id="26" name="Rectangle 25"/>
          <p:cNvSpPr/>
          <p:nvPr/>
        </p:nvSpPr>
        <p:spPr>
          <a:xfrm>
            <a:off x="54864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M</a:t>
            </a:r>
          </a:p>
        </p:txBody>
      </p:sp>
      <p:sp>
        <p:nvSpPr>
          <p:cNvPr id="29" name="TextBox 28"/>
          <p:cNvSpPr txBox="1"/>
          <p:nvPr/>
        </p:nvSpPr>
        <p:spPr>
          <a:xfrm>
            <a:off x="82296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Microsoft</a:t>
            </a:r>
          </a:p>
        </p:txBody>
      </p:sp>
      <p:sp>
        <p:nvSpPr>
          <p:cNvPr id="30" name="TextBox 29"/>
          <p:cNvSpPr txBox="1"/>
          <p:nvPr/>
        </p:nvSpPr>
        <p:spPr>
          <a:xfrm>
            <a:off x="82296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Claude inside Microsoft 365 &amp; Outlook.</a:t>
            </a:r>
          </a:p>
        </p:txBody>
      </p:sp>
      <p:sp>
        <p:nvSpPr>
          <p:cNvPr id="31" name="Rectangle 30"/>
          <p:cNvSpPr/>
          <p:nvPr/>
        </p:nvSpPr>
        <p:spPr>
          <a:xfrm>
            <a:off x="336042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3474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474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34" name="TextBox 33"/>
          <p:cNvSpPr txBox="1"/>
          <p:nvPr/>
        </p:nvSpPr>
        <p:spPr>
          <a:xfrm>
            <a:off x="363474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Chrome</a:t>
            </a:r>
          </a:p>
        </p:txBody>
      </p:sp>
      <p:sp>
        <p:nvSpPr>
          <p:cNvPr id="35" name="TextBox 34"/>
          <p:cNvSpPr txBox="1"/>
          <p:nvPr/>
        </p:nvSpPr>
        <p:spPr>
          <a:xfrm>
            <a:off x="363474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Browser agent that navigates and acts on the web for you.</a:t>
            </a:r>
          </a:p>
        </p:txBody>
      </p:sp>
      <p:sp>
        <p:nvSpPr>
          <p:cNvPr id="36" name="Rectangle 35"/>
          <p:cNvSpPr/>
          <p:nvPr/>
        </p:nvSpPr>
        <p:spPr>
          <a:xfrm>
            <a:off x="617220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4652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S</a:t>
            </a:r>
          </a:p>
        </p:txBody>
      </p:sp>
      <p:sp>
        <p:nvSpPr>
          <p:cNvPr id="39" name="TextBox 38"/>
          <p:cNvSpPr txBox="1"/>
          <p:nvPr/>
        </p:nvSpPr>
        <p:spPr>
          <a:xfrm>
            <a:off x="644652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Science</a:t>
            </a:r>
          </a:p>
        </p:txBody>
      </p:sp>
      <p:sp>
        <p:nvSpPr>
          <p:cNvPr id="40" name="TextBox 39"/>
          <p:cNvSpPr txBox="1"/>
          <p:nvPr/>
        </p:nvSpPr>
        <p:spPr>
          <a:xfrm>
            <a:off x="644652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Speeds up research workflows for scientists and labs.</a:t>
            </a:r>
          </a:p>
        </p:txBody>
      </p:sp>
      <p:sp>
        <p:nvSpPr>
          <p:cNvPr id="41" name="TextBox 40"/>
          <p:cNvSpPr txBox="1"/>
          <p:nvPr/>
        </p:nvSpPr>
        <p:spPr>
          <a:xfrm>
            <a:off x="548640" y="5641848"/>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All are powered by the same Claude models — they differ in where they run and who they're for.</a:t>
            </a:r>
          </a:p>
        </p:txBody>
      </p:sp>
      <p:sp>
        <p:nvSpPr>
          <p:cNvPr id="42" name="TextBox 4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3" name="TextBox 4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4" name="TextBox 4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Evolution of AI Engineering</a:t>
            </a:r>
          </a:p>
        </p:txBody>
      </p:sp>
      <p:sp>
        <p:nvSpPr>
          <p:cNvPr id="5" name="Rectangle 4"/>
          <p:cNvSpPr/>
          <p:nvPr/>
        </p:nvSpPr>
        <p:spPr>
          <a:xfrm>
            <a:off x="1371600" y="3657600"/>
            <a:ext cx="941832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Prompt Engineering</a:t>
            </a:r>
          </a:p>
        </p:txBody>
      </p:sp>
      <p:sp>
        <p:nvSpPr>
          <p:cNvPr id="7" name="Oval 6"/>
          <p:cNvSpPr/>
          <p:nvPr/>
        </p:nvSpPr>
        <p:spPr>
          <a:xfrm>
            <a:off x="169164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9164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2023</a:t>
            </a:r>
          </a:p>
        </p:txBody>
      </p:sp>
      <p:sp>
        <p:nvSpPr>
          <p:cNvPr id="9" name="TextBox 8"/>
          <p:cNvSpPr txBox="1"/>
          <p:nvPr/>
        </p:nvSpPr>
        <p:spPr>
          <a:xfrm>
            <a:off x="68580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Craft the wording of a single prompt to get good output.</a:t>
            </a:r>
          </a:p>
        </p:txBody>
      </p:sp>
      <p:sp>
        <p:nvSpPr>
          <p:cNvPr id="10" name="TextBox 9"/>
          <p:cNvSpPr txBox="1"/>
          <p:nvPr/>
        </p:nvSpPr>
        <p:spPr>
          <a:xfrm>
            <a:off x="356616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Context Engineering</a:t>
            </a:r>
          </a:p>
        </p:txBody>
      </p:sp>
      <p:sp>
        <p:nvSpPr>
          <p:cNvPr id="11" name="Oval 10"/>
          <p:cNvSpPr/>
          <p:nvPr/>
        </p:nvSpPr>
        <p:spPr>
          <a:xfrm>
            <a:off x="452628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2024</a:t>
            </a:r>
          </a:p>
        </p:txBody>
      </p:sp>
      <p:sp>
        <p:nvSpPr>
          <p:cNvPr id="13" name="TextBox 12"/>
          <p:cNvSpPr txBox="1"/>
          <p:nvPr/>
        </p:nvSpPr>
        <p:spPr>
          <a:xfrm>
            <a:off x="352044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Curate what the model sees — files, memory and tools.</a:t>
            </a:r>
          </a:p>
        </p:txBody>
      </p:sp>
      <p:sp>
        <p:nvSpPr>
          <p:cNvPr id="14" name="TextBox 13"/>
          <p:cNvSpPr txBox="1"/>
          <p:nvPr/>
        </p:nvSpPr>
        <p:spPr>
          <a:xfrm>
            <a:off x="640080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Engineering</a:t>
            </a:r>
          </a:p>
        </p:txBody>
      </p:sp>
      <p:sp>
        <p:nvSpPr>
          <p:cNvPr id="15" name="Oval 14"/>
          <p:cNvSpPr/>
          <p:nvPr/>
        </p:nvSpPr>
        <p:spPr>
          <a:xfrm>
            <a:off x="736092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2025</a:t>
            </a:r>
          </a:p>
        </p:txBody>
      </p:sp>
      <p:sp>
        <p:nvSpPr>
          <p:cNvPr id="17" name="TextBox 16"/>
          <p:cNvSpPr txBox="1"/>
          <p:nvPr/>
        </p:nvSpPr>
        <p:spPr>
          <a:xfrm>
            <a:off x="635508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Build the system around the model: loop, tools, verification.</a:t>
            </a:r>
          </a:p>
        </p:txBody>
      </p:sp>
      <p:sp>
        <p:nvSpPr>
          <p:cNvPr id="18" name="TextBox 17"/>
          <p:cNvSpPr txBox="1"/>
          <p:nvPr/>
        </p:nvSpPr>
        <p:spPr>
          <a:xfrm>
            <a:off x="923544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Systems</a:t>
            </a:r>
          </a:p>
        </p:txBody>
      </p:sp>
      <p:sp>
        <p:nvSpPr>
          <p:cNvPr id="19" name="Oval 18"/>
          <p:cNvSpPr/>
          <p:nvPr/>
        </p:nvSpPr>
        <p:spPr>
          <a:xfrm>
            <a:off x="1019556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6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2026</a:t>
            </a:r>
          </a:p>
        </p:txBody>
      </p:sp>
      <p:sp>
        <p:nvSpPr>
          <p:cNvPr id="21" name="TextBox 20"/>
          <p:cNvSpPr txBox="1"/>
          <p:nvPr/>
        </p:nvSpPr>
        <p:spPr>
          <a:xfrm>
            <a:off x="918972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Agents run long tasks autonomously — Claude Code, Cowork, Codex.</a:t>
            </a:r>
          </a:p>
        </p:txBody>
      </p:sp>
      <p:sp>
        <p:nvSpPr>
          <p:cNvPr id="22" name="TextBox 21"/>
          <p:cNvSpPr txBox="1"/>
          <p:nvPr/>
        </p:nvSpPr>
        <p:spPr>
          <a:xfrm>
            <a:off x="548640" y="58978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More capable models shift the work from wording prompts → curating context → engineering the whole harness.</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Claude Cowork</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runs in the Claude desktop app on a paid plan.</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Install the desktop app</a:t>
            </a:r>
          </a:p>
          <a:p>
            <a:pPr algn="l">
              <a:spcAft>
                <a:spcPts val="300"/>
              </a:spcAft>
            </a:pPr>
            <a:r>
              <a:rPr sz="1150" b="0">
                <a:solidFill>
                  <a:srgbClr val="6B6862"/>
                </a:solidFill>
                <a:latin typeface="Calibri"/>
              </a:rPr>
              <a:t>Download Claude for Mac or Windows from claude.ai/download — Live Artefacts and local file access are desktop features.</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Sign in on a paid plan</a:t>
            </a:r>
          </a:p>
          <a:p>
            <a:pPr algn="l">
              <a:spcAft>
                <a:spcPts val="300"/>
              </a:spcAft>
            </a:pPr>
            <a:r>
              <a:rPr sz="1150" b="0">
                <a:solidFill>
                  <a:srgbClr val="6B6862"/>
                </a:solidFill>
                <a:latin typeface="Calibri"/>
              </a:rPr>
              <a:t>Cowork is available on paid plans; sign in with the account that has your subscription.</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Open Cowork</a:t>
            </a:r>
          </a:p>
          <a:p>
            <a:pPr algn="l">
              <a:spcAft>
                <a:spcPts val="300"/>
              </a:spcAft>
            </a:pPr>
            <a:r>
              <a:rPr sz="1150" b="0">
                <a:solidFill>
                  <a:srgbClr val="6B6862"/>
                </a:solidFill>
                <a:latin typeface="Calibri"/>
              </a:rPr>
              <a:t>Choose Cowork in the sidebar to get the agent workspace rather than a plain chat.</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Point it at a folder</a:t>
            </a:r>
          </a:p>
          <a:p>
            <a:pPr algn="l">
              <a:spcAft>
                <a:spcPts val="300"/>
              </a:spcAft>
            </a:pPr>
            <a:r>
              <a:rPr sz="1150" b="0">
                <a:solidFill>
                  <a:srgbClr val="6B6862"/>
                </a:solidFill>
                <a:latin typeface="Calibri"/>
              </a:rPr>
              <a:t>Connect the one folder for the task so Claude reads your files and writes its output back.</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Enable what it needs</a:t>
            </a:r>
          </a:p>
          <a:p>
            <a:pPr algn="l">
              <a:spcAft>
                <a:spcPts val="300"/>
              </a:spcAft>
            </a:pPr>
            <a:r>
              <a:rPr sz="1150" b="0">
                <a:solidFill>
                  <a:srgbClr val="6B6862"/>
                </a:solidFill>
                <a:latin typeface="Calibri"/>
              </a:rPr>
              <a:t>Turn on only the connectors the task needs, from the + menu.</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app open</a:t>
            </a:r>
          </a:p>
          <a:p>
            <a:pPr algn="l">
              <a:spcAft>
                <a:spcPts val="300"/>
              </a:spcAft>
            </a:pPr>
            <a:r>
              <a:rPr sz="1150" b="0">
                <a:solidFill>
                  <a:srgbClr val="6B6862"/>
                </a:solidFill>
                <a:latin typeface="Calibri"/>
              </a:rPr>
              <a:t>The desktop app must stay open while a task is using your computer.</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Live Artefact?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difference between an answer you read and a tool you keep.</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A normal chat answer</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 static snapshot in the conversation.</a:t>
            </a:r>
          </a:p>
          <a:p>
            <a:pPr algn="l">
              <a:spcAft>
                <a:spcPts val="900"/>
              </a:spcAft>
            </a:pPr>
            <a:r>
              <a:rPr sz="1250" b="0">
                <a:solidFill>
                  <a:srgbClr val="21201C"/>
                </a:solidFill>
                <a:latin typeface="Calibri"/>
              </a:rPr>
              <a:t>•  Scrolls away as the chat grows.</a:t>
            </a:r>
          </a:p>
          <a:p>
            <a:pPr algn="l">
              <a:spcAft>
                <a:spcPts val="900"/>
              </a:spcAft>
            </a:pPr>
            <a:r>
              <a:rPr sz="1250" b="0">
                <a:solidFill>
                  <a:srgbClr val="21201C"/>
                </a:solidFill>
                <a:latin typeface="Calibri"/>
              </a:rPr>
              <a:t>•  Figures are frozen at the moment they were written.</a:t>
            </a:r>
          </a:p>
          <a:p>
            <a:pPr algn="l">
              <a:spcAft>
                <a:spcPts val="900"/>
              </a:spcAft>
            </a:pPr>
            <a:r>
              <a:rPr sz="1250" b="0">
                <a:solidFill>
                  <a:srgbClr val="21201C"/>
                </a:solidFill>
                <a:latin typeface="Calibri"/>
              </a:rPr>
              <a:t>•  You copy and paste to reuse anything.</a:t>
            </a:r>
          </a:p>
          <a:p>
            <a:pPr algn="l">
              <a:spcAft>
                <a:spcPts val="900"/>
              </a:spcAft>
            </a:pPr>
            <a:r>
              <a:rPr sz="1250" b="0">
                <a:solidFill>
                  <a:srgbClr val="21201C"/>
                </a:solidFill>
                <a:latin typeface="Calibri"/>
              </a:rPr>
              <a:t>•  Nothing to click, filter or explore.</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 Live Artefact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An interactive tool with its own space in the sidebar.</a:t>
            </a:r>
          </a:p>
          <a:p>
            <a:pPr algn="l">
              <a:spcAft>
                <a:spcPts val="900"/>
              </a:spcAft>
            </a:pPr>
            <a:r>
              <a:rPr sz="1250" b="0">
                <a:solidFill>
                  <a:srgbClr val="21201C"/>
                </a:solidFill>
                <a:latin typeface="Calibri"/>
              </a:rPr>
              <a:t>•  Reopenable — it stays available after the chat ends.</a:t>
            </a:r>
          </a:p>
          <a:p>
            <a:pPr algn="l">
              <a:spcAft>
                <a:spcPts val="900"/>
              </a:spcAft>
            </a:pPr>
            <a:r>
              <a:rPr sz="1250" b="0">
                <a:solidFill>
                  <a:srgbClr val="21201C"/>
                </a:solidFill>
                <a:latin typeface="Calibri"/>
              </a:rPr>
              <a:t>•  Pulls fresh data when you open it.</a:t>
            </a:r>
          </a:p>
          <a:p>
            <a:pPr algn="l">
              <a:spcAft>
                <a:spcPts val="900"/>
              </a:spcAft>
            </a:pPr>
            <a:r>
              <a:rPr sz="1250" b="0">
                <a:solidFill>
                  <a:srgbClr val="21201C"/>
                </a:solidFill>
                <a:latin typeface="Calibri"/>
              </a:rPr>
              <a:t>•  Keeps what you typed into it between sessions.</a:t>
            </a:r>
          </a:p>
          <a:p>
            <a:pPr algn="l">
              <a:spcAft>
                <a:spcPts val="900"/>
              </a:spcAft>
            </a:pPr>
            <a:r>
              <a:rPr sz="1250" b="0">
                <a:solidFill>
                  <a:srgbClr val="21201C"/>
                </a:solidFill>
                <a:latin typeface="Calibri"/>
              </a:rPr>
              <a:t>•  Clickable: filter, sort and drill into the numbers.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Building a Live Artefact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Describe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the tool you want — a dashboard, tracker or calculator — and what data it shows.</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Generate</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Claude writes the code and renders it in the preview pane beside the chat.</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Refine</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Ask for changes in plain English until the layout and figures are right.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Save it to the sidebar so it persists as a reusable tool, not a lost chat message.</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Download</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Export a copy to file, attach or hand on to someone without Claude.</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You describe the outcome in plain English — Claude writes and runs the code.</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Cowork Fundamentals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Claude Cowork</a:t>
            </a:r>
          </a:p>
          <a:p>
            <a:pPr algn="l">
              <a:spcAft>
                <a:spcPts val="300"/>
              </a:spcAft>
            </a:pPr>
            <a:r>
              <a:rPr sz="1150" b="0">
                <a:solidFill>
                  <a:srgbClr val="6B6862"/>
                </a:solidFill>
                <a:latin typeface="Calibri"/>
              </a:rPr>
              <a:t>The desktop agent that works on your files and tasks — built for non-developers, not coders.</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Live Artefacts</a:t>
            </a:r>
          </a:p>
          <a:p>
            <a:pPr algn="l">
              <a:spcAft>
                <a:spcPts val="300"/>
              </a:spcAft>
            </a:pPr>
            <a:r>
              <a:rPr sz="1150" b="0">
                <a:solidFill>
                  <a:srgbClr val="6B6862"/>
                </a:solidFill>
                <a:latin typeface="Calibri"/>
              </a:rPr>
              <a:t>Interactive tools that persist in your workspace and refresh their data when reopened.</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Desktop, not browser</a:t>
            </a:r>
          </a:p>
          <a:p>
            <a:pPr algn="l">
              <a:spcAft>
                <a:spcPts val="300"/>
              </a:spcAft>
            </a:pPr>
            <a:r>
              <a:rPr sz="1150" b="0">
                <a:solidFill>
                  <a:srgbClr val="6B6862"/>
                </a:solidFill>
                <a:latin typeface="Calibri"/>
              </a:rPr>
              <a:t>Live Artefacts and local file access need the Claude desktop app on a paid plan.</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Describe, don't code</a:t>
            </a:r>
          </a:p>
          <a:p>
            <a:pPr algn="l">
              <a:spcAft>
                <a:spcPts val="300"/>
              </a:spcAft>
            </a:pPr>
            <a:r>
              <a:rPr sz="1150" b="0">
                <a:solidFill>
                  <a:srgbClr val="6B6862"/>
                </a:solidFill>
                <a:latin typeface="Calibri"/>
              </a:rPr>
              <a:t>You describe the tool you want in plain English; Claude writes and runs the code.</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to the sidebar</a:t>
            </a:r>
          </a:p>
          <a:p>
            <a:pPr algn="l">
              <a:spcAft>
                <a:spcPts val="300"/>
              </a:spcAft>
            </a:pPr>
            <a:r>
              <a:rPr sz="1150" b="0">
                <a:solidFill>
                  <a:srgbClr val="6B6862"/>
                </a:solidFill>
                <a:latin typeface="Calibri"/>
              </a:rPr>
              <a:t>A saved artefact is reopenable and reusable — it is not lost in the chat history.</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Download to share</a:t>
            </a:r>
          </a:p>
          <a:p>
            <a:pPr algn="l">
              <a:spcAft>
                <a:spcPts val="300"/>
              </a:spcAft>
            </a:pPr>
            <a:r>
              <a:rPr sz="1150" b="0">
                <a:solidFill>
                  <a:srgbClr val="6B6862"/>
                </a:solidFill>
                <a:latin typeface="Calibri"/>
              </a:rPr>
              <a:t>Export the artefact so it can be filed, attached or handed to someone without Claude.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01</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accountant needs the 2025 supplier invoices summarised and filed. You point Cowork at a folder of 126 PDFs — a full year of invoices, a few expense receipts, and the untidy filenames a real downloads folder collects — and have it read every document, build one CSV, and sort the files into month folders. This is work no dashboard can do: reading documents and acting on your file system. It is also far more than you would ever do by hand, which is the point.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invoices_2025.csv summary plus the PDFs filed into YEAR-MONTH folders.</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local files, PDF reading</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Extract the invoice data and file the PDFs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In this folder are all my invoices from 2025. I need you to process</a:t>
            </a:r>
          </a:p>
          <a:p>
            <a:pPr algn="l">
              <a:spcAft>
                <a:spcPts val="200"/>
              </a:spcAft>
            </a:pPr>
            <a:r>
              <a:rPr sz="1300" b="0">
                <a:solidFill>
                  <a:srgbClr val="21201C"/>
                </a:solidFill>
                <a:latin typeface="Calibri"/>
              </a:rPr>
              <a:t>these so I can send them to my accountant.</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Read each invoice and extract the following data points: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 invoice number</a:t>
            </a:r>
          </a:p>
          <a:p>
            <a:pPr algn="l">
              <a:spcAft>
                <a:spcPts val="200"/>
              </a:spcAft>
            </a:pPr>
            <a:r>
              <a:rPr sz="1300" b="0">
                <a:solidFill>
                  <a:srgbClr val="21201C"/>
                </a:solidFill>
                <a:latin typeface="Calibri"/>
              </a:rPr>
              <a:t>- invoice sender</a:t>
            </a:r>
          </a:p>
          <a:p>
            <a:pPr algn="l">
              <a:spcAft>
                <a:spcPts val="200"/>
              </a:spcAft>
            </a:pPr>
            <a:r>
              <a:rPr sz="1300" b="0">
                <a:solidFill>
                  <a:srgbClr val="21201C"/>
                </a:solidFill>
                <a:latin typeface="Calibri"/>
              </a:rPr>
              <a:t>- invoice sender address</a:t>
            </a:r>
          </a:p>
          <a:p>
            <a:pPr algn="l">
              <a:spcAft>
                <a:spcPts val="200"/>
              </a:spcAft>
            </a:pPr>
            <a:r>
              <a:rPr sz="1300" b="0">
                <a:solidFill>
                  <a:srgbClr val="21201C"/>
                </a:solidFill>
                <a:latin typeface="Calibri"/>
              </a:rPr>
              <a:t>- invoice date</a:t>
            </a:r>
          </a:p>
          <a:p>
            <a:pPr algn="l">
              <a:spcAft>
                <a:spcPts val="200"/>
              </a:spcAft>
            </a:pPr>
            <a:r>
              <a:rPr sz="1300" b="0">
                <a:solidFill>
                  <a:srgbClr val="21201C"/>
                </a:solidFill>
                <a:latin typeface="Calibri"/>
              </a:rPr>
              <a:t>- invoice due date</a:t>
            </a:r>
          </a:p>
          <a:p>
            <a:pPr algn="l">
              <a:spcAft>
                <a:spcPts val="200"/>
              </a:spcAft>
            </a:pPr>
            <a:r>
              <a:rPr sz="1300" b="0">
                <a:solidFill>
                  <a:srgbClr val="21201C"/>
                </a:solidFill>
                <a:latin typeface="Calibri"/>
              </a:rPr>
              <a:t>- total amount due</a:t>
            </a:r>
          </a:p>
          <a:p>
            <a:pPr algn="l">
              <a:spcAft>
                <a:spcPts val="200"/>
              </a:spcAft>
            </a:pPr>
            <a:r>
              <a:rPr sz="1300" b="0">
                <a:solidFill>
                  <a:srgbClr val="21201C"/>
                </a:solidFill>
                <a:latin typeface="Calibri"/>
              </a:rPr>
              <a:t>- currency</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Continues on the next slide.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2600" b="1">
                <a:solidFill>
                  <a:srgbClr val="21201C"/>
                </a:solidFill>
                <a:latin typeface="Cambria"/>
              </a:rPr>
              <a:t>Extract the invoice data and file the PDFs (cont.)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Then create a CSV called invoices_2025.csv where you store all this</a:t>
            </a:r>
          </a:p>
          <a:p>
            <a:pPr algn="l">
              <a:spcAft>
                <a:spcPts val="200"/>
              </a:spcAft>
            </a:pPr>
            <a:r>
              <a:rPr sz="1300" b="0">
                <a:solidFill>
                  <a:srgbClr val="21201C"/>
                </a:solidFill>
                <a:latin typeface="Calibri"/>
              </a:rPr>
              <a:t>information as well as the filename.</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After you have extracted the information, move each invoice PDF into</a:t>
            </a:r>
          </a:p>
          <a:p>
            <a:pPr algn="l">
              <a:spcAft>
                <a:spcPts val="200"/>
              </a:spcAft>
            </a:pPr>
            <a:r>
              <a:rPr sz="1300" b="0">
                <a:solidFill>
                  <a:srgbClr val="21201C"/>
                </a:solidFill>
                <a:latin typeface="Calibri"/>
              </a:rPr>
              <a:t>sub folders based on the YEAR-MONTH of the invoice date, using the</a:t>
            </a:r>
          </a:p>
          <a:p>
            <a:pPr algn="l">
              <a:spcAft>
                <a:spcPts val="200"/>
              </a:spcAft>
            </a:pPr>
            <a:r>
              <a:rPr sz="1300" b="0">
                <a:solidFill>
                  <a:srgbClr val="21201C"/>
                </a:solidFill>
                <a:latin typeface="Calibri"/>
              </a:rPr>
              <a:t>naming convention 2025-01, 2025-02 and so on.</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Flag anything that does not look like a normal supplier invoice, or</a:t>
            </a:r>
          </a:p>
          <a:p>
            <a:pPr algn="l">
              <a:spcAft>
                <a:spcPts val="200"/>
              </a:spcAft>
            </a:pPr>
            <a:r>
              <a:rPr sz="1300" b="0">
                <a:solidFill>
                  <a:srgbClr val="21201C"/>
                </a:solidFill>
                <a:latin typeface="Calibri"/>
              </a:rPr>
              <a:t>that you think I should check. Do not delete any file.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Work on a copy of the folder — tell Claude to move files, never to delete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1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Claude desktop app, sign in, and choose Cowork in the sidebar.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Cowork is a desktop feature on a paid plan — the browser version cannot reach your files.</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2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Copy the lab's "2025 Invoices" folder somewhere you can work on it.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Always run a file-moving task against a copy the first time, so a mistake costs nothing.</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3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folder yourself and skim it before you start — 126 files.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Two have machine-generated names and one looks like a duplicate. You cannot check 126 documents by hand, but you can check that the summary adds up.</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4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Cowork session pointed at that folder, then paste the lab prompt.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Cowork needs access to the folder itself, not an attachment, because it must move files as well as read them.</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5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Let Claude work through the PDFs — this one takes a few minutes.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It is reading each document, not guessing from the filename, which is why the oddly-named files still land correctly.</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6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invoices_2025.csv and check the row count against the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Expect 121 invoice rows — 117 in SGD and 4 in USD — with the receipts and the duplicate flagged rather than silently mixed in.</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7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Total the SGD column and compare it against S$777,954.81.</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Spot-check a few rows against the PDFs too: a total that reconciles tells you the extraction held across all 126 files.</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8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8</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currency column — four invoices are in US dollars.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Never sum a mixed-currency column. This is exactly the kind of thing a human check is for.</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8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9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9</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Confirm the PDFs now sit in 2025-01 … 2025-12 folders and nothing was deleted.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file dates come from inside each document, so a file named Jan can still be filed by its real invoice date.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9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10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10</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Read Claude's list of flagged items and decide what to do about each.</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surfaces the exceptions; you make the call — that is the working relationship this course is teaching.</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10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invoices_2025.csv lists every invoice with all seven fields plus the filename. The 117 SGD invoices total S$777,954.81; the four USD invoices are marked USD rather than added to that total. The duplicated invoice and the four expense receipts are flagged rather than counted as ordinary invoices. The PDFs now sit in 2025-01 … 2025-12 folders and all 126 files are still present.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02</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Now you have seen Cowork do a real piece of work, meet the other thing it makes: a Live Artefact. You build a small tool rather than ask a question, so you can see how an artefact differs from a chat answer — it persists, it is interactive, and you can save and download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downloaded Live Artefact — a working Meridian FX converter.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desktop app, Claude Cowork, Live Artefacts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your first Live Artefact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Build me a Live Artefact: a currency converter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Requirements:</a:t>
            </a:r>
          </a:p>
          <a:p>
            <a:pPr algn="l">
              <a:spcAft>
                <a:spcPts val="200"/>
              </a:spcAft>
            </a:pPr>
            <a:r>
              <a:rPr sz="1300" b="0">
                <a:solidFill>
                  <a:srgbClr val="21201C"/>
                </a:solidFill>
                <a:latin typeface="Calibri"/>
              </a:rPr>
              <a:t>- Convert between SGD, USD, EUR and GBP.</a:t>
            </a:r>
          </a:p>
          <a:p>
            <a:pPr algn="l">
              <a:spcAft>
                <a:spcPts val="200"/>
              </a:spcAft>
            </a:pPr>
            <a:r>
              <a:rPr sz="1300" b="0">
                <a:solidFill>
                  <a:srgbClr val="21201C"/>
                </a:solidFill>
                <a:latin typeface="Calibri"/>
              </a:rPr>
              <a:t>- Use these fixed demo rates from SGD: USD 0.74, EUR 0.68, GBP 0.58.</a:t>
            </a:r>
          </a:p>
          <a:p>
            <a:pPr algn="l">
              <a:spcAft>
                <a:spcPts val="200"/>
              </a:spcAft>
            </a:pPr>
            <a:r>
              <a:rPr sz="1300" b="0">
                <a:solidFill>
                  <a:srgbClr val="21201C"/>
                </a:solidFill>
                <a:latin typeface="Calibri"/>
              </a:rPr>
              <a:t>- One amount box, a from-currency and a to-currency selector, and a large result.</a:t>
            </a:r>
          </a:p>
          <a:p>
            <a:pPr algn="l">
              <a:spcAft>
                <a:spcPts val="200"/>
              </a:spcAft>
            </a:pPr>
            <a:r>
              <a:rPr sz="1300" b="0">
                <a:solidFill>
                  <a:srgbClr val="21201C"/>
                </a:solidFill>
                <a:latin typeface="Calibri"/>
              </a:rPr>
              <a:t>- Show the rate used underneath the result.</a:t>
            </a:r>
          </a:p>
          <a:p>
            <a:pPr algn="l">
              <a:spcAft>
                <a:spcPts val="200"/>
              </a:spcAft>
            </a:pPr>
            <a:r>
              <a:rPr sz="1300" b="0">
                <a:solidFill>
                  <a:srgbClr val="21201C"/>
                </a:solidFill>
                <a:latin typeface="Calibri"/>
              </a:rPr>
              <a:t>- Clean, professional finance styling. Label it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Make it interactive so I can change the amount and see the result update.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Rates are fixed demo values so the lab gives the same answer for everyone.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1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new Cowork session — this lab needs no files.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Lab 1 gave Claude a folder to work in; here you are asking it to build something from nothing.</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2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into the composer and send it.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writes the code and renders the converter in the preview pane beside the chat.</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3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Try the converter: change the amount and switch the currencies.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what makes it an artefact rather than an answer — you can interact with it.</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4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Ask for one refinement in plain English, for example: Add a thousands separator to the result.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Refining by conversation is the normal way to work — you never edit the code yourself.</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5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artefact so it appears in your sidebar.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saved artefact persists as a reusable tool; an unsaved one scrolls away with the chat.</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6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Download a copy of the artefact to your lab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Downloading gives you a file you can keep, attach or hand to someone without Claude.</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Converting S$10,000 to USD shows US$7,400. The artefact appears in your sidebar after saving, still works when you reopen it, and a downloaded copy is in your lab folder.</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03</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head of finance wants to see how the four revenue desks performed this year without opening a spreadsheet. You take the supplied sales data and build it into a Live Artefact dashboard — KPI tiles, a trend chart and a desk breakdown — then save it. This dashboard is the artefact every later lab builds on.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Live Artefact dashboard showing Meridian's FY2025 revenue by desk.</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local files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sales dashboard</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attached meridian-sales-fy2025.csv, build me a Live Artefact:</a:t>
            </a:r>
          </a:p>
          <a:p>
            <a:pPr algn="l">
              <a:spcAft>
                <a:spcPts val="200"/>
              </a:spcAft>
            </a:pPr>
            <a:r>
              <a:rPr sz="1300" b="0">
                <a:solidFill>
                  <a:srgbClr val="21201C"/>
                </a:solidFill>
                <a:latin typeface="Calibri"/>
              </a:rPr>
              <a:t>an interactive sales dashboard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Include:</a:t>
            </a:r>
          </a:p>
          <a:p>
            <a:pPr algn="l">
              <a:spcAft>
                <a:spcPts val="200"/>
              </a:spcAft>
            </a:pPr>
            <a:r>
              <a:rPr sz="1300" b="0">
                <a:solidFill>
                  <a:srgbClr val="21201C"/>
                </a:solidFill>
                <a:latin typeface="Calibri"/>
              </a:rPr>
              <a:t>- KPI tiles: total revenue, total deals, average deal size, best desk.</a:t>
            </a:r>
          </a:p>
          <a:p>
            <a:pPr algn="l">
              <a:spcAft>
                <a:spcPts val="200"/>
              </a:spcAft>
            </a:pPr>
            <a:r>
              <a:rPr sz="1300" b="0">
                <a:solidFill>
                  <a:srgbClr val="21201C"/>
                </a:solidFill>
                <a:latin typeface="Calibri"/>
              </a:rPr>
              <a:t>- A monthly revenue trend chart for the full year.</a:t>
            </a:r>
          </a:p>
          <a:p>
            <a:pPr algn="l">
              <a:spcAft>
                <a:spcPts val="200"/>
              </a:spcAft>
            </a:pPr>
            <a:r>
              <a:rPr sz="1300" b="0">
                <a:solidFill>
                  <a:srgbClr val="21201C"/>
                </a:solidFill>
                <a:latin typeface="Calibri"/>
              </a:rPr>
              <a:t>- A breakdown of revenue by desk (Advisory, Asset Management,</a:t>
            </a:r>
          </a:p>
          <a:p>
            <a:pPr algn="l">
              <a:spcAft>
                <a:spcPts val="200"/>
              </a:spcAft>
            </a:pPr>
            <a:r>
              <a:rPr sz="1300" b="0">
                <a:solidFill>
                  <a:srgbClr val="21201C"/>
                </a:solidFill>
                <a:latin typeface="Calibri"/>
              </a:rPr>
              <a:t>  Private Credit, Corporate Finance).</a:t>
            </a:r>
          </a:p>
          <a:p>
            <a:pPr algn="l">
              <a:spcAft>
                <a:spcPts val="200"/>
              </a:spcAft>
            </a:pPr>
            <a:r>
              <a:rPr sz="1300" b="0">
                <a:solidFill>
                  <a:srgbClr val="21201C"/>
                </a:solidFill>
                <a:latin typeface="Calibri"/>
              </a:rPr>
              <a:t>- A filter to show one desk at a time or all desks.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Format all money as Singapore dollars with thousands separators.</a:t>
            </a:r>
          </a:p>
          <a:p>
            <a:pPr algn="l">
              <a:spcAft>
                <a:spcPts val="200"/>
              </a:spcAft>
            </a:pPr>
            <a:r>
              <a:rPr sz="1300" b="0">
                <a:solidFill>
                  <a:srgbClr val="21201C"/>
                </a:solidFill>
                <a:latin typeface="Calibri"/>
              </a:rPr>
              <a:t>Use a clean, professional finance layout. Title it</a:t>
            </a:r>
          </a:p>
          <a:p>
            <a:pPr algn="l">
              <a:spcAft>
                <a:spcPts val="200"/>
              </a:spcAft>
            </a:pPr>
            <a:r>
              <a:rPr sz="1300" b="0">
                <a:solidFill>
                  <a:srgbClr val="21201C"/>
                </a:solidFill>
                <a:latin typeface="Calibri"/>
              </a:rPr>
              <a:t>"Meridian Capital Partners — FY2025 Revenue".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Attach the CSV from your lab's mock-data folder before sending the prompt.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1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lab folder and look at meridian-sales-fy2025.csv so you know what the data holds.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Always know your source before you ask Claude to summarise it — that is how you spot a wrong figure later.</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2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Cowork session and attach the CSV, or point Claude at the lab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Scope Claude to the one folder for this task rather than your whole drive.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3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and send it.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reads the file, works out the totals and builds the dashboard in the preview pane.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4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KPI tiles against the CSV: total revenue should be S$24,850,000 across 214 deals.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the verification habit — read the artefact's numbers back against the source.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5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Use the desk filter to view Advisory on its own, then return to all desks.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Interactivity is the point of a Live Artefact: the reader explores instead of asking you for another cut.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6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Refine the layout in plain English, for example: Move the KPI tiles above the chart.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Keep refining by conversation until the dashboard reads the way you want it to.</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7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dashboard to your sidebar with a clear name, then download a copy.</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You will refresh this same artefact from connected data in Lab 5.</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total revenue S$24,850,000 and 214 deals, Advisory is the best desk at S$8,420,000, the desk filter changes the chart, and the artefact reopens from your sidebar after you close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Cowork Fundamentals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01</a:t>
            </a:r>
          </a:p>
          <a:p>
            <a:pPr algn="l">
              <a:spcAft>
                <a:spcPts val="300"/>
              </a:spcAft>
            </a:pPr>
            <a:r>
              <a:rPr sz="1150" b="0">
                <a:solidFill>
                  <a:srgbClr val="6B6862"/>
                </a:solidFill>
                <a:latin typeface="Calibri"/>
              </a:rPr>
              <a:t>You can now extract structured data from a folder of PDFs and reorganise the files.</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02</a:t>
            </a:r>
          </a:p>
          <a:p>
            <a:pPr algn="l">
              <a:spcAft>
                <a:spcPts val="300"/>
              </a:spcAft>
            </a:pPr>
            <a:r>
              <a:rPr sz="1150" b="0">
                <a:solidFill>
                  <a:srgbClr val="6B6862"/>
                </a:solidFill>
                <a:latin typeface="Calibri"/>
              </a:rPr>
              <a:t>You can now set up the Cowork workspace and build, save and download a Live Artefact.</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03</a:t>
            </a:r>
          </a:p>
          <a:p>
            <a:pPr algn="l">
              <a:spcAft>
                <a:spcPts val="300"/>
              </a:spcAft>
            </a:pPr>
            <a:r>
              <a:rPr sz="1150" b="0">
                <a:solidFill>
                  <a:srgbClr val="6B6862"/>
                </a:solidFill>
                <a:latin typeface="Calibri"/>
              </a:rPr>
              <a:t>You can now turn supplied finance data into an interactive Live Artefact dashboard.</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02</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Tools and Skills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Connectors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Drive and Gmail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Agent Skills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Do · Verify · Save</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51</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TOOLS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Connectors Do</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Connectors let Claude reach data and services that live outside the chat.</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Search and read Sheets, Docs, Slides and PDFs; upload files; create folders; save Claude's output back to Drive.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Search and read mail, draft messages, send / reply / forward with approval, and manage labels.</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Calendar</a:t>
            </a:r>
          </a:p>
          <a:p>
            <a:pPr algn="l">
              <a:spcAft>
                <a:spcPts val="300"/>
              </a:spcAft>
            </a:pPr>
            <a:r>
              <a:rPr sz="1150" b="0">
                <a:solidFill>
                  <a:srgbClr val="6B6862"/>
                </a:solidFill>
                <a:latin typeface="Calibri"/>
              </a:rPr>
              <a:t>View events, find availability, and create or update meetings.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Approval by default</a:t>
            </a:r>
          </a:p>
          <a:p>
            <a:pPr algn="l">
              <a:spcAft>
                <a:spcPts val="300"/>
              </a:spcAft>
            </a:pPr>
            <a:r>
              <a:rPr sz="1150" b="0">
                <a:solidFill>
                  <a:srgbClr val="6B6862"/>
                </a:solidFill>
                <a:latin typeface="Calibri"/>
              </a:rPr>
              <a:t>Claude asks for explicit approval before it sends, replies to or forwards an email.</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Where to manage them</a:t>
            </a:r>
          </a:p>
          <a:p>
            <a:pPr algn="l">
              <a:spcAft>
                <a:spcPts val="300"/>
              </a:spcAft>
            </a:pPr>
            <a:r>
              <a:rPr sz="1150" b="0">
                <a:solidFill>
                  <a:srgbClr val="6B6862"/>
                </a:solidFill>
                <a:latin typeface="Calibri"/>
              </a:rPr>
              <a:t>Individually from the + menu; account-wide under Customize → Connectors.</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Known limits</a:t>
            </a:r>
          </a:p>
          <a:p>
            <a:pPr algn="l">
              <a:spcAft>
                <a:spcPts val="300"/>
              </a:spcAft>
            </a:pPr>
            <a:r>
              <a:rPr sz="1150" b="0">
                <a:solidFill>
                  <a:srgbClr val="6B6862"/>
                </a:solidFill>
                <a:latin typeface="Calibri"/>
              </a:rPr>
              <a:t>Attachment contents are not read (metadata only) and images embedded in Docs are not processed.</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GOOGLE DRIVE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Turning On a Connector</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Open the + menu</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In the chat composer, click the plus sign.</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Hover Connectors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list of available connectors appears.</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Toggle Drive on</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Switch on Google Drive and sign in to your Google account.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Grant access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Approve the permissions Google asks for.</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Name the folder</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which Drive folder to use for this task.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Manage them any time under Customize → Connectors.</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Context Window</a:t>
            </a:r>
          </a:p>
        </p:txBody>
      </p:sp>
      <p:sp>
        <p:nvSpPr>
          <p:cNvPr id="5" name="TextBox 4"/>
          <p:cNvSpPr txBox="1"/>
          <p:nvPr/>
        </p:nvSpPr>
        <p:spPr>
          <a:xfrm>
            <a:off x="685800" y="2331720"/>
            <a:ext cx="822960" cy="822960"/>
          </a:xfrm>
          <a:prstGeom prst="rect">
            <a:avLst/>
          </a:prstGeom>
          <a:noFill/>
        </p:spPr>
        <p:txBody>
          <a:bodyPr wrap="square" anchor="t" lIns="0" rIns="0" tIns="0" bIns="0">
            <a:spAutoFit/>
          </a:bodyPr>
          <a:lstStyle/>
          <a:p>
            <a:pPr algn="l">
              <a:spcAft>
                <a:spcPts val="400"/>
              </a:spcAft>
            </a:pPr>
            <a:r>
              <a:rPr sz="6200" b="1">
                <a:solidFill>
                  <a:srgbClr val="D97757"/>
                </a:solidFill>
                <a:latin typeface="Cambria"/>
              </a:rPr>
              <a:t>“</a:t>
            </a:r>
          </a:p>
        </p:txBody>
      </p:sp>
      <p:sp>
        <p:nvSpPr>
          <p:cNvPr id="6" name="TextBox 5"/>
          <p:cNvSpPr txBox="1"/>
          <p:nvPr/>
        </p:nvSpPr>
        <p:spPr>
          <a:xfrm>
            <a:off x="1508760" y="2606040"/>
            <a:ext cx="9509760" cy="1828800"/>
          </a:xfrm>
          <a:prstGeom prst="rect">
            <a:avLst/>
          </a:prstGeom>
          <a:noFill/>
        </p:spPr>
        <p:txBody>
          <a:bodyPr wrap="square" anchor="ctr" lIns="0" rIns="0" tIns="0" bIns="0">
            <a:spAutoFit/>
          </a:bodyPr>
          <a:lstStyle/>
          <a:p>
            <a:pPr algn="l">
              <a:spcAft>
                <a:spcPts val="400"/>
              </a:spcAft>
            </a:pPr>
            <a:r>
              <a:rPr sz="2100" b="0">
                <a:solidFill>
                  <a:srgbClr val="21201C"/>
                </a:solidFill>
                <a:latin typeface="Courier New"/>
              </a:rPr>
              <a:t>The context window is all the information the model can “see” when producing a response.</a:t>
            </a:r>
          </a:p>
        </p:txBody>
      </p:sp>
      <p:sp>
        <p:nvSpPr>
          <p:cNvPr id="7" name="TextBox 6"/>
          <p:cNvSpPr txBox="1"/>
          <p:nvPr/>
        </p:nvSpPr>
        <p:spPr>
          <a:xfrm>
            <a:off x="10698480" y="4160520"/>
            <a:ext cx="822960" cy="822960"/>
          </a:xfrm>
          <a:prstGeom prst="rect">
            <a:avLst/>
          </a:prstGeom>
          <a:noFill/>
        </p:spPr>
        <p:txBody>
          <a:bodyPr wrap="square" anchor="t" lIns="0" rIns="0" tIns="0" bIns="0">
            <a:spAutoFit/>
          </a:bodyPr>
          <a:lstStyle/>
          <a:p>
            <a:pPr algn="r">
              <a:spcAft>
                <a:spcPts val="400"/>
              </a:spcAft>
            </a:pPr>
            <a:r>
              <a:rPr sz="6200" b="1">
                <a:solidFill>
                  <a:srgbClr val="D97757"/>
                </a:solidFill>
                <a:latin typeface="Cambria"/>
              </a:rPr>
              <a:t>”</a:t>
            </a:r>
          </a:p>
        </p:txBody>
      </p:sp>
      <p:sp>
        <p:nvSpPr>
          <p:cNvPr id="8" name="TextBox 7"/>
          <p:cNvSpPr txBox="1"/>
          <p:nvPr/>
        </p:nvSpPr>
        <p:spPr>
          <a:xfrm>
            <a:off x="548640" y="5669280"/>
            <a:ext cx="11064240" cy="45720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Files, instructions, tools and skills all have to fit inside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Fills the Context Window</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At the start of a session.</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995781"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44421" y="2514600"/>
            <a:ext cx="221284"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65705" y="2514600"/>
            <a:ext cx="276606"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42311" y="2514600"/>
            <a:ext cx="442569"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84880" y="2514600"/>
            <a:ext cx="719175"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6" name="Oval 15"/>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18" name="Oval 17"/>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507492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0" name="Oval 19"/>
          <p:cNvSpPr/>
          <p:nvPr/>
        </p:nvSpPr>
        <p:spPr>
          <a:xfrm>
            <a:off x="608076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2" name="Oval 21"/>
          <p:cNvSpPr/>
          <p:nvPr/>
        </p:nvSpPr>
        <p:spPr>
          <a:xfrm>
            <a:off x="608076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994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4" name="TextBox 23"/>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At the start of a session only the fixed overhead is loaded — most of the window is still free.</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Same Window, Later in the Session</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After reading files, calling tools and running skills.</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663854"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12494" y="2514600"/>
            <a:ext cx="154899"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67393" y="2514600"/>
            <a:ext cx="177027"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44420" y="2514600"/>
            <a:ext cx="331927"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76347" y="2514600"/>
            <a:ext cx="3761841"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38188" y="2514600"/>
            <a:ext cx="1548993" cy="1371600"/>
          </a:xfrm>
          <a:prstGeom prst="rect">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87181" y="2514600"/>
            <a:ext cx="1217066" cy="1371600"/>
          </a:xfrm>
          <a:prstGeom prst="rect">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04247" y="2514600"/>
            <a:ext cx="995781" cy="1371600"/>
          </a:xfrm>
          <a:prstGeom prst="rect">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9" name="Oval 18"/>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21" name="Oval 20"/>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3" name="Oval 22"/>
          <p:cNvSpPr/>
          <p:nvPr/>
        </p:nvSpPr>
        <p:spPr>
          <a:xfrm>
            <a:off x="426720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638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5" name="Oval 24"/>
          <p:cNvSpPr/>
          <p:nvPr/>
        </p:nvSpPr>
        <p:spPr>
          <a:xfrm>
            <a:off x="426720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638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7" name="Oval 26"/>
          <p:cNvSpPr/>
          <p:nvPr/>
        </p:nvSpPr>
        <p:spPr>
          <a:xfrm>
            <a:off x="4267200" y="5120640"/>
            <a:ext cx="182880" cy="182880"/>
          </a:xfrm>
          <a:prstGeom prst="ellipse">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638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Files read</a:t>
            </a:r>
          </a:p>
        </p:txBody>
      </p:sp>
      <p:sp>
        <p:nvSpPr>
          <p:cNvPr id="29" name="Oval 28"/>
          <p:cNvSpPr/>
          <p:nvPr/>
        </p:nvSpPr>
        <p:spPr>
          <a:xfrm>
            <a:off x="7894320" y="4389120"/>
            <a:ext cx="182880" cy="182880"/>
          </a:xfrm>
          <a:prstGeom prst="ellipse">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350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call results</a:t>
            </a:r>
          </a:p>
        </p:txBody>
      </p:sp>
      <p:sp>
        <p:nvSpPr>
          <p:cNvPr id="31" name="Oval 30"/>
          <p:cNvSpPr/>
          <p:nvPr/>
        </p:nvSpPr>
        <p:spPr>
          <a:xfrm>
            <a:off x="7894320" y="4754880"/>
            <a:ext cx="182880" cy="182880"/>
          </a:xfrm>
          <a:prstGeom prst="ellipse">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350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Skills executed</a:t>
            </a:r>
          </a:p>
        </p:txBody>
      </p:sp>
      <p:sp>
        <p:nvSpPr>
          <p:cNvPr id="33" name="TextBox 32"/>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As the task runs, files, tool results and executed skills all accumulate. Start a fresh session for a new task rather than letting one fill up.</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640080" y="713232"/>
            <a:ext cx="10972800" cy="731520"/>
          </a:xfrm>
          <a:prstGeom prst="rect">
            <a:avLst/>
          </a:prstGeom>
          <a:noFill/>
        </p:spPr>
        <p:txBody>
          <a:bodyPr wrap="square" anchor="ctr" lIns="0" rIns="0" tIns="0" bIns="0">
            <a:spAutoFit/>
          </a:bodyPr>
          <a:lstStyle/>
          <a:p>
            <a:pPr algn="l">
              <a:spcAft>
                <a:spcPts val="400"/>
              </a:spcAft>
            </a:pPr>
            <a:r>
              <a:rPr sz="3000" b="1">
                <a:solidFill>
                  <a:srgbClr val="FFFFFF"/>
                </a:solidFill>
                <a:latin typeface="Cambria"/>
              </a:rPr>
              <a:t>When the Context Window Fills Up</a:t>
            </a:r>
          </a:p>
        </p:txBody>
      </p:sp>
      <p:sp>
        <p:nvSpPr>
          <p:cNvPr id="5" name="TextBox 4"/>
          <p:cNvSpPr txBox="1"/>
          <p:nvPr/>
        </p:nvSpPr>
        <p:spPr>
          <a:xfrm>
            <a:off x="640080" y="169164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1. </a:t>
            </a:r>
            <a:r>
              <a:rPr sz="1500" b="1">
                <a:solidFill>
                  <a:srgbClr val="FFFFFF"/>
                </a:solidFill>
                <a:latin typeface="Calibri"/>
              </a:rPr>
              <a:t>Context rot</a:t>
            </a:r>
          </a:p>
        </p:txBody>
      </p:sp>
      <p:sp>
        <p:nvSpPr>
          <p:cNvPr id="6" name="TextBox 5"/>
          <p:cNvSpPr txBox="1"/>
          <p:nvPr/>
        </p:nvSpPr>
        <p:spPr>
          <a:xfrm>
            <a:off x="640080" y="202082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Performance degrades. Recall of specific facts gets worse, the model starts confusing similar entities, and reasoning quality drops.</a:t>
            </a:r>
          </a:p>
        </p:txBody>
      </p:sp>
      <p:sp>
        <p:nvSpPr>
          <p:cNvPr id="7" name="TextBox 6"/>
          <p:cNvSpPr txBox="1"/>
          <p:nvPr/>
        </p:nvSpPr>
        <p:spPr>
          <a:xfrm>
            <a:off x="640080" y="267462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2. </a:t>
            </a:r>
            <a:r>
              <a:rPr sz="1500" b="1">
                <a:solidFill>
                  <a:srgbClr val="FFFFFF"/>
                </a:solidFill>
                <a:latin typeface="Calibri"/>
              </a:rPr>
              <a:t>Tool confusion</a:t>
            </a:r>
          </a:p>
        </p:txBody>
      </p:sp>
      <p:sp>
        <p:nvSpPr>
          <p:cNvPr id="8" name="TextBox 7"/>
          <p:cNvSpPr txBox="1"/>
          <p:nvPr/>
        </p:nvSpPr>
        <p:spPr>
          <a:xfrm>
            <a:off x="640080" y="300380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Claude sees every tool definition. The more options competing for its attention, the more likely it picks the wrong one or fills in the wrong parameters.</a:t>
            </a:r>
          </a:p>
        </p:txBody>
      </p:sp>
      <p:sp>
        <p:nvSpPr>
          <p:cNvPr id="9" name="TextBox 8"/>
          <p:cNvSpPr txBox="1"/>
          <p:nvPr/>
        </p:nvSpPr>
        <p:spPr>
          <a:xfrm>
            <a:off x="640080" y="365760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3. </a:t>
            </a:r>
            <a:r>
              <a:rPr sz="1500" b="1">
                <a:solidFill>
                  <a:srgbClr val="FFFFFF"/>
                </a:solidFill>
                <a:latin typeface="Calibri"/>
              </a:rPr>
              <a:t>Slower responses</a:t>
            </a:r>
          </a:p>
        </p:txBody>
      </p:sp>
      <p:sp>
        <p:nvSpPr>
          <p:cNvPr id="10" name="TextBox 9"/>
          <p:cNvSpPr txBox="1"/>
          <p:nvPr/>
        </p:nvSpPr>
        <p:spPr>
          <a:xfrm>
            <a:off x="640080" y="398678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The model processes every token on every turn. A bigger context means more work per message, which means longer waits before you see a reply.</a:t>
            </a:r>
          </a:p>
        </p:txBody>
      </p:sp>
      <p:sp>
        <p:nvSpPr>
          <p:cNvPr id="11" name="TextBox 10"/>
          <p:cNvSpPr txBox="1"/>
          <p:nvPr/>
        </p:nvSpPr>
        <p:spPr>
          <a:xfrm>
            <a:off x="640080" y="464058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4. </a:t>
            </a:r>
            <a:r>
              <a:rPr sz="1500" b="1">
                <a:solidFill>
                  <a:srgbClr val="FFFFFF"/>
                </a:solidFill>
                <a:latin typeface="Calibri"/>
              </a:rPr>
              <a:t>Eats up your usage faster</a:t>
            </a:r>
          </a:p>
        </p:txBody>
      </p:sp>
      <p:sp>
        <p:nvSpPr>
          <p:cNvPr id="12" name="TextBox 11"/>
          <p:cNvSpPr txBox="1"/>
          <p:nvPr/>
        </p:nvSpPr>
        <p:spPr>
          <a:xfrm>
            <a:off x="640080" y="496976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Your entire context gets resent with each new message — so more tokens are burned per turn, and your limits are reached sooner.</a:t>
            </a:r>
          </a:p>
        </p:txBody>
      </p:sp>
      <p:sp>
        <p:nvSpPr>
          <p:cNvPr id="13" name="TextBox 12"/>
          <p:cNvSpPr txBox="1"/>
          <p:nvPr/>
        </p:nvSpPr>
        <p:spPr>
          <a:xfrm>
            <a:off x="640080" y="5760720"/>
            <a:ext cx="10881360" cy="457200"/>
          </a:xfrm>
          <a:prstGeom prst="rect">
            <a:avLst/>
          </a:prstGeom>
          <a:noFill/>
        </p:spPr>
        <p:txBody>
          <a:bodyPr wrap="square" anchor="t" lIns="0" rIns="0" tIns="0" bIns="0">
            <a:spAutoFit/>
          </a:bodyPr>
          <a:lstStyle/>
          <a:p>
            <a:pPr algn="l">
              <a:spcAft>
                <a:spcPts val="400"/>
              </a:spcAft>
            </a:pPr>
            <a:r>
              <a:rPr sz="1250" b="0">
                <a:solidFill>
                  <a:srgbClr val="D97757"/>
                </a:solidFill>
                <a:latin typeface="Calibri"/>
              </a:rPr>
              <a:t>The fix is housekeeping: one task per session, only the connectors you need, and only the files the task actually reads.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57</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Five Levers of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What you actually control.</a:t>
            </a:r>
          </a:p>
        </p:txBody>
      </p:sp>
      <p:sp>
        <p:nvSpPr>
          <p:cNvPr id="6" name="Rectangle 5"/>
          <p:cNvSpPr/>
          <p:nvPr/>
        </p:nvSpPr>
        <p:spPr>
          <a:xfrm>
            <a:off x="548640" y="2148840"/>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253081"/>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53081"/>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Conversation</a:t>
            </a:r>
          </a:p>
          <a:p>
            <a:pPr algn="l">
              <a:spcAft>
                <a:spcPts val="500"/>
              </a:spcAft>
            </a:pPr>
            <a:r>
              <a:rPr sz="1250" b="0">
                <a:solidFill>
                  <a:srgbClr val="6B6862"/>
                </a:solidFill>
                <a:latin typeface="Calibri"/>
              </a:rPr>
              <a:t>Your prompt. The messages you send, including both text and attachments.</a:t>
            </a:r>
          </a:p>
        </p:txBody>
      </p:sp>
      <p:sp>
        <p:nvSpPr>
          <p:cNvPr id="10" name="Rectangle 9"/>
          <p:cNvSpPr/>
          <p:nvPr/>
        </p:nvSpPr>
        <p:spPr>
          <a:xfrm>
            <a:off x="548640" y="2869387"/>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97362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7362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2869387"/>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Working folder</a:t>
            </a:r>
          </a:p>
          <a:p>
            <a:pPr algn="l">
              <a:spcAft>
                <a:spcPts val="500"/>
              </a:spcAft>
            </a:pPr>
            <a:r>
              <a:rPr sz="1250" b="0">
                <a:solidFill>
                  <a:srgbClr val="6B6862"/>
                </a:solidFill>
                <a:latin typeface="Calibri"/>
              </a:rPr>
              <a:t>The files and folders Claude can access while working on the task.</a:t>
            </a:r>
          </a:p>
        </p:txBody>
      </p:sp>
      <p:sp>
        <p:nvSpPr>
          <p:cNvPr id="14" name="Rectangle 13"/>
          <p:cNvSpPr/>
          <p:nvPr/>
        </p:nvSpPr>
        <p:spPr>
          <a:xfrm>
            <a:off x="548640" y="3589934"/>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3694175"/>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94175"/>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589934"/>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Connectors</a:t>
            </a:r>
          </a:p>
          <a:p>
            <a:pPr algn="l">
              <a:spcAft>
                <a:spcPts val="500"/>
              </a:spcAft>
            </a:pPr>
            <a:r>
              <a:rPr sz="1250" b="0">
                <a:solidFill>
                  <a:srgbClr val="6B6862"/>
                </a:solidFill>
                <a:latin typeface="Calibri"/>
              </a:rPr>
              <a:t>The connected tools Claude can pull data from, and take actions in.</a:t>
            </a:r>
          </a:p>
        </p:txBody>
      </p:sp>
      <p:sp>
        <p:nvSpPr>
          <p:cNvPr id="18" name="Rectangle 17"/>
          <p:cNvSpPr/>
          <p:nvPr/>
        </p:nvSpPr>
        <p:spPr>
          <a:xfrm>
            <a:off x="548640" y="4310481"/>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441472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41472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310481"/>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Skills</a:t>
            </a:r>
          </a:p>
          <a:p>
            <a:pPr algn="l">
              <a:spcAft>
                <a:spcPts val="500"/>
              </a:spcAft>
            </a:pPr>
            <a:r>
              <a:rPr sz="1250" b="0">
                <a:solidFill>
                  <a:srgbClr val="6B6862"/>
                </a:solidFill>
                <a:latin typeface="Calibri"/>
              </a:rPr>
              <a:t>A set of instructions Claude follows for a repeatable workflow.</a:t>
            </a:r>
          </a:p>
        </p:txBody>
      </p:sp>
      <p:sp>
        <p:nvSpPr>
          <p:cNvPr id="22" name="Rectangle 21"/>
          <p:cNvSpPr/>
          <p:nvPr/>
        </p:nvSpPr>
        <p:spPr>
          <a:xfrm>
            <a:off x="548640" y="5031028"/>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5135269"/>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135269"/>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5</a:t>
            </a:r>
          </a:p>
        </p:txBody>
      </p:sp>
      <p:sp>
        <p:nvSpPr>
          <p:cNvPr id="25" name="TextBox 24"/>
          <p:cNvSpPr txBox="1"/>
          <p:nvPr/>
        </p:nvSpPr>
        <p:spPr>
          <a:xfrm>
            <a:off x="1508760" y="5031028"/>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Saved instructions at the folder level, which Claude always reads first.</a:t>
            </a:r>
          </a:p>
        </p:txBody>
      </p:sp>
      <p:sp>
        <p:nvSpPr>
          <p:cNvPr id="26" name="TextBox 25"/>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Every lab today pulls one of these levers — the working folder in Lab 1, connectors in Labs 4–5, a skill in Lab 6, and project instructions in Lab 7.</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Check It Yourself: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Estimated usage by category, for a 1M-token window.</a:t>
            </a:r>
          </a:p>
        </p:txBody>
      </p:sp>
      <p:sp>
        <p:nvSpPr>
          <p:cNvPr id="6" name="TextBox 5"/>
          <p:cNvSpPr txBox="1"/>
          <p:nvPr/>
        </p:nvSpPr>
        <p:spPr>
          <a:xfrm>
            <a:off x="822960" y="2194560"/>
            <a:ext cx="5943600" cy="310896"/>
          </a:xfrm>
          <a:prstGeom prst="rect">
            <a:avLst/>
          </a:prstGeom>
          <a:noFill/>
        </p:spPr>
        <p:txBody>
          <a:bodyPr wrap="square" anchor="t" lIns="0" rIns="0" tIns="0" bIns="0">
            <a:spAutoFit/>
          </a:bodyPr>
          <a:lstStyle/>
          <a:p>
            <a:pPr algn="l">
              <a:spcAft>
                <a:spcPts val="400"/>
              </a:spcAft>
            </a:pPr>
            <a:r>
              <a:rPr sz="1250" b="1">
                <a:solidFill>
                  <a:srgbClr val="6B6862"/>
                </a:solidFill>
                <a:latin typeface="Calibri"/>
              </a:rPr>
              <a:t>Category</a:t>
            </a:r>
          </a:p>
        </p:txBody>
      </p:sp>
      <p:sp>
        <p:nvSpPr>
          <p:cNvPr id="7" name="TextBox 6"/>
          <p:cNvSpPr txBox="1"/>
          <p:nvPr/>
        </p:nvSpPr>
        <p:spPr>
          <a:xfrm>
            <a:off x="6949440" y="2194560"/>
            <a:ext cx="219456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Tokens</a:t>
            </a:r>
          </a:p>
        </p:txBody>
      </p:sp>
      <p:sp>
        <p:nvSpPr>
          <p:cNvPr id="8" name="TextBox 7"/>
          <p:cNvSpPr txBox="1"/>
          <p:nvPr/>
        </p:nvSpPr>
        <p:spPr>
          <a:xfrm>
            <a:off x="9326880" y="2194560"/>
            <a:ext cx="201168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Percentage</a:t>
            </a:r>
          </a:p>
        </p:txBody>
      </p:sp>
      <p:sp>
        <p:nvSpPr>
          <p:cNvPr id="9" name="Rectangle 8"/>
          <p:cNvSpPr/>
          <p:nvPr/>
        </p:nvSpPr>
        <p:spPr>
          <a:xfrm>
            <a:off x="822960" y="2523744"/>
            <a:ext cx="10515600" cy="13716"/>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33472"/>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prompt</a:t>
            </a:r>
          </a:p>
        </p:txBody>
      </p:sp>
      <p:sp>
        <p:nvSpPr>
          <p:cNvPr id="11" name="TextBox 10"/>
          <p:cNvSpPr txBox="1"/>
          <p:nvPr/>
        </p:nvSpPr>
        <p:spPr>
          <a:xfrm>
            <a:off x="6949440" y="2633472"/>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35.3k</a:t>
            </a:r>
          </a:p>
        </p:txBody>
      </p:sp>
      <p:sp>
        <p:nvSpPr>
          <p:cNvPr id="12" name="TextBox 11"/>
          <p:cNvSpPr txBox="1"/>
          <p:nvPr/>
        </p:nvSpPr>
        <p:spPr>
          <a:xfrm>
            <a:off x="9326880" y="2633472"/>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a:t>
            </a:r>
          </a:p>
        </p:txBody>
      </p:sp>
      <p:sp>
        <p:nvSpPr>
          <p:cNvPr id="13" name="Rectangle 12"/>
          <p:cNvSpPr/>
          <p:nvPr/>
        </p:nvSpPr>
        <p:spPr>
          <a:xfrm>
            <a:off x="822960" y="3018663"/>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018663"/>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tools</a:t>
            </a:r>
          </a:p>
        </p:txBody>
      </p:sp>
      <p:sp>
        <p:nvSpPr>
          <p:cNvPr id="15" name="TextBox 14"/>
          <p:cNvSpPr txBox="1"/>
          <p:nvPr/>
        </p:nvSpPr>
        <p:spPr>
          <a:xfrm>
            <a:off x="6949440" y="3018663"/>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768</a:t>
            </a:r>
          </a:p>
        </p:txBody>
      </p:sp>
      <p:sp>
        <p:nvSpPr>
          <p:cNvPr id="16" name="TextBox 15"/>
          <p:cNvSpPr txBox="1"/>
          <p:nvPr/>
        </p:nvSpPr>
        <p:spPr>
          <a:xfrm>
            <a:off x="9326880" y="3018663"/>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0.1%</a:t>
            </a:r>
          </a:p>
        </p:txBody>
      </p:sp>
      <p:sp>
        <p:nvSpPr>
          <p:cNvPr id="17" name="Rectangle 16"/>
          <p:cNvSpPr/>
          <p:nvPr/>
        </p:nvSpPr>
        <p:spPr>
          <a:xfrm>
            <a:off x="822960" y="3403854"/>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403854"/>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a:t>
            </a:r>
          </a:p>
        </p:txBody>
      </p:sp>
      <p:sp>
        <p:nvSpPr>
          <p:cNvPr id="19" name="TextBox 18"/>
          <p:cNvSpPr txBox="1"/>
          <p:nvPr/>
        </p:nvSpPr>
        <p:spPr>
          <a:xfrm>
            <a:off x="6949440" y="3403854"/>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2.6k</a:t>
            </a:r>
          </a:p>
        </p:txBody>
      </p:sp>
      <p:sp>
        <p:nvSpPr>
          <p:cNvPr id="20" name="TextBox 19"/>
          <p:cNvSpPr txBox="1"/>
          <p:nvPr/>
        </p:nvSpPr>
        <p:spPr>
          <a:xfrm>
            <a:off x="9326880" y="3403854"/>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0.3%</a:t>
            </a:r>
          </a:p>
        </p:txBody>
      </p:sp>
      <p:sp>
        <p:nvSpPr>
          <p:cNvPr id="21" name="Rectangle 20"/>
          <p:cNvSpPr/>
          <p:nvPr/>
        </p:nvSpPr>
        <p:spPr>
          <a:xfrm>
            <a:off x="822960" y="3789045"/>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789045"/>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 (deferred)</a:t>
            </a:r>
          </a:p>
        </p:txBody>
      </p:sp>
      <p:sp>
        <p:nvSpPr>
          <p:cNvPr id="23" name="TextBox 22"/>
          <p:cNvSpPr txBox="1"/>
          <p:nvPr/>
        </p:nvSpPr>
        <p:spPr>
          <a:xfrm>
            <a:off x="6949440" y="3789045"/>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301.7k</a:t>
            </a:r>
          </a:p>
        </p:txBody>
      </p:sp>
      <p:sp>
        <p:nvSpPr>
          <p:cNvPr id="24" name="TextBox 23"/>
          <p:cNvSpPr txBox="1"/>
          <p:nvPr/>
        </p:nvSpPr>
        <p:spPr>
          <a:xfrm>
            <a:off x="9326880" y="3789045"/>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30.2%</a:t>
            </a:r>
          </a:p>
        </p:txBody>
      </p:sp>
      <p:sp>
        <p:nvSpPr>
          <p:cNvPr id="25" name="Rectangle 24"/>
          <p:cNvSpPr/>
          <p:nvPr/>
        </p:nvSpPr>
        <p:spPr>
          <a:xfrm>
            <a:off x="822960" y="4174236"/>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74236"/>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Memory files</a:t>
            </a:r>
          </a:p>
        </p:txBody>
      </p:sp>
      <p:sp>
        <p:nvSpPr>
          <p:cNvPr id="27" name="TextBox 26"/>
          <p:cNvSpPr txBox="1"/>
          <p:nvPr/>
        </p:nvSpPr>
        <p:spPr>
          <a:xfrm>
            <a:off x="6949440" y="4174236"/>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81</a:t>
            </a:r>
          </a:p>
        </p:txBody>
      </p:sp>
      <p:sp>
        <p:nvSpPr>
          <p:cNvPr id="28" name="TextBox 27"/>
          <p:cNvSpPr txBox="1"/>
          <p:nvPr/>
        </p:nvSpPr>
        <p:spPr>
          <a:xfrm>
            <a:off x="9326880" y="4174236"/>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29" name="Rectangle 28"/>
          <p:cNvSpPr/>
          <p:nvPr/>
        </p:nvSpPr>
        <p:spPr>
          <a:xfrm>
            <a:off x="822960" y="4559427"/>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559427"/>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Skills</a:t>
            </a:r>
          </a:p>
        </p:txBody>
      </p:sp>
      <p:sp>
        <p:nvSpPr>
          <p:cNvPr id="31" name="TextBox 30"/>
          <p:cNvSpPr txBox="1"/>
          <p:nvPr/>
        </p:nvSpPr>
        <p:spPr>
          <a:xfrm>
            <a:off x="6949440" y="4559427"/>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9k</a:t>
            </a:r>
          </a:p>
        </p:txBody>
      </p:sp>
      <p:sp>
        <p:nvSpPr>
          <p:cNvPr id="32" name="TextBox 31"/>
          <p:cNvSpPr txBox="1"/>
          <p:nvPr/>
        </p:nvSpPr>
        <p:spPr>
          <a:xfrm>
            <a:off x="9326880" y="4559427"/>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0.9%</a:t>
            </a:r>
          </a:p>
        </p:txBody>
      </p:sp>
      <p:sp>
        <p:nvSpPr>
          <p:cNvPr id="33" name="Rectangle 32"/>
          <p:cNvSpPr/>
          <p:nvPr/>
        </p:nvSpPr>
        <p:spPr>
          <a:xfrm>
            <a:off x="822960" y="4944618"/>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944618"/>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Messages</a:t>
            </a:r>
          </a:p>
        </p:txBody>
      </p:sp>
      <p:sp>
        <p:nvSpPr>
          <p:cNvPr id="35" name="TextBox 34"/>
          <p:cNvSpPr txBox="1"/>
          <p:nvPr/>
        </p:nvSpPr>
        <p:spPr>
          <a:xfrm>
            <a:off x="6949440" y="4944618"/>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13</a:t>
            </a:r>
          </a:p>
        </p:txBody>
      </p:sp>
      <p:sp>
        <p:nvSpPr>
          <p:cNvPr id="36" name="TextBox 35"/>
          <p:cNvSpPr txBox="1"/>
          <p:nvPr/>
        </p:nvSpPr>
        <p:spPr>
          <a:xfrm>
            <a:off x="9326880" y="4944618"/>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37" name="Rectangle 36"/>
          <p:cNvSpPr/>
          <p:nvPr/>
        </p:nvSpPr>
        <p:spPr>
          <a:xfrm>
            <a:off x="822960" y="5329809"/>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5329809"/>
            <a:ext cx="5943600" cy="385191"/>
          </a:xfrm>
          <a:prstGeom prst="rect">
            <a:avLst/>
          </a:prstGeom>
          <a:noFill/>
        </p:spPr>
        <p:txBody>
          <a:bodyPr wrap="square" anchor="ctr" lIns="0" rIns="0" tIns="0" bIns="0">
            <a:spAutoFit/>
          </a:bodyPr>
          <a:lstStyle/>
          <a:p>
            <a:pPr algn="l">
              <a:spcAft>
                <a:spcPts val="400"/>
              </a:spcAft>
            </a:pPr>
            <a:r>
              <a:rPr sz="1300" b="1">
                <a:solidFill>
                  <a:srgbClr val="D97757"/>
                </a:solidFill>
                <a:latin typeface="Calibri"/>
              </a:rPr>
              <a:t>Free space</a:t>
            </a:r>
          </a:p>
        </p:txBody>
      </p:sp>
      <p:sp>
        <p:nvSpPr>
          <p:cNvPr id="39" name="TextBox 38"/>
          <p:cNvSpPr txBox="1"/>
          <p:nvPr/>
        </p:nvSpPr>
        <p:spPr>
          <a:xfrm>
            <a:off x="6949440" y="5329809"/>
            <a:ext cx="219456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650.5k</a:t>
            </a:r>
          </a:p>
        </p:txBody>
      </p:sp>
      <p:sp>
        <p:nvSpPr>
          <p:cNvPr id="40" name="TextBox 39"/>
          <p:cNvSpPr txBox="1"/>
          <p:nvPr/>
        </p:nvSpPr>
        <p:spPr>
          <a:xfrm>
            <a:off x="9326880" y="5329809"/>
            <a:ext cx="201168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a:t>
            </a:r>
          </a:p>
        </p:txBody>
      </p:sp>
      <p:sp>
        <p:nvSpPr>
          <p:cNvPr id="41" name="Rectangle 40"/>
          <p:cNvSpPr/>
          <p:nvPr/>
        </p:nvSpPr>
        <p:spPr>
          <a:xfrm>
            <a:off x="822960" y="5715000"/>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Run /context to see this for your own session. Note how much a large set of connectors costs before you have typed anything — turn off the ones you do not need.</a:t>
            </a:r>
          </a:p>
        </p:txBody>
      </p:sp>
      <p:sp>
        <p:nvSpPr>
          <p:cNvPr id="43" name="TextBox 4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5" name="TextBox 4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Are Documented on Three Layers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Each layer reaches Claude at a different moment — which is why the description matters most.</a:t>
            </a:r>
          </a:p>
        </p:txBody>
      </p:sp>
      <p:sp>
        <p:nvSpPr>
          <p:cNvPr id="6" name="TextBox 5"/>
          <p:cNvSpPr txBox="1"/>
          <p:nvPr/>
        </p:nvSpPr>
        <p:spPr>
          <a:xfrm>
            <a:off x="548640" y="2286000"/>
            <a:ext cx="603504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Layers</a:t>
            </a:r>
          </a:p>
        </p:txBody>
      </p:sp>
      <p:sp>
        <p:nvSpPr>
          <p:cNvPr id="7" name="TextBox 6"/>
          <p:cNvSpPr txBox="1"/>
          <p:nvPr/>
        </p:nvSpPr>
        <p:spPr>
          <a:xfrm>
            <a:off x="7315200" y="2286000"/>
            <a:ext cx="429768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When Claude sees them</a:t>
            </a:r>
          </a:p>
        </p:txBody>
      </p:sp>
      <p:sp>
        <p:nvSpPr>
          <p:cNvPr id="8" name="Rectangle 7"/>
          <p:cNvSpPr/>
          <p:nvPr/>
        </p:nvSpPr>
        <p:spPr>
          <a:xfrm>
            <a:off x="1188720" y="2670048"/>
            <a:ext cx="539496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816352"/>
            <a:ext cx="484632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Metadata</a:t>
            </a:r>
          </a:p>
        </p:txBody>
      </p:sp>
      <p:sp>
        <p:nvSpPr>
          <p:cNvPr id="10" name="TextBox 9"/>
          <p:cNvSpPr txBox="1"/>
          <p:nvPr/>
        </p:nvSpPr>
        <p:spPr>
          <a:xfrm>
            <a:off x="1463040" y="3182112"/>
            <a:ext cx="484632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Skill name and description.</a:t>
            </a:r>
          </a:p>
        </p:txBody>
      </p:sp>
      <p:sp>
        <p:nvSpPr>
          <p:cNvPr id="11" name="Rectangle 10"/>
          <p:cNvSpPr/>
          <p:nvPr/>
        </p:nvSpPr>
        <p:spPr>
          <a:xfrm>
            <a:off x="644652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4536"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02552"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30568"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58584"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8660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98704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Always in context — this is all Claude sees until the skill is triggered.</a:t>
            </a:r>
          </a:p>
        </p:txBody>
      </p:sp>
      <p:sp>
        <p:nvSpPr>
          <p:cNvPr id="18" name="Rectangle 17"/>
          <p:cNvSpPr/>
          <p:nvPr/>
        </p:nvSpPr>
        <p:spPr>
          <a:xfrm>
            <a:off x="868680" y="3797808"/>
            <a:ext cx="571500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944112"/>
            <a:ext cx="516636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Instructions</a:t>
            </a:r>
          </a:p>
        </p:txBody>
      </p:sp>
      <p:sp>
        <p:nvSpPr>
          <p:cNvPr id="20" name="TextBox 19"/>
          <p:cNvSpPr txBox="1"/>
          <p:nvPr/>
        </p:nvSpPr>
        <p:spPr>
          <a:xfrm>
            <a:off x="1143000" y="4309872"/>
            <a:ext cx="516636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The step-by-step workflow, written in a SKILL.md.</a:t>
            </a:r>
          </a:p>
        </p:txBody>
      </p:sp>
      <p:sp>
        <p:nvSpPr>
          <p:cNvPr id="21" name="Rectangle 20"/>
          <p:cNvSpPr/>
          <p:nvPr/>
        </p:nvSpPr>
        <p:spPr>
          <a:xfrm>
            <a:off x="644652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74536"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02552"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30568"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58584"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8660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11480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when the skill is triggered.</a:t>
            </a:r>
          </a:p>
        </p:txBody>
      </p:sp>
      <p:sp>
        <p:nvSpPr>
          <p:cNvPr id="28" name="Rectangle 27"/>
          <p:cNvSpPr/>
          <p:nvPr/>
        </p:nvSpPr>
        <p:spPr>
          <a:xfrm>
            <a:off x="548640" y="4925568"/>
            <a:ext cx="603504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071872"/>
            <a:ext cx="548640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Resources</a:t>
            </a:r>
          </a:p>
        </p:txBody>
      </p:sp>
      <p:sp>
        <p:nvSpPr>
          <p:cNvPr id="30" name="TextBox 29"/>
          <p:cNvSpPr txBox="1"/>
          <p:nvPr/>
        </p:nvSpPr>
        <p:spPr>
          <a:xfrm>
            <a:off x="822960" y="5437632"/>
            <a:ext cx="548640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Supporting documents, templates and code.</a:t>
            </a:r>
          </a:p>
        </p:txBody>
      </p:sp>
      <p:sp>
        <p:nvSpPr>
          <p:cNvPr id="31" name="Rectangle 30"/>
          <p:cNvSpPr/>
          <p:nvPr/>
        </p:nvSpPr>
        <p:spPr>
          <a:xfrm>
            <a:off x="644652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74536"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02552"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30568"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58584"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8660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0" y="524256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only when the skill needs them.</a:t>
            </a:r>
          </a:p>
        </p:txBody>
      </p:sp>
      <p:sp>
        <p:nvSpPr>
          <p:cNvPr id="38" name="TextBox 3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9" name="TextBox 3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0" name="TextBox 3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Anatomy of an Agent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skill is a folder Claude loads on demand when the task matches its description.</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name</a:t>
            </a:r>
          </a:p>
          <a:p>
            <a:pPr algn="l">
              <a:spcAft>
                <a:spcPts val="300"/>
              </a:spcAft>
            </a:pPr>
            <a:r>
              <a:rPr sz="1150" b="0">
                <a:solidFill>
                  <a:srgbClr val="6B6862"/>
                </a:solidFill>
                <a:latin typeface="Calibri"/>
              </a:rPr>
              <a:t>A short identifier such as daily-brief. This is what you type to run it.</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description</a:t>
            </a:r>
          </a:p>
          <a:p>
            <a:pPr algn="l">
              <a:spcAft>
                <a:spcPts val="300"/>
              </a:spcAft>
            </a:pPr>
            <a:r>
              <a:rPr sz="1150" b="0">
                <a:solidFill>
                  <a:srgbClr val="6B6862"/>
                </a:solidFill>
                <a:latin typeface="Calibri"/>
              </a:rPr>
              <a:t>What the skill does and WHEN to use it. Always in context, so this is what Claude matches against your request.</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Instructions (SKILL.md)</a:t>
            </a:r>
          </a:p>
          <a:p>
            <a:pPr algn="l">
              <a:spcAft>
                <a:spcPts val="300"/>
              </a:spcAft>
            </a:pPr>
            <a:r>
              <a:rPr sz="1150" b="0">
                <a:solidFill>
                  <a:srgbClr val="6B6862"/>
                </a:solidFill>
                <a:latin typeface="Calibri"/>
              </a:rPr>
              <a:t>The routine itself: which tools to check, in what order, and what to report.</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Resources</a:t>
            </a:r>
          </a:p>
          <a:p>
            <a:pPr algn="l">
              <a:spcAft>
                <a:spcPts val="300"/>
              </a:spcAft>
            </a:pPr>
            <a:r>
              <a:rPr sz="1150" b="0">
                <a:solidFill>
                  <a:srgbClr val="6B6862"/>
                </a:solidFill>
                <a:latin typeface="Calibri"/>
              </a:rPr>
              <a:t>Optional templates, documents or code the instructions call on.</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Your Own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Do not write a skill from a blank page — do the work first, then capture it.</a:t>
            </a:r>
          </a:p>
        </p:txBody>
      </p:sp>
      <p:sp>
        <p:nvSpPr>
          <p:cNvPr id="6" name="Rectangle 5"/>
          <p:cNvSpPr/>
          <p:nvPr/>
        </p:nvSpPr>
        <p:spPr>
          <a:xfrm>
            <a:off x="54864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10" name="TextBox 9"/>
          <p:cNvSpPr txBox="1"/>
          <p:nvPr/>
        </p:nvSpPr>
        <p:spPr>
          <a:xfrm>
            <a:off x="68580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a:t>
            </a:r>
          </a:p>
        </p:txBody>
      </p:sp>
      <p:sp>
        <p:nvSpPr>
          <p:cNvPr id="11" name="TextBox 10"/>
          <p:cNvSpPr txBox="1"/>
          <p:nvPr/>
        </p:nvSpPr>
        <p:spPr>
          <a:xfrm>
            <a:off x="68580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Do the task together with Claude once, step by step.</a:t>
            </a:r>
          </a:p>
        </p:txBody>
      </p:sp>
      <p:sp>
        <p:nvSpPr>
          <p:cNvPr id="12" name="TextBox 11"/>
          <p:cNvSpPr txBox="1"/>
          <p:nvPr/>
        </p:nvSpPr>
        <p:spPr>
          <a:xfrm>
            <a:off x="310896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3" name="Rectangle 12"/>
          <p:cNvSpPr/>
          <p:nvPr/>
        </p:nvSpPr>
        <p:spPr>
          <a:xfrm>
            <a:off x="338328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8328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4340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7" name="TextBox 16"/>
          <p:cNvSpPr txBox="1"/>
          <p:nvPr/>
        </p:nvSpPr>
        <p:spPr>
          <a:xfrm>
            <a:off x="352044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Verify</a:t>
            </a:r>
          </a:p>
        </p:txBody>
      </p:sp>
      <p:sp>
        <p:nvSpPr>
          <p:cNvPr id="18" name="TextBox 17"/>
          <p:cNvSpPr txBox="1"/>
          <p:nvPr/>
        </p:nvSpPr>
        <p:spPr>
          <a:xfrm>
            <a:off x="352044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Review and refine until the output is right.</a:t>
            </a:r>
          </a:p>
        </p:txBody>
      </p:sp>
      <p:sp>
        <p:nvSpPr>
          <p:cNvPr id="19" name="TextBox 18"/>
          <p:cNvSpPr txBox="1"/>
          <p:nvPr/>
        </p:nvSpPr>
        <p:spPr>
          <a:xfrm>
            <a:off x="594360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0" name="Rectangle 19"/>
          <p:cNvSpPr/>
          <p:nvPr/>
        </p:nvSpPr>
        <p:spPr>
          <a:xfrm>
            <a:off x="621792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7804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4" name="TextBox 23"/>
          <p:cNvSpPr txBox="1"/>
          <p:nvPr/>
        </p:nvSpPr>
        <p:spPr>
          <a:xfrm>
            <a:off x="635508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25" name="TextBox 24"/>
          <p:cNvSpPr txBox="1"/>
          <p:nvPr/>
        </p:nvSpPr>
        <p:spPr>
          <a:xfrm>
            <a:off x="635508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Turn it into a skill using the /skill-creator skill.</a:t>
            </a:r>
          </a:p>
        </p:txBody>
      </p:sp>
      <p:sp>
        <p:nvSpPr>
          <p:cNvPr id="26" name="TextBox 25"/>
          <p:cNvSpPr txBox="1"/>
          <p:nvPr/>
        </p:nvSpPr>
        <p:spPr>
          <a:xfrm>
            <a:off x="877824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7" name="Rectangle 26"/>
          <p:cNvSpPr/>
          <p:nvPr/>
        </p:nvSpPr>
        <p:spPr>
          <a:xfrm>
            <a:off x="905256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1268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1268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1" name="TextBox 30"/>
          <p:cNvSpPr txBox="1"/>
          <p:nvPr/>
        </p:nvSpPr>
        <p:spPr>
          <a:xfrm>
            <a:off x="918972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Update</a:t>
            </a:r>
          </a:p>
        </p:txBody>
      </p:sp>
      <p:sp>
        <p:nvSpPr>
          <p:cNvPr id="32" name="TextBox 31"/>
          <p:cNvSpPr txBox="1"/>
          <p:nvPr/>
        </p:nvSpPr>
        <p:spPr>
          <a:xfrm>
            <a:off x="918972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Refine it later and save over it — Claude confirms before replacing.</a:t>
            </a:r>
          </a:p>
        </p:txBody>
      </p:sp>
      <p:sp>
        <p:nvSpPr>
          <p:cNvPr id="33" name="TextBox 32"/>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/skill-creator writes the SKILL.md for you, from the run you just verified.</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vs Retyping the Request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Write the routine once, and run it by name from then on.</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Retyping the request each time</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describe the whole routine again every morning.</a:t>
            </a:r>
          </a:p>
          <a:p>
            <a:pPr algn="l">
              <a:spcAft>
                <a:spcPts val="900"/>
              </a:spcAft>
            </a:pPr>
            <a:r>
              <a:rPr sz="1250" b="0">
                <a:solidFill>
                  <a:srgbClr val="21201C"/>
                </a:solidFill>
                <a:latin typeface="Calibri"/>
              </a:rPr>
              <a:t>•  Easy to forget a step when you are in a hurry.</a:t>
            </a:r>
          </a:p>
          <a:p>
            <a:pPr algn="l">
              <a:spcAft>
                <a:spcPts val="900"/>
              </a:spcAft>
            </a:pPr>
            <a:r>
              <a:rPr sz="1250" b="0">
                <a:solidFill>
                  <a:srgbClr val="21201C"/>
                </a:solidFill>
                <a:latin typeface="Calibri"/>
              </a:rPr>
              <a:t>•  Each colleague words it slightly differently.</a:t>
            </a:r>
          </a:p>
          <a:p>
            <a:pPr algn="l">
              <a:spcAft>
                <a:spcPts val="900"/>
              </a:spcAft>
            </a:pPr>
            <a:r>
              <a:rPr sz="1250" b="0">
                <a:solidFill>
                  <a:srgbClr val="21201C"/>
                </a:solidFill>
                <a:latin typeface="Calibri"/>
              </a:rPr>
              <a:t>•  The output format drifts from day to day.</a:t>
            </a:r>
          </a:p>
          <a:p>
            <a:pPr algn="l">
              <a:spcAft>
                <a:spcPts val="900"/>
              </a:spcAft>
            </a:pPr>
            <a:r>
              <a:rPr sz="1250" b="0">
                <a:solidFill>
                  <a:srgbClr val="21201C"/>
                </a:solidFill>
                <a:latin typeface="Calibri"/>
              </a:rPr>
              <a:t>•  Nothing to hand to a new joiner.</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An Agent Skill</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Written once in SKILL.md and run by name.</a:t>
            </a:r>
          </a:p>
          <a:p>
            <a:pPr algn="l">
              <a:spcAft>
                <a:spcPts val="900"/>
              </a:spcAft>
            </a:pPr>
            <a:r>
              <a:rPr sz="1250" b="0">
                <a:solidFill>
                  <a:srgbClr val="21201C"/>
                </a:solidFill>
                <a:latin typeface="Calibri"/>
              </a:rPr>
              <a:t>•  Claude follows every step, every time.</a:t>
            </a:r>
          </a:p>
          <a:p>
            <a:pPr algn="l">
              <a:spcAft>
                <a:spcPts val="900"/>
              </a:spcAft>
            </a:pPr>
            <a:r>
              <a:rPr sz="1250" b="0">
                <a:solidFill>
                  <a:srgbClr val="21201C"/>
                </a:solidFill>
                <a:latin typeface="Calibri"/>
              </a:rPr>
              <a:t>•  The whole team shares one folder.</a:t>
            </a:r>
          </a:p>
          <a:p>
            <a:pPr algn="l">
              <a:spcAft>
                <a:spcPts val="900"/>
              </a:spcAft>
            </a:pPr>
            <a:r>
              <a:rPr sz="1250" b="0">
                <a:solidFill>
                  <a:srgbClr val="21201C"/>
                </a:solidFill>
                <a:latin typeface="Calibri"/>
              </a:rPr>
              <a:t>•  The same structure and format each run.</a:t>
            </a:r>
          </a:p>
          <a:p>
            <a:pPr algn="l">
              <a:spcAft>
                <a:spcPts val="900"/>
              </a:spcAft>
            </a:pPr>
            <a:r>
              <a:rPr sz="1250" b="0">
                <a:solidFill>
                  <a:srgbClr val="21201C"/>
                </a:solidFill>
                <a:latin typeface="Calibri"/>
              </a:rPr>
              <a:t>•  Onboarding is: copy the skill folder.</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AUTOMATION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That Drives Your Tools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most useful skills combine the connectors into one repeatable command.</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One command</a:t>
            </a:r>
          </a:p>
          <a:p>
            <a:pPr algn="l">
              <a:spcAft>
                <a:spcPts val="300"/>
              </a:spcAft>
            </a:pPr>
            <a:r>
              <a:rPr sz="1150" b="0">
                <a:solidFill>
                  <a:srgbClr val="6B6862"/>
                </a:solidFill>
                <a:latin typeface="Calibri"/>
              </a:rPr>
              <a:t>Run the whole routine by name instead of describing it again each time.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Across your tools</a:t>
            </a:r>
          </a:p>
          <a:p>
            <a:pPr algn="l">
              <a:spcAft>
                <a:spcPts val="300"/>
              </a:spcAft>
            </a:pPr>
            <a:r>
              <a:rPr sz="1150" b="0">
                <a:solidFill>
                  <a:srgbClr val="6B6862"/>
                </a:solidFill>
                <a:latin typeface="Calibri"/>
              </a:rPr>
              <a:t>The skill decides which connectors to check — Drive, Gmail, Calendar — and in what order.</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fixed structure</a:t>
            </a:r>
          </a:p>
          <a:p>
            <a:pPr algn="l">
              <a:spcAft>
                <a:spcPts val="300"/>
              </a:spcAft>
            </a:pPr>
            <a:r>
              <a:rPr sz="1150" b="0">
                <a:solidFill>
                  <a:srgbClr val="6B6862"/>
                </a:solidFill>
                <a:latin typeface="Calibri"/>
              </a:rPr>
              <a:t>It reports back in the same sections every run, so you can scan it in seconds.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With fallbacks</a:t>
            </a:r>
          </a:p>
          <a:p>
            <a:pPr algn="l">
              <a:spcAft>
                <a:spcPts val="300"/>
              </a:spcAft>
            </a:pPr>
            <a:r>
              <a:rPr sz="1150" b="0">
                <a:solidFill>
                  <a:srgbClr val="6B6862"/>
                </a:solidFill>
                <a:latin typeface="Calibri"/>
              </a:rPr>
              <a:t>When a source has nothing new, it says so plainly rather than inventing filler.</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Still under approval</a:t>
            </a:r>
          </a:p>
          <a:p>
            <a:pPr algn="l">
              <a:spcAft>
                <a:spcPts val="300"/>
              </a:spcAft>
            </a:pPr>
            <a:r>
              <a:rPr sz="1150" b="0">
                <a:solidFill>
                  <a:srgbClr val="6B6862"/>
                </a:solidFill>
                <a:latin typeface="Calibri"/>
              </a:rPr>
              <a:t>The skill drafts and reports; sending anything still needs your approval.</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Shared with the team</a:t>
            </a:r>
          </a:p>
          <a:p>
            <a:pPr algn="l">
              <a:spcAft>
                <a:spcPts val="300"/>
              </a:spcAft>
            </a:pPr>
            <a:r>
              <a:rPr sz="1150" b="0">
                <a:solidFill>
                  <a:srgbClr val="6B6862"/>
                </a:solidFill>
                <a:latin typeface="Calibri"/>
              </a:rPr>
              <a:t>Everyone runs the same routine and gets the same briefing format.</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Tools and Skills</a:t>
            </a:r>
          </a:p>
        </p:txBody>
      </p:sp>
      <p:sp>
        <p:nvSpPr>
          <p:cNvPr id="5" name="Rectangle 4"/>
          <p:cNvSpPr/>
          <p:nvPr/>
        </p:nvSpPr>
        <p:spPr>
          <a:xfrm>
            <a:off x="548640"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Connectors</a:t>
            </a:r>
          </a:p>
          <a:p>
            <a:pPr algn="l">
              <a:spcAft>
                <a:spcPts val="300"/>
              </a:spcAft>
            </a:pPr>
            <a:r>
              <a:rPr sz="1150" b="0">
                <a:solidFill>
                  <a:srgbClr val="6B6862"/>
                </a:solidFill>
                <a:latin typeface="Calibri"/>
              </a:rPr>
              <a:t>Toggle Gmail, Calendar and Drive on from the + menu so Claude can reach data outside the chat.</a:t>
            </a:r>
          </a:p>
        </p:txBody>
      </p:sp>
      <p:sp>
        <p:nvSpPr>
          <p:cNvPr id="10" name="Rectangle 9"/>
          <p:cNvSpPr/>
          <p:nvPr/>
        </p:nvSpPr>
        <p:spPr>
          <a:xfrm>
            <a:off x="6163056"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Claude reads Sheets, Docs, Slides and PDFs from Drive, and can upload files back to a folder.</a:t>
            </a:r>
          </a:p>
        </p:txBody>
      </p:sp>
      <p:sp>
        <p:nvSpPr>
          <p:cNvPr id="15" name="Rectangle 14"/>
          <p:cNvSpPr/>
          <p:nvPr/>
        </p:nvSpPr>
        <p:spPr>
          <a:xfrm>
            <a:off x="548640"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folder</a:t>
            </a:r>
          </a:p>
          <a:p>
            <a:pPr algn="l">
              <a:spcAft>
                <a:spcPts val="300"/>
              </a:spcAft>
            </a:pPr>
            <a:r>
              <a:rPr sz="1150" b="0">
                <a:solidFill>
                  <a:srgbClr val="6B6862"/>
                </a:solidFill>
                <a:latin typeface="Calibri"/>
              </a:rPr>
              <a:t>Point Claude at one Drive folder for the task — not your whole Drive.</a:t>
            </a:r>
          </a:p>
        </p:txBody>
      </p:sp>
      <p:sp>
        <p:nvSpPr>
          <p:cNvPr id="20" name="Rectangle 19"/>
          <p:cNvSpPr/>
          <p:nvPr/>
        </p:nvSpPr>
        <p:spPr>
          <a:xfrm>
            <a:off x="6163056"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Claude drafts, sends, replies and labels — sending asks for explicit approval by default.</a:t>
            </a:r>
          </a:p>
        </p:txBody>
      </p:sp>
      <p:sp>
        <p:nvSpPr>
          <p:cNvPr id="25" name="Rectangle 24"/>
          <p:cNvSpPr/>
          <p:nvPr/>
        </p:nvSpPr>
        <p:spPr>
          <a:xfrm>
            <a:off x="548640"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Skills</a:t>
            </a:r>
          </a:p>
          <a:p>
            <a:pPr algn="l">
              <a:spcAft>
                <a:spcPts val="300"/>
              </a:spcAft>
            </a:pPr>
            <a:r>
              <a:rPr sz="1150" b="0">
                <a:solidFill>
                  <a:srgbClr val="6B6862"/>
                </a:solidFill>
                <a:latin typeface="Calibri"/>
              </a:rPr>
              <a:t>A folder of instructions Claude loads on demand, so a task runs the same way every time.</a:t>
            </a:r>
          </a:p>
        </p:txBody>
      </p:sp>
      <p:sp>
        <p:nvSpPr>
          <p:cNvPr id="30" name="Rectangle 29"/>
          <p:cNvSpPr/>
          <p:nvPr/>
        </p:nvSpPr>
        <p:spPr>
          <a:xfrm>
            <a:off x="6163056"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layers</a:t>
            </a:r>
          </a:p>
          <a:p>
            <a:pPr algn="l">
              <a:spcAft>
                <a:spcPts val="300"/>
              </a:spcAft>
            </a:pPr>
            <a:r>
              <a:rPr sz="1150" b="0">
                <a:solidFill>
                  <a:srgbClr val="6B6862"/>
                </a:solidFill>
                <a:latin typeface="Calibri"/>
              </a:rPr>
              <a:t>Metadata is always in context; the SKILL.md loads when triggered; resources load only when needed.</a:t>
            </a:r>
          </a:p>
        </p:txBody>
      </p:sp>
      <p:sp>
        <p:nvSpPr>
          <p:cNvPr id="35" name="Rectangle 34"/>
          <p:cNvSpPr/>
          <p:nvPr/>
        </p:nvSpPr>
        <p:spPr>
          <a:xfrm>
            <a:off x="548640"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22960"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7</a:t>
            </a:r>
          </a:p>
        </p:txBody>
      </p:sp>
      <p:sp>
        <p:nvSpPr>
          <p:cNvPr id="39" name="TextBox 38"/>
          <p:cNvSpPr txBox="1"/>
          <p:nvPr/>
        </p:nvSpPr>
        <p:spPr>
          <a:xfrm>
            <a:off x="1335024"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/skill-creator</a:t>
            </a:r>
          </a:p>
          <a:p>
            <a:pPr algn="l">
              <a:spcAft>
                <a:spcPts val="300"/>
              </a:spcAft>
            </a:pPr>
            <a:r>
              <a:rPr sz="1150" b="0">
                <a:solidFill>
                  <a:srgbClr val="6B6862"/>
                </a:solidFill>
                <a:latin typeface="Calibri"/>
              </a:rPr>
              <a:t>Do the task once, verify the output, then let skill-creator write the SKILL.md for you.</a:t>
            </a:r>
          </a:p>
        </p:txBody>
      </p:sp>
      <p:sp>
        <p:nvSpPr>
          <p:cNvPr id="40" name="Rectangle 39"/>
          <p:cNvSpPr/>
          <p:nvPr/>
        </p:nvSpPr>
        <p:spPr>
          <a:xfrm>
            <a:off x="6163056"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63056"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437376"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37376"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8</a:t>
            </a:r>
          </a:p>
        </p:txBody>
      </p:sp>
      <p:sp>
        <p:nvSpPr>
          <p:cNvPr id="44" name="TextBox 43"/>
          <p:cNvSpPr txBox="1"/>
          <p:nvPr/>
        </p:nvSpPr>
        <p:spPr>
          <a:xfrm>
            <a:off x="6949440"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evolve</a:t>
            </a:r>
          </a:p>
          <a:p>
            <a:pPr algn="l">
              <a:spcAft>
                <a:spcPts val="300"/>
              </a:spcAft>
            </a:pPr>
            <a:r>
              <a:rPr sz="1150" b="0">
                <a:solidFill>
                  <a:srgbClr val="6B6862"/>
                </a:solidFill>
                <a:latin typeface="Calibri"/>
              </a:rPr>
              <a:t>Update a skill as you learn what you want — saving over it replaces the old version, so re-run to confirm.</a:t>
            </a:r>
          </a:p>
        </p:txBody>
      </p:sp>
      <p:sp>
        <p:nvSpPr>
          <p:cNvPr id="45" name="Rectangle 44"/>
          <p:cNvSpPr/>
          <p:nvPr/>
        </p:nvSpPr>
        <p:spPr>
          <a:xfrm>
            <a:off x="548640" y="5206592"/>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48640" y="5206592"/>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22960" y="5378499"/>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378499"/>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9</a:t>
            </a:r>
          </a:p>
        </p:txBody>
      </p:sp>
      <p:sp>
        <p:nvSpPr>
          <p:cNvPr id="49" name="TextBox 48"/>
          <p:cNvSpPr txBox="1"/>
          <p:nvPr/>
        </p:nvSpPr>
        <p:spPr>
          <a:xfrm>
            <a:off x="1335024" y="5316320"/>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use tools</a:t>
            </a:r>
          </a:p>
          <a:p>
            <a:pPr algn="l">
              <a:spcAft>
                <a:spcPts val="300"/>
              </a:spcAft>
            </a:pPr>
            <a:r>
              <a:rPr sz="1150" b="0">
                <a:solidFill>
                  <a:srgbClr val="6B6862"/>
                </a:solidFill>
                <a:latin typeface="Calibri"/>
              </a:rPr>
              <a:t>A skill can drive the connectors for you — one command that checks Drive and Gmail and reports back.</a:t>
            </a:r>
          </a:p>
        </p:txBody>
      </p:sp>
      <p:sp>
        <p:nvSpPr>
          <p:cNvPr id="50" name="TextBox 4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51" name="TextBox 5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52" name="TextBox 5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04</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finance data does not live on your laptop — it sits in a shared Google Drive folder. You upload the firm's wider finance files to Drive, enable the Google Drive connector, and confirm Claude can read them without you attaching anything by hand.</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working Google Drive connection scoped to the Meridian finance folder.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Read the Meridian finance data from Drive</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Google Drive connector, open the folder "Meridian Finance"</a:t>
            </a:r>
          </a:p>
          <a:p>
            <a:pPr algn="l">
              <a:spcAft>
                <a:spcPts val="200"/>
              </a:spcAft>
            </a:pPr>
            <a:r>
              <a:rPr sz="1300" b="0">
                <a:solidFill>
                  <a:srgbClr val="21201C"/>
                </a:solidFill>
                <a:latin typeface="Calibri"/>
              </a:rPr>
              <a:t>in my Drive and tell me what you find.</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 each file, give me:</a:t>
            </a:r>
          </a:p>
          <a:p>
            <a:pPr algn="l">
              <a:spcAft>
                <a:spcPts val="200"/>
              </a:spcAft>
            </a:pPr>
            <a:r>
              <a:rPr sz="1300" b="0">
                <a:solidFill>
                  <a:srgbClr val="21201C"/>
                </a:solidFill>
                <a:latin typeface="Calibri"/>
              </a:rPr>
              <a:t>- The file name and what kind of data it holds.</a:t>
            </a:r>
          </a:p>
          <a:p>
            <a:pPr algn="l">
              <a:spcAft>
                <a:spcPts val="200"/>
              </a:spcAft>
            </a:pPr>
            <a:r>
              <a:rPr sz="1300" b="0">
                <a:solidFill>
                  <a:srgbClr val="21201C"/>
                </a:solidFill>
                <a:latin typeface="Calibri"/>
              </a:rPr>
              <a:t>- The period it covers.</a:t>
            </a:r>
          </a:p>
          <a:p>
            <a:pPr algn="l">
              <a:spcAft>
                <a:spcPts val="200"/>
              </a:spcAft>
            </a:pPr>
            <a:r>
              <a:rPr sz="1300" b="0">
                <a:solidFill>
                  <a:srgbClr val="21201C"/>
                </a:solidFill>
                <a:latin typeface="Calibri"/>
              </a:rPr>
              <a:t>- The three figures you would use in a quarterly revenue summary.</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Do not change, move or delete anything — read only.</a:t>
            </a:r>
          </a:p>
          <a:p>
            <a:pPr algn="l">
              <a:spcAft>
                <a:spcPts val="200"/>
              </a:spcAft>
            </a:pPr>
            <a:r>
              <a:rPr sz="1300" b="0">
                <a:solidFill>
                  <a:srgbClr val="21201C"/>
                </a:solidFill>
                <a:latin typeface="Calibri"/>
              </a:rPr>
              <a:t>List anything that looks inconsistent between the files.</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Claude asks for approval before it moves, shares or deletes a Drive file.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1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Upload the lab's mock-data files to a new Google Drive folder named Meridian Finance.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lab supplies the quarterly workbook, the desk targets and the client list as mock data.</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2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In Claude, click the plus sign in the composer and hover over Connectors.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where you turn individual connectors on and off for your account.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3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Toggle Google Drive on and sign in to your Google account.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On a Team or Enterprise plan an owner must enable connectors for the organisation first.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4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Approve the permissions Google asks for.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Approve only what you are willing to let Claude reach — you can revoke access later.</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5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so Claude reads the Meridian Finance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Naming the folder scopes the task; Claude does not need access to your whole Drive.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6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Compare Claude's file summary against what you actually uploaded.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Confirm it found every file and read the right periods before you rely on it.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7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Note any inconsistency Claude reports between the files.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Q4 Advisory target deliberately disagrees between two files — a real check.</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lists all three Meridian Finance files with their periods, reports FY2025 revenue of S$24,850,000, and flags that the Q4 Advisory target disagrees between the two files — S$2,320,000 in the targets file against S$2,410,000 in the workbook. Nothing in Drive has been changed.</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05</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Quarter end has arrived. You refresh the dashboard you built in Lab 3 using the data Claude now reads from Drive, then have it draft a quarterly summary email to the head of finance. You read the draft against the figures and approve it before a single message leaves your outbox.</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updated dashboard plus an approved quarterly summary email sent to yourself.</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then draft the summary</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200" b="0">
                <a:solidFill>
                  <a:srgbClr val="21201C"/>
                </a:solidFill>
                <a:latin typeface="Calibri"/>
              </a:rPr>
              <a:t>Two tasks, in order.</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1. Open my saved "Meridian Capital Partners — FY2025 Revenue"</a:t>
            </a:r>
          </a:p>
          <a:p>
            <a:pPr algn="l">
              <a:spcAft>
                <a:spcPts val="200"/>
              </a:spcAft>
            </a:pPr>
            <a:r>
              <a:rPr sz="1200" b="0">
                <a:solidFill>
                  <a:srgbClr val="21201C"/>
                </a:solidFill>
                <a:latin typeface="Calibri"/>
              </a:rPr>
              <a:t>   dashboard and update it from the Meridian Finance folder in Google</a:t>
            </a:r>
          </a:p>
          <a:p>
            <a:pPr algn="l">
              <a:spcAft>
                <a:spcPts val="200"/>
              </a:spcAft>
            </a:pPr>
            <a:r>
              <a:rPr sz="1200" b="0">
                <a:solidFill>
                  <a:srgbClr val="21201C"/>
                </a:solidFill>
                <a:latin typeface="Calibri"/>
              </a:rPr>
              <a:t>   Drive. Add a Q4 column to the desk breakdown and show each desk's</a:t>
            </a:r>
          </a:p>
          <a:p>
            <a:pPr algn="l">
              <a:spcAft>
                <a:spcPts val="200"/>
              </a:spcAft>
            </a:pPr>
            <a:r>
              <a:rPr sz="1200" b="0">
                <a:solidFill>
                  <a:srgbClr val="21201C"/>
                </a:solidFill>
                <a:latin typeface="Calibri"/>
              </a:rPr>
              <a:t>   actual against its target.</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2. Then draft an email to &lt;YOUR OWN ADDRESS&gt; with the subject</a:t>
            </a:r>
          </a:p>
          <a:p>
            <a:pPr algn="l">
              <a:spcAft>
                <a:spcPts val="200"/>
              </a:spcAft>
            </a:pPr>
            <a:r>
              <a:rPr sz="1200" b="0">
                <a:solidFill>
                  <a:srgbClr val="21201C"/>
                </a:solidFill>
                <a:latin typeface="Calibri"/>
              </a:rPr>
              <a:t>   "Meridian FY2025 — Q4 revenue summary". In the body:</a:t>
            </a:r>
          </a:p>
          <a:p>
            <a:pPr algn="l">
              <a:spcAft>
                <a:spcPts val="200"/>
              </a:spcAft>
            </a:pPr>
            <a:r>
              <a:rPr sz="1200" b="0">
                <a:solidFill>
                  <a:srgbClr val="21201C"/>
                </a:solidFill>
                <a:latin typeface="Calibri"/>
              </a:rPr>
              <a:t>   - Total FY2025 revenue and the Q4 figure.</a:t>
            </a:r>
          </a:p>
          <a:p>
            <a:pPr algn="l">
              <a:spcAft>
                <a:spcPts val="200"/>
              </a:spcAft>
            </a:pPr>
            <a:r>
              <a:rPr sz="1200" b="0">
                <a:solidFill>
                  <a:srgbClr val="21201C"/>
                </a:solidFill>
                <a:latin typeface="Calibri"/>
              </a:rPr>
              <a:t>   - Each desk's Q4 actual against target, best and worst first.</a:t>
            </a:r>
          </a:p>
          <a:p>
            <a:pPr algn="l">
              <a:spcAft>
                <a:spcPts val="200"/>
              </a:spcAft>
            </a:pPr>
            <a:r>
              <a:rPr sz="1200" b="0">
                <a:solidFill>
                  <a:srgbClr val="21201C"/>
                </a:solidFill>
                <a:latin typeface="Calibri"/>
              </a:rPr>
              <a:t>   - Two sentences explaining the largest variance.</a:t>
            </a:r>
          </a:p>
          <a:p>
            <a:pPr algn="l">
              <a:spcAft>
                <a:spcPts val="200"/>
              </a:spcAft>
            </a:pPr>
            <a:r>
              <a:rPr sz="1200" b="0">
                <a:solidFill>
                  <a:srgbClr val="21201C"/>
                </a:solidFill>
                <a:latin typeface="Calibri"/>
              </a:rPr>
              <a:t>   - A closing line noting the Q4 Advisory target discrepancy.</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Show me the draft. Do not send it until I approve it.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Replace &lt;YOUR OWN ADDRESS&gt; with your own email — never a real client's.</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1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Reopen the dashboard you saved in Lab 3 from your sidebar.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You are extending the artefact you already built, not starting a new one.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2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Enable the Gmail connector from the plus menu, alongside Google Drive.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Turn on only the connectors this task needs.</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3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replacing the placeholder with your own email address.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Class exercises always go to a test recipient — yourself.</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4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Watch Claude refresh the dashboard from Drive and add the Q4 target comparison.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data comes from the connector now; you are not attaching files by hand.</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5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refreshed dashboard: Q4 revenue should be S$6,980,000 across the four desks.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Verify the artefact before you let it feed an email to your head of finance.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6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Read the drafted email in full and compare every figure against the dashboard.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asks for explicit approval before sending — this is the moment to use it.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7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Approve the send, then confirm the message arrived in your own inbox.</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Approve only once the figures match; if anything is wrong, ask for a correction first.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a Q4 column with actual against target per desk and Q4 revenue of S$6,980,000. The email arrives in your own inbox with the correct totals and a closing note about the Advisory target discrepancy.</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06</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Labs 4 and 5 showed what the connectors can do — but you had to describe the whole routine each time. Now you capture it once. The reliable way to build a skill is the Do / Verify / Save pattern: do the task with Claude once, refine until the output is right, then use the /skill-creator skill to save it. You have already done the doing — this lab turns it into a command, then updates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daily-brief Agent Skill you can run by name each morning, updated once.</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Agent Skills, /skill-creator,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Do the routine, then save it as a skill</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100" b="0">
                <a:solidFill>
                  <a:srgbClr val="21201C"/>
                </a:solidFill>
                <a:latin typeface="Calibri"/>
              </a:rPr>
              <a:t>Step 1 — DO. Run my morning finance briefing for Meridian Capital</a:t>
            </a:r>
          </a:p>
          <a:p>
            <a:pPr algn="l">
              <a:spcAft>
                <a:spcPts val="200"/>
              </a:spcAft>
            </a:pPr>
            <a:r>
              <a:rPr sz="1100" b="0">
                <a:solidFill>
                  <a:srgbClr val="21201C"/>
                </a:solidFill>
                <a:latin typeface="Calibri"/>
              </a:rPr>
              <a:t>Partners, once, so we can get the format right together:</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 What changed in the Meridian Finance folder on Google Drive since</a:t>
            </a:r>
          </a:p>
          <a:p>
            <a:pPr algn="l">
              <a:spcAft>
                <a:spcPts val="200"/>
              </a:spcAft>
            </a:pPr>
            <a:r>
              <a:rPr sz="1100" b="0">
                <a:solidFill>
                  <a:srgbClr val="21201C"/>
                </a:solidFill>
                <a:latin typeface="Calibri"/>
              </a:rPr>
              <a:t>  yesterday?</a:t>
            </a:r>
          </a:p>
          <a:p>
            <a:pPr algn="l">
              <a:spcAft>
                <a:spcPts val="200"/>
              </a:spcAft>
            </a:pPr>
            <a:r>
              <a:rPr sz="1100" b="0">
                <a:solidFill>
                  <a:srgbClr val="21201C"/>
                </a:solidFill>
                <a:latin typeface="Calibri"/>
              </a:rPr>
              <a:t>- Which desks are behind their quarterly target right now?</a:t>
            </a:r>
          </a:p>
          <a:p>
            <a:pPr algn="l">
              <a:spcAft>
                <a:spcPts val="200"/>
              </a:spcAft>
            </a:pPr>
            <a:r>
              <a:rPr sz="1100" b="0">
                <a:solidFill>
                  <a:srgbClr val="21201C"/>
                </a:solidFill>
                <a:latin typeface="Calibri"/>
              </a:rPr>
              <a:t>- What finance emails do I need to respond to today?</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If a section has nothing in it, say so plainly — "No new files since</a:t>
            </a:r>
          </a:p>
          <a:p>
            <a:pPr algn="l">
              <a:spcAft>
                <a:spcPts val="200"/>
              </a:spcAft>
            </a:pPr>
            <a:r>
              <a:rPr sz="1100" b="0">
                <a:solidFill>
                  <a:srgbClr val="21201C"/>
                </a:solidFill>
                <a:latin typeface="Calibri"/>
              </a:rPr>
              <a:t>yesterday" — rather than padding it out. End with one line on what most</a:t>
            </a:r>
          </a:p>
          <a:p>
            <a:pPr algn="l">
              <a:spcAft>
                <a:spcPts val="200"/>
              </a:spcAft>
            </a:pPr>
            <a:r>
              <a:rPr sz="1100" b="0">
                <a:solidFill>
                  <a:srgbClr val="21201C"/>
                </a:solidFill>
                <a:latin typeface="Calibri"/>
              </a:rPr>
              <a:t>needs my attention, or "Nothing urgent — have a good day" if there is</a:t>
            </a:r>
          </a:p>
          <a:p>
            <a:pPr algn="l">
              <a:spcAft>
                <a:spcPts val="200"/>
              </a:spcAft>
            </a:pPr>
            <a:r>
              <a:rPr sz="1100" b="0">
                <a:solidFill>
                  <a:srgbClr val="21201C"/>
                </a:solidFill>
                <a:latin typeface="Calibri"/>
              </a:rPr>
              <a:t>nothing. All money in Singapore dollars. Draft only — never send email.</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Step 2 — SAVE. Once I confirm the output is right, use the</a:t>
            </a:r>
          </a:p>
          <a:p>
            <a:pPr algn="l">
              <a:spcAft>
                <a:spcPts val="200"/>
              </a:spcAft>
            </a:pPr>
            <a:r>
              <a:rPr sz="1100" b="0">
                <a:solidFill>
                  <a:srgbClr val="21201C"/>
                </a:solidFill>
                <a:latin typeface="Calibri"/>
              </a:rPr>
              <a:t>/skill-creator skill to turn exactly this routine into a skill called</a:t>
            </a:r>
          </a:p>
          <a:p>
            <a:pPr algn="l">
              <a:spcAft>
                <a:spcPts val="200"/>
              </a:spcAft>
            </a:pPr>
            <a:r>
              <a:rPr sz="1100" b="0">
                <a:solidFill>
                  <a:srgbClr val="21201C"/>
                </a:solidFill>
                <a:latin typeface="Calibri"/>
              </a:rPr>
              <a:t>daily-brief that I can run every morning.</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Do it once, check the output, then save it — that order is what makes the skill reliable.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1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Make sure the Drive and Gmail connectors from Labs 4 and 5 are still enabled.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skill drives those connectors, so it can only work if they are on.</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2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DO — paste Step 1 of the lab prompt and let Claude run the routine once.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You are not writing instructions yet; you are doing the task together so Claude sees what good looks like.</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3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VERIFY — read the briefing and ask for changes until the format is right.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Reorder a section, tighten the wording, fix a heading. Whatever you settle on here is what the skill will reproduce.</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4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fallback wording on any empty section.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fallbacks are what stop the routine inventing filler on a quiet morning — get them right before you save.</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5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Confirm it drafted and did not send anything.</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routine you will run unattended must not be able to send mail on its own.</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6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 run Step 2 so /skill-creator turns the routine into a daily-brief skill.</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skill-creator skill writes the SKILL.md for you, from the run you just verified.</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7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Read the SKILL.md it produces, especially the description line.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description is how Claude decides whether to load the skill for a future task — make it specific.</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8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8</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Run the skill by name, then run it again.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same structure both times is the payoff: one command instead of re-describing the routine every morning.</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8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9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9</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UPDATE — ask for one change, such as putting the emails section first.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skill is not written once. You keep refining it as you learn what you actually want each morning.</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9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10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10</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change under the same skill name and confirm the replace prompt.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warns that a skill with this name already exists and that replacing it cannot be undone — read that prompt before you accept it.</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10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11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Run the skill once more to confirm the change took effect.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Always re-run after an update; that is how you know the new version is the one being loaded.</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11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Running the daily-brief skill by name produces a briefing with all three sections — Drive changes, desks behind target, emails needing a reply — using the plain fallback wording where a section is empty, ending with a single attention line, with all money in SGD and no email sent. After the update, the revised section order appears on the next run — and Claude warned you before replacing the existing skill.</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Tools and Skills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04</a:t>
            </a:r>
          </a:p>
          <a:p>
            <a:pPr algn="l">
              <a:spcAft>
                <a:spcPts val="300"/>
              </a:spcAft>
            </a:pPr>
            <a:r>
              <a:rPr sz="1150" b="0">
                <a:solidFill>
                  <a:srgbClr val="6B6862"/>
                </a:solidFill>
                <a:latin typeface="Calibri"/>
              </a:rPr>
              <a:t>You can now enable the Google Drive connector and read finance data held outside the chat.</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05</a:t>
            </a:r>
          </a:p>
          <a:p>
            <a:pPr algn="l">
              <a:spcAft>
                <a:spcPts val="300"/>
              </a:spcAft>
            </a:pPr>
            <a:r>
              <a:rPr sz="1150" b="0">
                <a:solidFill>
                  <a:srgbClr val="6B6862"/>
                </a:solidFill>
                <a:latin typeface="Calibri"/>
              </a:rPr>
              <a:t>You can now update the Live Artefact from connected data and deliver an approved summary by Gmail.</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06</a:t>
            </a:r>
          </a:p>
          <a:p>
            <a:pPr algn="l">
              <a:spcAft>
                <a:spcPts val="300"/>
              </a:spcAft>
            </a:pPr>
            <a:r>
              <a:rPr sz="1150" b="0">
                <a:solidFill>
                  <a:srgbClr val="6B6862"/>
                </a:solidFill>
                <a:latin typeface="Calibri"/>
              </a:rPr>
              <a:t>You can now turn a routine you have already done into a reusable Agent Skill, and update it.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03</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Projects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a Project is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Project instructions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Assemble the workspace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Lab 7: the Meridian project</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101</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dedicated place for ongoing work, where context builds over time.</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Working in one-off chats</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re-attach the same files every session.</a:t>
            </a:r>
          </a:p>
          <a:p>
            <a:pPr algn="l">
              <a:spcAft>
                <a:spcPts val="900"/>
              </a:spcAft>
            </a:pPr>
            <a:r>
              <a:rPr sz="1250" b="0">
                <a:solidFill>
                  <a:srgbClr val="21201C"/>
                </a:solidFill>
                <a:latin typeface="Calibri"/>
              </a:rPr>
              <a:t>•  Rules are restated from memory each time.</a:t>
            </a:r>
          </a:p>
          <a:p>
            <a:pPr algn="l">
              <a:spcAft>
                <a:spcPts val="900"/>
              </a:spcAft>
            </a:pPr>
            <a:r>
              <a:rPr sz="1250" b="0">
                <a:solidFill>
                  <a:srgbClr val="21201C"/>
                </a:solidFill>
                <a:latin typeface="Calibri"/>
              </a:rPr>
              <a:t>•  Your artefacts are scattered across conversations.</a:t>
            </a:r>
          </a:p>
          <a:p>
            <a:pPr algn="l">
              <a:spcAft>
                <a:spcPts val="900"/>
              </a:spcAft>
            </a:pPr>
            <a:r>
              <a:rPr sz="1250" b="0">
                <a:solidFill>
                  <a:srgbClr val="21201C"/>
                </a:solidFill>
                <a:latin typeface="Calibri"/>
              </a:rPr>
              <a:t>•  A colleague has to be told how you set it up.</a:t>
            </a:r>
          </a:p>
          <a:p>
            <a:pPr algn="l">
              <a:spcAft>
                <a:spcPts val="900"/>
              </a:spcAft>
            </a:pPr>
            <a:r>
              <a:rPr sz="1250" b="0">
                <a:solidFill>
                  <a:srgbClr val="21201C"/>
                </a:solidFill>
                <a:latin typeface="Calibri"/>
              </a:rPr>
              <a:t>•  Knowledge leaves when you do.</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Working in a Claude Project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Files are added once as project knowledge.</a:t>
            </a:r>
          </a:p>
          <a:p>
            <a:pPr algn="l">
              <a:spcAft>
                <a:spcPts val="900"/>
              </a:spcAft>
            </a:pPr>
            <a:r>
              <a:rPr sz="1250" b="0">
                <a:solidFill>
                  <a:srgbClr val="21201C"/>
                </a:solidFill>
                <a:latin typeface="Calibri"/>
              </a:rPr>
              <a:t>•  Custom instructions apply to every chat.</a:t>
            </a:r>
          </a:p>
          <a:p>
            <a:pPr algn="l">
              <a:spcAft>
                <a:spcPts val="900"/>
              </a:spcAft>
            </a:pPr>
            <a:r>
              <a:rPr sz="1250" b="0">
                <a:solidFill>
                  <a:srgbClr val="21201C"/>
                </a:solidFill>
                <a:latin typeface="Calibri"/>
              </a:rPr>
              <a:t>•  Artefacts and skills live in one workspace.</a:t>
            </a:r>
          </a:p>
          <a:p>
            <a:pPr algn="l">
              <a:spcAft>
                <a:spcPts val="900"/>
              </a:spcAft>
            </a:pPr>
            <a:r>
              <a:rPr sz="1250" b="0">
                <a:solidFill>
                  <a:srgbClr val="21201C"/>
                </a:solidFill>
                <a:latin typeface="Calibri"/>
              </a:rPr>
              <a:t>•  A colleague opens the project and is ready.</a:t>
            </a:r>
          </a:p>
          <a:p>
            <a:pPr algn="l">
              <a:spcAft>
                <a:spcPts val="900"/>
              </a:spcAft>
            </a:pPr>
            <a:r>
              <a:rPr sz="1250" b="0">
                <a:solidFill>
                  <a:srgbClr val="21201C"/>
                </a:solidFill>
                <a:latin typeface="Calibri"/>
              </a:rPr>
              <a:t>•  The setup outlives any single conversation.</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Three Ways to Start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 Cowork, the files and instructions stay in a folder on your computer.</a:t>
            </a:r>
          </a:p>
        </p:txBody>
      </p:sp>
      <p:sp>
        <p:nvSpPr>
          <p:cNvPr id="6" name="Rectangle 5"/>
          <p:cNvSpPr/>
          <p:nvPr/>
        </p:nvSpPr>
        <p:spPr>
          <a:xfrm>
            <a:off x="548640" y="2148840"/>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from scratch</a:t>
            </a:r>
          </a:p>
          <a:p>
            <a:pPr algn="l">
              <a:spcAft>
                <a:spcPts val="300"/>
              </a:spcAft>
            </a:pPr>
            <a:r>
              <a:rPr sz="1150" b="0">
                <a:solidFill>
                  <a:srgbClr val="6B6862"/>
                </a:solidFill>
                <a:latin typeface="Calibri"/>
              </a:rPr>
              <a:t>Set up a new folder with instructions and files.</a:t>
            </a:r>
          </a:p>
        </p:txBody>
      </p:sp>
      <p:sp>
        <p:nvSpPr>
          <p:cNvPr id="11" name="Rectangle 10"/>
          <p:cNvSpPr/>
          <p:nvPr/>
        </p:nvSpPr>
        <p:spPr>
          <a:xfrm>
            <a:off x="548640" y="3453384"/>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1335024" y="3563112"/>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Import a project</a:t>
            </a:r>
          </a:p>
          <a:p>
            <a:pPr algn="l">
              <a:spcAft>
                <a:spcPts val="300"/>
              </a:spcAft>
            </a:pPr>
            <a:r>
              <a:rPr sz="1150" b="0">
                <a:solidFill>
                  <a:srgbClr val="6B6862"/>
                </a:solidFill>
                <a:latin typeface="Calibri"/>
              </a:rPr>
              <a:t>Bring a project you made in Chat over to Cowork.</a:t>
            </a:r>
          </a:p>
        </p:txBody>
      </p:sp>
      <p:sp>
        <p:nvSpPr>
          <p:cNvPr id="16" name="Rectangle 15"/>
          <p:cNvSpPr/>
          <p:nvPr/>
        </p:nvSpPr>
        <p:spPr>
          <a:xfrm>
            <a:off x="548640" y="4757928"/>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867656"/>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an existing folder</a:t>
            </a:r>
          </a:p>
          <a:p>
            <a:pPr algn="l">
              <a:spcAft>
                <a:spcPts val="300"/>
              </a:spcAft>
            </a:pPr>
            <a:r>
              <a:rPr sz="1150" b="0">
                <a:solidFill>
                  <a:srgbClr val="6B6862"/>
                </a:solidFill>
                <a:latin typeface="Calibri"/>
              </a:rPr>
              <a:t>Give Claude a folder you already work from.</a:t>
            </a:r>
          </a:p>
        </p:txBody>
      </p:sp>
      <p:sp>
        <p:nvSpPr>
          <p:cNvPr id="21" name="TextBox 2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3" name="TextBox 2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a Project, Field by Field</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New project → Start from scratch opens this dialog.</a:t>
            </a:r>
          </a:p>
        </p:txBody>
      </p:sp>
      <p:sp>
        <p:nvSpPr>
          <p:cNvPr id="6" name="Rectangle 5"/>
          <p:cNvSpPr/>
          <p:nvPr/>
        </p:nvSpPr>
        <p:spPr>
          <a:xfrm>
            <a:off x="548640" y="2148840"/>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343150"/>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43150"/>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Name</a:t>
            </a:r>
          </a:p>
          <a:p>
            <a:pPr algn="l">
              <a:spcAft>
                <a:spcPts val="500"/>
              </a:spcAft>
            </a:pPr>
            <a:r>
              <a:rPr sz="1250" b="0">
                <a:solidFill>
                  <a:srgbClr val="6B6862"/>
                </a:solidFill>
                <a:latin typeface="Calibri"/>
              </a:rPr>
              <a:t>What this body of work is called, e.g. Meridian Finance Reporting. Required.</a:t>
            </a:r>
          </a:p>
        </p:txBody>
      </p:sp>
      <p:sp>
        <p:nvSpPr>
          <p:cNvPr id="10" name="Rectangle 9"/>
          <p:cNvSpPr/>
          <p:nvPr/>
        </p:nvSpPr>
        <p:spPr>
          <a:xfrm>
            <a:off x="548640" y="3049524"/>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3243834"/>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43834"/>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3049524"/>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The standing rules for every chat in the project — house style, number formats, and the approval habit.</a:t>
            </a:r>
          </a:p>
        </p:txBody>
      </p:sp>
      <p:sp>
        <p:nvSpPr>
          <p:cNvPr id="14" name="Rectangle 13"/>
          <p:cNvSpPr/>
          <p:nvPr/>
        </p:nvSpPr>
        <p:spPr>
          <a:xfrm>
            <a:off x="548640" y="3950208"/>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414451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4451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950208"/>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Add files</a:t>
            </a:r>
          </a:p>
          <a:p>
            <a:pPr algn="l">
              <a:spcAft>
                <a:spcPts val="500"/>
              </a:spcAft>
            </a:pPr>
            <a:r>
              <a:rPr sz="1250" b="0">
                <a:solidFill>
                  <a:srgbClr val="6B6862"/>
                </a:solidFill>
                <a:latin typeface="Calibri"/>
              </a:rPr>
              <a:t>Drop in the files the work always needs, so no chat has to re-attach them.</a:t>
            </a:r>
          </a:p>
        </p:txBody>
      </p:sp>
      <p:sp>
        <p:nvSpPr>
          <p:cNvPr id="18" name="Rectangle 17"/>
          <p:cNvSpPr/>
          <p:nvPr/>
        </p:nvSpPr>
        <p:spPr>
          <a:xfrm>
            <a:off x="548640" y="4850892"/>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504520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04520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850892"/>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Choose project location</a:t>
            </a:r>
          </a:p>
          <a:p>
            <a:pPr algn="l">
              <a:spcAft>
                <a:spcPts val="500"/>
              </a:spcAft>
            </a:pPr>
            <a:r>
              <a:rPr sz="1250" b="0">
                <a:solidFill>
                  <a:srgbClr val="6B6862"/>
                </a:solidFill>
                <a:latin typeface="Calibri"/>
              </a:rPr>
              <a:t>Where the project folder lives on your computer — you can open and edit it outside Claude.</a:t>
            </a:r>
          </a:p>
        </p:txBody>
      </p:sp>
      <p:sp>
        <p:nvSpPr>
          <p:cNvPr id="22" name="TextBox 2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Then click Create. Memory can stay on, so the project also remembers what you work on over time.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Goes in the Project</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project folder</a:t>
            </a:r>
          </a:p>
          <a:p>
            <a:pPr algn="l">
              <a:spcAft>
                <a:spcPts val="300"/>
              </a:spcAft>
            </a:pPr>
            <a:r>
              <a:rPr sz="1150" b="0">
                <a:solidFill>
                  <a:srgbClr val="6B6862"/>
                </a:solidFill>
                <a:latin typeface="Calibri"/>
              </a:rPr>
              <a:t>A real folder on your computer holding the files and instructions — Claude works in it, and so can you.</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The standing rules for this work: house style, SGD formatting, check before sending.</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finance data</a:t>
            </a:r>
          </a:p>
          <a:p>
            <a:pPr algn="l">
              <a:spcAft>
                <a:spcPts val="300"/>
              </a:spcAft>
            </a:pPr>
            <a:r>
              <a:rPr sz="1150" b="0">
                <a:solidFill>
                  <a:srgbClr val="6B6862"/>
                </a:solidFill>
                <a:latin typeface="Calibri"/>
              </a:rPr>
              <a:t>The Meridian files, in the folder once, so no chat has to re-attach them.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skill</a:t>
            </a:r>
          </a:p>
          <a:p>
            <a:pPr algn="l">
              <a:spcAft>
                <a:spcPts val="300"/>
              </a:spcAft>
            </a:pPr>
            <a:r>
              <a:rPr sz="1150" b="0">
                <a:solidFill>
                  <a:srgbClr val="6B6862"/>
                </a:solidFill>
                <a:latin typeface="Calibri"/>
              </a:rPr>
              <a:t>The daily-brief routine, available to everyone working in the project.</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artefacts</a:t>
            </a:r>
          </a:p>
          <a:p>
            <a:pPr algn="l">
              <a:spcAft>
                <a:spcPts val="300"/>
              </a:spcAft>
            </a:pPr>
            <a:r>
              <a:rPr sz="1150" b="0">
                <a:solidFill>
                  <a:srgbClr val="6B6862"/>
                </a:solidFill>
                <a:latin typeface="Calibri"/>
              </a:rPr>
              <a:t>The FY2025 dashboard, saved where the team looks for it.</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Connected tools</a:t>
            </a:r>
          </a:p>
          <a:p>
            <a:pPr algn="l">
              <a:spcAft>
                <a:spcPts val="300"/>
              </a:spcAft>
            </a:pPr>
            <a:r>
              <a:rPr sz="1150" b="0">
                <a:solidFill>
                  <a:srgbClr val="6B6862"/>
                </a:solidFill>
                <a:latin typeface="Calibri"/>
              </a:rPr>
              <a:t>Drive and Gmail, already enabled for the tasks this project runs.</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Assembling the Meridian Project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Create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New project → Start from scratch, and name it Meridian Finance Reporting.</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Add files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Put the finance data and brand guidelines into the project folder.</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Set instructions</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Write the standing rules that apply to every task in the project.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Bring your tools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Add the dashboard artefact and the daily-brief skill.</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Share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Hand the folder to the team so they work from the same setup.</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Everything from Labs 1–5, gathered into one workspace you can hand to the team.</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Projects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Claude Project</a:t>
            </a:r>
          </a:p>
          <a:p>
            <a:pPr algn="l">
              <a:spcAft>
                <a:spcPts val="300"/>
              </a:spcAft>
            </a:pPr>
            <a:r>
              <a:rPr sz="1150" b="0">
                <a:solidFill>
                  <a:srgbClr val="6B6862"/>
                </a:solidFill>
                <a:latin typeface="Calibri"/>
              </a:rPr>
              <a:t>A dedicated place for ongoing work, where context builds over time instead of resetting each chat.</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Backed by a folder</a:t>
            </a:r>
          </a:p>
          <a:p>
            <a:pPr algn="l">
              <a:spcAft>
                <a:spcPts val="300"/>
              </a:spcAft>
            </a:pPr>
            <a:r>
              <a:rPr sz="1150" b="0">
                <a:solidFill>
                  <a:srgbClr val="6B6862"/>
                </a:solidFill>
                <a:latin typeface="Calibri"/>
              </a:rPr>
              <a:t>In Cowork the files and instructions live in a real folder on your computer — you can still open them yourself.</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ways to start</a:t>
            </a:r>
          </a:p>
          <a:p>
            <a:pPr algn="l">
              <a:spcAft>
                <a:spcPts val="300"/>
              </a:spcAft>
            </a:pPr>
            <a:r>
              <a:rPr sz="1150" b="0">
                <a:solidFill>
                  <a:srgbClr val="6B6862"/>
                </a:solidFill>
                <a:latin typeface="Calibri"/>
              </a:rPr>
              <a:t>Start from scratch, import a project you made in Chat, or point Claude at a folder you already work from.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Standing rules for this body of work — house style, SGD formatting, check before sending.</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Everything in one place</a:t>
            </a:r>
          </a:p>
          <a:p>
            <a:pPr algn="l">
              <a:spcAft>
                <a:spcPts val="300"/>
              </a:spcAft>
            </a:pPr>
            <a:r>
              <a:rPr sz="1150" b="0">
                <a:solidFill>
                  <a:srgbClr val="6B6862"/>
                </a:solidFill>
                <a:latin typeface="Calibri"/>
              </a:rPr>
              <a:t>The finance data, the brand rules, your daily-brief skill and the dashboard, together.</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 the folder</a:t>
            </a:r>
          </a:p>
          <a:p>
            <a:pPr algn="l">
              <a:spcAft>
                <a:spcPts val="300"/>
              </a:spcAft>
            </a:pPr>
            <a:r>
              <a:rPr sz="1150" b="0">
                <a:solidFill>
                  <a:srgbClr val="6B6862"/>
                </a:solidFill>
                <a:latin typeface="Calibri"/>
              </a:rPr>
              <a:t>A colleague opens the same project and inherits the data, rules and tools you set up.</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07</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Everything you have built so far lives in separate places — a dashboard in your sidebar, files in Drive, a skill, and rules you have been restating by hand. In this final lab you gather them into one Cowork Project: a dedicated folder on your computer where context builds over time, and which a colleague can open and be immediately productive in.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Meridian Finance Reporting project holding the data, instructions, skill and dashboard.</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Projects, Agent Skills, Live Artefacts,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the project instructions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950" b="0">
                <a:solidFill>
                  <a:srgbClr val="21201C"/>
                </a:solidFill>
                <a:latin typeface="Calibri"/>
              </a:rPr>
              <a:t>This project is Meridian Finance Reporting. Write the project</a:t>
            </a:r>
          </a:p>
          <a:p>
            <a:pPr algn="l">
              <a:spcAft>
                <a:spcPts val="200"/>
              </a:spcAft>
            </a:pPr>
            <a:r>
              <a:rPr sz="950" b="0">
                <a:solidFill>
                  <a:srgbClr val="21201C"/>
                </a:solidFill>
                <a:latin typeface="Calibri"/>
              </a:rPr>
              <a:t>instructions that should apply to every task I run in here:</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 We are the finance team at Meridian Capital Partners Pte Ltd.</a:t>
            </a:r>
          </a:p>
          <a:p>
            <a:pPr algn="l">
              <a:spcAft>
                <a:spcPts val="200"/>
              </a:spcAft>
            </a:pPr>
            <a:r>
              <a:rPr sz="950" b="0">
                <a:solidFill>
                  <a:srgbClr val="21201C"/>
                </a:solidFill>
                <a:latin typeface="Calibri"/>
              </a:rPr>
              <a:t>  Our four revenue desks are Advisory, Asset Management, Private</a:t>
            </a:r>
          </a:p>
          <a:p>
            <a:pPr algn="l">
              <a:spcAft>
                <a:spcPts val="200"/>
              </a:spcAft>
            </a:pPr>
            <a:r>
              <a:rPr sz="950" b="0">
                <a:solidFill>
                  <a:srgbClr val="21201C"/>
                </a:solidFill>
                <a:latin typeface="Calibri"/>
              </a:rPr>
              <a:t>  Credit and Corporate Finance.</a:t>
            </a:r>
          </a:p>
          <a:p>
            <a:pPr algn="l">
              <a:spcAft>
                <a:spcPts val="200"/>
              </a:spcAft>
            </a:pPr>
            <a:r>
              <a:rPr sz="950" b="0">
                <a:solidFill>
                  <a:srgbClr val="21201C"/>
                </a:solidFill>
                <a:latin typeface="Calibri"/>
              </a:rPr>
              <a:t>- All money in Singapore dollars, thousands separators, no decimals.</a:t>
            </a:r>
          </a:p>
          <a:p>
            <a:pPr algn="l">
              <a:spcAft>
                <a:spcPts val="200"/>
              </a:spcAft>
            </a:pPr>
            <a:r>
              <a:rPr sz="950" b="0">
                <a:solidFill>
                  <a:srgbClr val="21201C"/>
                </a:solidFill>
                <a:latin typeface="Calibri"/>
              </a:rPr>
              <a:t>- Variances show both the absolute figure and the percentage.</a:t>
            </a:r>
          </a:p>
          <a:p>
            <a:pPr algn="l">
              <a:spcAft>
                <a:spcPts val="200"/>
              </a:spcAft>
            </a:pPr>
            <a:r>
              <a:rPr sz="950" b="0">
                <a:solidFill>
                  <a:srgbClr val="21201C"/>
                </a:solidFill>
                <a:latin typeface="Calibri"/>
              </a:rPr>
              <a:t>- Every report carries the title "Meridian Capital Partners" and</a:t>
            </a:r>
          </a:p>
          <a:p>
            <a:pPr algn="l">
              <a:spcAft>
                <a:spcPts val="200"/>
              </a:spcAft>
            </a:pPr>
            <a:r>
              <a:rPr sz="950" b="0">
                <a:solidFill>
                  <a:srgbClr val="21201C"/>
                </a:solidFill>
                <a:latin typeface="Calibri"/>
              </a:rPr>
              <a:t>  the reporting period, and the footer "internal use only".</a:t>
            </a:r>
          </a:p>
          <a:p>
            <a:pPr algn="l">
              <a:spcAft>
                <a:spcPts val="200"/>
              </a:spcAft>
            </a:pPr>
            <a:r>
              <a:rPr sz="950" b="0">
                <a:solidFill>
                  <a:srgbClr val="21201C"/>
                </a:solidFill>
                <a:latin typeface="Calibri"/>
              </a:rPr>
              <a:t>- Headings in a serif font, body text in a clean sans-serif.</a:t>
            </a:r>
          </a:p>
          <a:p>
            <a:pPr algn="l">
              <a:spcAft>
                <a:spcPts val="200"/>
              </a:spcAft>
            </a:pPr>
            <a:r>
              <a:rPr sz="950" b="0">
                <a:solidFill>
                  <a:srgbClr val="21201C"/>
                </a:solidFill>
                <a:latin typeface="Calibri"/>
              </a:rPr>
              <a:t>- Tone: factual and concise. No marketing language.</a:t>
            </a:r>
          </a:p>
          <a:p>
            <a:pPr algn="l">
              <a:spcAft>
                <a:spcPts val="200"/>
              </a:spcAft>
            </a:pPr>
            <a:r>
              <a:rPr sz="950" b="0">
                <a:solidFill>
                  <a:srgbClr val="21201C"/>
                </a:solidFill>
                <a:latin typeface="Calibri"/>
              </a:rPr>
              <a:t>- Always show me a draft before sending anything. Never send email</a:t>
            </a:r>
          </a:p>
          <a:p>
            <a:pPr algn="l">
              <a:spcAft>
                <a:spcPts val="200"/>
              </a:spcAft>
            </a:pPr>
            <a:r>
              <a:rPr sz="950" b="0">
                <a:solidFill>
                  <a:srgbClr val="21201C"/>
                </a:solidFill>
                <a:latin typeface="Calibri"/>
              </a:rPr>
              <a:t>  without my explicit approval.</a:t>
            </a:r>
          </a:p>
          <a:p>
            <a:pPr algn="l">
              <a:spcAft>
                <a:spcPts val="200"/>
              </a:spcAft>
            </a:pPr>
            <a:r>
              <a:rPr sz="950" b="0">
                <a:solidFill>
                  <a:srgbClr val="21201C"/>
                </a:solidFill>
                <a:latin typeface="Calibri"/>
              </a:rPr>
              <a:t>- The finance data in this project folder is the source of truth.</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Write these as clear project instructions, then confirm what you</a:t>
            </a:r>
          </a:p>
          <a:p>
            <a:pPr algn="l">
              <a:spcAft>
                <a:spcPts val="200"/>
              </a:spcAft>
            </a:pPr>
            <a:r>
              <a:rPr sz="950" b="0">
                <a:solidFill>
                  <a:srgbClr val="21201C"/>
                </a:solidFill>
                <a:latin typeface="Calibri"/>
              </a:rPr>
              <a:t>will now do differently in every chat in this project.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Project instructions apply to every chat in the project — you stop restating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1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In Cowork, choose New project, then Start from scratch.</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other two routes on that screen are Import a project (bring one over from Chat) and Use an existing folder (point Claude at a folder you already work from).</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2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In the Start a new project dialog, type the Name: Meridian Finance Reporting.</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dialog has four fields — Name, Instructions, Add files and Choose project location.</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3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prompt's rules into the Instructions box.</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These are the standing rules — house style, SGD formatting and the approval habit — applied to every chat in the project.</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4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Under Add files, drop in the Meridian finance data and the brand guidelines.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Adding them once means no chat in this project has to re-attach them.</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113</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5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Set Choose project location to where you want the folder to live, then click Create.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Cowork project is backed by a real folder on your computer — you can open the files yourself at any time.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6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Add the daily-brief skill from Lab 6 to the project.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routine now travels with the project, so anyone working in it can run it.</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115</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7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project folder on your computer and confirm the files are really there.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what distinguishes a Cowork project — the instructions and files are a folder you own, not something locked inside the app.</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116</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8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8</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FY2025 dashboard into the project so it sits with the data it reports on.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artefact, its data and its rules finally live in one place.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8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117</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9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9</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fresh chat in the project and ask for a one-paragraph Q4 summary.</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Test the payoff: no files attached, no rules restated, and the output already follows the house style.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9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118</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10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10</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Confirm the folder holds the data, instructions, skill and dashboard, ready to share.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Handing a colleague this folder hands them the whole working setup.</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10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119</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Meridian Finance Reporting project exists, backed by a folder containing the finance data and brand guidelines, with project instructions set, the daily-brief skill available and the dashboard saved. A brand-new chat in the project produces a Q4 summary in SGD with the correct header and footer without you attaching a file or restating a single rule.</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120</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Projects</a:t>
            </a:r>
          </a:p>
        </p:txBody>
      </p:sp>
      <p:sp>
        <p:nvSpPr>
          <p:cNvPr id="5" name="Rectangle 4"/>
          <p:cNvSpPr/>
          <p:nvPr/>
        </p:nvSpPr>
        <p:spPr>
          <a:xfrm>
            <a:off x="548640" y="1783080"/>
            <a:ext cx="11064240" cy="4114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41148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3895344"/>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07</a:t>
            </a:r>
          </a:p>
          <a:p>
            <a:pPr algn="l">
              <a:spcAft>
                <a:spcPts val="300"/>
              </a:spcAft>
            </a:pPr>
            <a:r>
              <a:rPr sz="1150" b="0">
                <a:solidFill>
                  <a:srgbClr val="6B6862"/>
                </a:solidFill>
                <a:latin typeface="Calibri"/>
              </a:rPr>
              <a:t>You can now assemble the data, instructions, skill and dashboard into one reusable Project.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121</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WRAP-UP</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Summary &amp; Next Steps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you built</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Staying in control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Next steps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Q&amp;A</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122</a:t>
            </a:r>
          </a:p>
        </p:txBody>
      </p:sp>
    </p:spTree>
  </p:cSld>
  <p:clrMapOvr>
    <a:masterClrMapping/>
  </p:clrMapOvr>
  <p:transition spd="med">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You Achieved</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123</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GOOD PRACTICE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Staying in Control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drafts and builds; you check and approve.</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Work from mock data</a:t>
            </a:r>
          </a:p>
          <a:p>
            <a:pPr algn="l">
              <a:spcAft>
                <a:spcPts val="300"/>
              </a:spcAft>
            </a:pPr>
            <a:r>
              <a:rPr sz="1150" b="0">
                <a:solidFill>
                  <a:srgbClr val="6B6862"/>
                </a:solidFill>
                <a:latin typeface="Calibri"/>
              </a:rPr>
              <a:t>Use the supplied synthetic Meridian data — never real client records in training.</a:t>
            </a:r>
          </a:p>
        </p:txBody>
      </p:sp>
      <p:sp>
        <p:nvSpPr>
          <p:cNvPr id="9" name="Rectangle 8"/>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connector</a:t>
            </a:r>
          </a:p>
          <a:p>
            <a:pPr algn="l">
              <a:spcAft>
                <a:spcPts val="300"/>
              </a:spcAft>
            </a:pPr>
            <a:r>
              <a:rPr sz="1150" b="0">
                <a:solidFill>
                  <a:srgbClr val="6B6862"/>
                </a:solidFill>
                <a:latin typeface="Calibri"/>
              </a:rPr>
              <a:t>Give Claude one folder for the task, not your entire Drive.</a:t>
            </a:r>
          </a:p>
        </p:txBody>
      </p:sp>
      <p:sp>
        <p:nvSpPr>
          <p:cNvPr id="12" name="Rectangle 11"/>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every figure</a:t>
            </a:r>
          </a:p>
          <a:p>
            <a:pPr algn="l">
              <a:spcAft>
                <a:spcPts val="300"/>
              </a:spcAft>
            </a:pPr>
            <a:r>
              <a:rPr sz="1150" b="0">
                <a:solidFill>
                  <a:srgbClr val="6B6862"/>
                </a:solidFill>
                <a:latin typeface="Calibri"/>
              </a:rPr>
              <a:t>Read the artefact's numbers back against the source file before you trust them.</a:t>
            </a:r>
          </a:p>
        </p:txBody>
      </p:sp>
      <p:sp>
        <p:nvSpPr>
          <p:cNvPr id="15" name="Rectangle 14"/>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Approve before sending</a:t>
            </a:r>
          </a:p>
          <a:p>
            <a:pPr algn="l">
              <a:spcAft>
                <a:spcPts val="300"/>
              </a:spcAft>
            </a:pPr>
            <a:r>
              <a:rPr sz="1150" b="0">
                <a:solidFill>
                  <a:srgbClr val="6B6862"/>
                </a:solidFill>
                <a:latin typeface="Calibri"/>
              </a:rPr>
              <a:t>Read the drafted email in full; approve it only when the figures match.</a:t>
            </a:r>
          </a:p>
        </p:txBody>
      </p:sp>
      <p:sp>
        <p:nvSpPr>
          <p:cNvPr id="18" name="Rectangle 17"/>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 test recipient</a:t>
            </a:r>
          </a:p>
          <a:p>
            <a:pPr algn="l">
              <a:spcAft>
                <a:spcPts val="300"/>
              </a:spcAft>
            </a:pPr>
            <a:r>
              <a:rPr sz="1150" b="0">
                <a:solidFill>
                  <a:srgbClr val="6B6862"/>
                </a:solidFill>
                <a:latin typeface="Calibri"/>
              </a:rPr>
              <a:t>Send class exercises to yourself, never to a real client.</a:t>
            </a:r>
          </a:p>
        </p:txBody>
      </p:sp>
      <p:sp>
        <p:nvSpPr>
          <p:cNvPr id="21" name="Rectangle 2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original</a:t>
            </a:r>
          </a:p>
          <a:p>
            <a:pPr algn="l">
              <a:spcAft>
                <a:spcPts val="300"/>
              </a:spcAft>
            </a:pPr>
            <a:r>
              <a:rPr sz="1150" b="0">
                <a:solidFill>
                  <a:srgbClr val="6B6862"/>
                </a:solidFill>
                <a:latin typeface="Calibri"/>
              </a:rPr>
              <a:t>Let Claude write new files; leave the source data untouched.</a:t>
            </a:r>
          </a:p>
        </p:txBody>
      </p:sp>
      <p:sp>
        <p:nvSpPr>
          <p:cNvPr id="24" name="TextBox 2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5" name="TextBox 2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6" name="TextBox 2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124</a:t>
            </a:r>
          </a:p>
        </p:txBody>
      </p:sp>
    </p:spTree>
  </p:cSld>
  <p:clrMapOvr>
    <a:masterClrMapping/>
  </p:clrMapOvr>
  <p:transition spd="med">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AFTER THE COURSE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Next Steps</a:t>
            </a:r>
          </a:p>
        </p:txBody>
      </p:sp>
      <p:sp>
        <p:nvSpPr>
          <p:cNvPr id="5" name="Rectangle 4"/>
          <p:cNvSpPr/>
          <p:nvPr/>
        </p:nvSpPr>
        <p:spPr>
          <a:xfrm>
            <a:off x="548640"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Rebuild it with your own data</a:t>
            </a:r>
          </a:p>
          <a:p>
            <a:pPr algn="l">
              <a:spcAft>
                <a:spcPts val="300"/>
              </a:spcAft>
            </a:pPr>
            <a:r>
              <a:rPr sz="1150" b="0">
                <a:solidFill>
                  <a:srgbClr val="6B6862"/>
                </a:solidFill>
                <a:latin typeface="Calibri"/>
              </a:rPr>
              <a:t>Repeat Lab 2 using a real report you own, on a copy of the file.</a:t>
            </a:r>
          </a:p>
        </p:txBody>
      </p:sp>
      <p:sp>
        <p:nvSpPr>
          <p:cNvPr id="10" name="Rectangle 9"/>
          <p:cNvSpPr/>
          <p:nvPr/>
        </p:nvSpPr>
        <p:spPr>
          <a:xfrm>
            <a:off x="6163056"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one source</a:t>
            </a:r>
          </a:p>
          <a:p>
            <a:pPr algn="l">
              <a:spcAft>
                <a:spcPts val="300"/>
              </a:spcAft>
            </a:pPr>
            <a:r>
              <a:rPr sz="1150" b="0">
                <a:solidFill>
                  <a:srgbClr val="6B6862"/>
                </a:solidFill>
                <a:latin typeface="Calibri"/>
              </a:rPr>
              <a:t>Enable the connector for the place your finance data actually lives.</a:t>
            </a:r>
          </a:p>
        </p:txBody>
      </p:sp>
      <p:sp>
        <p:nvSpPr>
          <p:cNvPr id="15" name="Rectangle 14"/>
          <p:cNvSpPr/>
          <p:nvPr/>
        </p:nvSpPr>
        <p:spPr>
          <a:xfrm>
            <a:off x="548640"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Automate one routine</a:t>
            </a:r>
          </a:p>
          <a:p>
            <a:pPr algn="l">
              <a:spcAft>
                <a:spcPts val="300"/>
              </a:spcAft>
            </a:pPr>
            <a:r>
              <a:rPr sz="1150" b="0">
                <a:solidFill>
                  <a:srgbClr val="6B6862"/>
                </a:solidFill>
                <a:latin typeface="Calibri"/>
              </a:rPr>
              <a:t>Pick the thing you do every morning and capture it as a skill.</a:t>
            </a:r>
          </a:p>
        </p:txBody>
      </p:sp>
      <p:sp>
        <p:nvSpPr>
          <p:cNvPr id="20" name="Rectangle 19"/>
          <p:cNvSpPr/>
          <p:nvPr/>
        </p:nvSpPr>
        <p:spPr>
          <a:xfrm>
            <a:off x="6163056"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one Project</a:t>
            </a:r>
          </a:p>
          <a:p>
            <a:pPr algn="l">
              <a:spcAft>
                <a:spcPts val="300"/>
              </a:spcAft>
            </a:pPr>
            <a:r>
              <a:rPr sz="1150" b="0">
                <a:solidFill>
                  <a:srgbClr val="6B6862"/>
                </a:solidFill>
                <a:latin typeface="Calibri"/>
              </a:rPr>
              <a:t>Give your main body of work a project folder, and let the context build.</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125</a:t>
            </a:r>
          </a:p>
        </p:txBody>
      </p:sp>
    </p:spTree>
  </p:cSld>
  <p:clrMapOvr>
    <a:masterClrMapping/>
  </p:clrMapOvr>
  <p:transition spd="med">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THANK YOU FOR ATTENDING</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Your Cowork toolkit is ready</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A Live Artefact dashboard, two connected tools, a daily-brief skill and the Project that holds them all.</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126</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