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v4.1  ·  18 September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Cowork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Live Artefacts, connected tools, skills and Projects — for finance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reporting work</a:t>
            </a:r>
          </a:p>
          <a:p>
            <a:pPr algn="l">
              <a:spcAft>
                <a:spcPts val="300"/>
              </a:spcAft>
            </a:pPr>
            <a:r>
              <a:rPr sz="1150" b="0">
                <a:solidFill>
                  <a:srgbClr val="6B6862"/>
                </a:solidFill>
                <a:latin typeface="Calibri"/>
              </a:rPr>
              <a:t>One report or summary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tools</a:t>
            </a:r>
          </a:p>
          <a:p>
            <a:pPr algn="l">
              <a:spcAft>
                <a:spcPts val="300"/>
              </a:spcAft>
            </a:pPr>
            <a:r>
              <a:rPr sz="1150" b="0">
                <a:solidFill>
                  <a:srgbClr val="6B6862"/>
                </a:solidFill>
                <a:latin typeface="Calibri"/>
              </a:rPr>
              <a:t>Whether your finance data lives in Excel, Google Drive or a system.</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to stop doing by hand.</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PMP, AWS, Microsoft, CompTIA, CKA, CKAD.</a:t>
            </a:r>
          </a:p>
        </p:txBody>
      </p:sp>
      <p:sp>
        <p:nvSpPr>
          <p:cNvPr id="22" name="Rectangle 21"/>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4" name="TextBox 23"/>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5" name="Rectangle 24"/>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7" name="TextBox 26"/>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topic ends with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client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send</a:t>
            </a:r>
          </a:p>
          <a:p>
            <a:pPr algn="l">
              <a:spcAft>
                <a:spcPts val="300"/>
              </a:spcAft>
            </a:pPr>
            <a:r>
              <a:rPr sz="1150" b="0">
                <a:solidFill>
                  <a:srgbClr val="6B6862"/>
                </a:solidFill>
                <a:latin typeface="Calibri"/>
              </a:rPr>
              <a:t>Approve every draft against the source figures.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Cowork Fundamentals</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product family</a:t>
            </a:r>
          </a:p>
          <a:p>
            <a:pPr algn="l">
              <a:spcAft>
                <a:spcPts val="800"/>
              </a:spcAft>
            </a:pPr>
            <a:r>
              <a:rPr sz="1200" b="0">
                <a:solidFill>
                  <a:srgbClr val="6B6862"/>
                </a:solidFill>
                <a:latin typeface="Calibri"/>
              </a:rPr>
              <a:t>•  Set up Cowork</a:t>
            </a:r>
          </a:p>
          <a:p>
            <a:pPr algn="l">
              <a:spcAft>
                <a:spcPts val="800"/>
              </a:spcAft>
            </a:pPr>
            <a:r>
              <a:rPr sz="1200" b="0">
                <a:solidFill>
                  <a:srgbClr val="6B6862"/>
                </a:solidFill>
                <a:latin typeface="Calibri"/>
              </a:rPr>
              <a:t>•  Live Artefacts</a:t>
            </a:r>
          </a:p>
          <a:p>
            <a:pPr algn="l">
              <a:spcAft>
                <a:spcPts val="800"/>
              </a:spcAft>
            </a:pPr>
            <a:r>
              <a:rPr sz="1200" b="0">
                <a:solidFill>
                  <a:srgbClr val="6B6862"/>
                </a:solidFill>
                <a:latin typeface="Calibri"/>
              </a:rPr>
              <a:t>•  Working with documents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Tools and Skills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A built-in skill: the board deck</a:t>
            </a:r>
          </a:p>
          <a:p>
            <a:pPr algn="l">
              <a:spcAft>
                <a:spcPts val="800"/>
              </a:spcAft>
            </a:pPr>
            <a:r>
              <a:rPr sz="1200" b="0">
                <a:solidFill>
                  <a:srgbClr val="6B6862"/>
                </a:solidFill>
                <a:latin typeface="Calibri"/>
              </a:rPr>
              <a:t>•  Agent Skills and /skill-creator</a:t>
            </a:r>
          </a:p>
          <a:p>
            <a:pPr algn="l">
              <a:spcAft>
                <a:spcPts val="800"/>
              </a:spcAft>
            </a:pPr>
            <a:r>
              <a:rPr sz="1200" b="0">
                <a:solidFill>
                  <a:srgbClr val="6B6862"/>
                </a:solidFill>
                <a:latin typeface="Calibri"/>
              </a:rPr>
              <a:t>•  Do · Verify · Save</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Plugins</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What a Project is</a:t>
            </a:r>
          </a:p>
          <a:p>
            <a:pPr algn="l">
              <a:spcAft>
                <a:spcPts val="800"/>
              </a:spcAft>
            </a:pPr>
            <a:r>
              <a:rPr sz="1200" b="0">
                <a:solidFill>
                  <a:srgbClr val="6B6862"/>
                </a:solidFill>
                <a:latin typeface="Calibri"/>
              </a:rPr>
              <a:t>•  The four project panels</a:t>
            </a:r>
          </a:p>
          <a:p>
            <a:pPr algn="l">
              <a:spcAft>
                <a:spcPts val="800"/>
              </a:spcAft>
            </a:pPr>
            <a:r>
              <a:rPr sz="1200" b="0">
                <a:solidFill>
                  <a:srgbClr val="6B6862"/>
                </a:solidFill>
                <a:latin typeface="Calibri"/>
              </a:rPr>
              <a:t>•  Assemble the Meridian workspace</a:t>
            </a:r>
          </a:p>
          <a:p>
            <a:pPr algn="l">
              <a:spcAft>
                <a:spcPts val="800"/>
              </a:spcAft>
            </a:pPr>
            <a:r>
              <a:rPr sz="1200" b="0">
                <a:solidFill>
                  <a:srgbClr val="6B6862"/>
                </a:solidFill>
                <a:latin typeface="Calibri"/>
              </a:rPr>
              <a:t>•  Skills vs plugins, and installing one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9:00  Welcome</a:t>
            </a:r>
          </a:p>
          <a:p>
            <a:pPr algn="l">
              <a:spcAft>
                <a:spcPts val="300"/>
              </a:spcAft>
            </a:pPr>
            <a:r>
              <a:rPr sz="1000" b="0">
                <a:solidFill>
                  <a:srgbClr val="21201C"/>
                </a:solidFill>
                <a:latin typeface="Calibri"/>
              </a:rPr>
              <a:t>•  9:20  Topic 1 — Claude Cowork Fundamentals</a:t>
            </a:r>
          </a:p>
          <a:p>
            <a:pPr algn="l">
              <a:spcAft>
                <a:spcPts val="300"/>
              </a:spcAft>
            </a:pPr>
            <a:r>
              <a:rPr sz="1000" b="0">
                <a:solidFill>
                  <a:srgbClr val="21201C"/>
                </a:solidFill>
                <a:latin typeface="Calibri"/>
              </a:rPr>
              <a:t>•  9:55  Topic 1 — Live Artefacts</a:t>
            </a:r>
          </a:p>
          <a:p>
            <a:pPr algn="l">
              <a:spcAft>
                <a:spcPts val="300"/>
              </a:spcAft>
            </a:pPr>
            <a:r>
              <a:rPr sz="1000" b="0">
                <a:solidFill>
                  <a:srgbClr val="21201C"/>
                </a:solidFill>
                <a:latin typeface="Calibri"/>
              </a:rPr>
              <a:t>•  10:20  Tea break</a:t>
            </a:r>
          </a:p>
          <a:p>
            <a:pPr algn="l">
              <a:spcAft>
                <a:spcPts val="300"/>
              </a:spcAft>
            </a:pPr>
            <a:r>
              <a:rPr sz="1000" b="0">
                <a:solidFill>
                  <a:srgbClr val="21201C"/>
                </a:solidFill>
                <a:latin typeface="Calibri"/>
              </a:rPr>
              <a:t>•  10:35  Topic 1 — Working with documents</a:t>
            </a:r>
          </a:p>
          <a:p>
            <a:pPr algn="l">
              <a:spcAft>
                <a:spcPts val="300"/>
              </a:spcAft>
            </a:pPr>
            <a:r>
              <a:rPr sz="1000" b="0">
                <a:solidFill>
                  <a:srgbClr val="21201C"/>
                </a:solidFill>
                <a:latin typeface="Calibri"/>
              </a:rPr>
              <a:t>•  10:50  Hands-on: Labs 1, 2</a:t>
            </a:r>
          </a:p>
          <a:p>
            <a:pPr algn="l">
              <a:spcAft>
                <a:spcPts val="300"/>
              </a:spcAft>
            </a:pPr>
            <a:r>
              <a:rPr sz="1000" b="0">
                <a:solidFill>
                  <a:srgbClr val="21201C"/>
                </a:solidFill>
                <a:latin typeface="Calibri"/>
              </a:rPr>
              <a:t>•  12:05  Topic 2 — Tools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1000" b="0">
                <a:solidFill>
                  <a:srgbClr val="21201C"/>
                </a:solidFill>
                <a:latin typeface="Calibri"/>
              </a:rPr>
              <a:t>•  12:30  Lunch break</a:t>
            </a:r>
          </a:p>
          <a:p>
            <a:pPr algn="l">
              <a:spcAft>
                <a:spcPts val="300"/>
              </a:spcAft>
            </a:pPr>
            <a:r>
              <a:rPr sz="1000" b="0">
                <a:solidFill>
                  <a:srgbClr val="21201C"/>
                </a:solidFill>
                <a:latin typeface="Calibri"/>
              </a:rPr>
              <a:t>•  13:30  Hands-on: Lab 3</a:t>
            </a:r>
          </a:p>
          <a:p>
            <a:pPr algn="l">
              <a:spcAft>
                <a:spcPts val="300"/>
              </a:spcAft>
            </a:pPr>
            <a:r>
              <a:rPr sz="1000" b="0">
                <a:solidFill>
                  <a:srgbClr val="21201C"/>
                </a:solidFill>
                <a:latin typeface="Calibri"/>
              </a:rPr>
              <a:t>•  14:10  Hands-on: Labs 4, 5</a:t>
            </a:r>
          </a:p>
          <a:p>
            <a:pPr algn="l">
              <a:spcAft>
                <a:spcPts val="300"/>
              </a:spcAft>
            </a:pPr>
            <a:r>
              <a:rPr sz="1000" b="0">
                <a:solidFill>
                  <a:srgbClr val="21201C"/>
                </a:solidFill>
                <a:latin typeface="Calibri"/>
              </a:rPr>
              <a:t>•  15:05  Tea break</a:t>
            </a:r>
          </a:p>
          <a:p>
            <a:pPr algn="l">
              <a:spcAft>
                <a:spcPts val="300"/>
              </a:spcAft>
            </a:pPr>
            <a:r>
              <a:rPr sz="1000" b="0">
                <a:solidFill>
                  <a:srgbClr val="21201C"/>
                </a:solidFill>
                <a:latin typeface="Calibri"/>
              </a:rPr>
              <a:t>•  15:20  Topic 2 — Skills</a:t>
            </a:r>
          </a:p>
          <a:p>
            <a:pPr algn="l">
              <a:spcAft>
                <a:spcPts val="300"/>
              </a:spcAft>
            </a:pPr>
            <a:r>
              <a:rPr sz="1000" b="0">
                <a:solidFill>
                  <a:srgbClr val="21201C"/>
                </a:solidFill>
                <a:latin typeface="Calibri"/>
              </a:rPr>
              <a:t>•  15:35  Hands-on: Lab 6</a:t>
            </a:r>
          </a:p>
          <a:p>
            <a:pPr algn="l">
              <a:spcAft>
                <a:spcPts val="300"/>
              </a:spcAft>
            </a:pPr>
            <a:r>
              <a:rPr sz="1000" b="0">
                <a:solidFill>
                  <a:srgbClr val="21201C"/>
                </a:solidFill>
                <a:latin typeface="Calibri"/>
              </a:rPr>
              <a:t>•  16:05  Hands-on: Lab 7</a:t>
            </a:r>
          </a:p>
          <a:p>
            <a:pPr algn="l">
              <a:spcAft>
                <a:spcPts val="300"/>
              </a:spcAft>
            </a:pPr>
            <a:r>
              <a:rPr sz="1000" b="0">
                <a:solidFill>
                  <a:srgbClr val="21201C"/>
                </a:solidFill>
                <a:latin typeface="Calibri"/>
              </a:rPr>
              <a:t>•  16:40  Hands-on: Lab 8</a:t>
            </a:r>
          </a:p>
          <a:p>
            <a:pPr algn="l">
              <a:spcAft>
                <a:spcPts val="300"/>
              </a:spcAft>
            </a:pPr>
            <a:r>
              <a:rPr sz="1000" b="0">
                <a:solidFill>
                  <a:srgbClr val="21201C"/>
                </a:solidFill>
                <a:latin typeface="Calibri"/>
              </a:rPr>
              <a:t>•  17:00  Topic 3 — Claude Projects and Plugins</a:t>
            </a:r>
          </a:p>
          <a:p>
            <a:pPr algn="l">
              <a:spcAft>
                <a:spcPts val="300"/>
              </a:spcAft>
            </a:pPr>
            <a:r>
              <a:rPr sz="1000" b="0">
                <a:solidFill>
                  <a:srgbClr val="21201C"/>
                </a:solidFill>
                <a:latin typeface="Calibri"/>
              </a:rPr>
              <a:t>•  17:10  Hands-on: Lab 9</a:t>
            </a:r>
          </a:p>
          <a:p>
            <a:pPr algn="l">
              <a:spcAft>
                <a:spcPts val="300"/>
              </a:spcAft>
            </a:pPr>
            <a:r>
              <a:rPr sz="1000" b="0">
                <a:solidFill>
                  <a:srgbClr val="21201C"/>
                </a:solidFill>
                <a:latin typeface="Calibri"/>
              </a:rPr>
              <a:t>•  17:35  Hands-on: Lab 10</a:t>
            </a:r>
          </a:p>
          <a:p>
            <a:pPr algn="l">
              <a:spcAft>
                <a:spcPts val="300"/>
              </a:spcAft>
            </a:pPr>
            <a:r>
              <a:rPr sz="1000" b="0">
                <a:solidFill>
                  <a:srgbClr val="21201C"/>
                </a:solidFill>
                <a:latin typeface="Calibri"/>
              </a:rPr>
              <a:t>•  17:50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One firm, ten labs</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Meridian Capital Partners is a fictitious Singapore-based investment and advisory firm with four revenue desks — Advisory, Asset Management, Private Credit and Corporate Finance. All figures, clients, staff and documents in this course are synthetic and used for training only.</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Cowork Fundamentals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product family</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Set up Cowork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Live Artefacts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Working with documents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A</a:t>
            </a:r>
          </a:p>
        </p:txBody>
      </p:sp>
      <p:sp>
        <p:nvSpPr>
          <p:cNvPr id="9" name="TextBox 8"/>
          <p:cNvSpPr txBox="1"/>
          <p:nvPr/>
        </p:nvSpPr>
        <p:spPr>
          <a:xfrm>
            <a:off x="82296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Claude.ai</a:t>
            </a:r>
          </a:p>
        </p:txBody>
      </p:sp>
      <p:sp>
        <p:nvSpPr>
          <p:cNvPr id="10" name="TextBox 9"/>
          <p:cNvSpPr txBox="1"/>
          <p:nvPr/>
        </p:nvSpPr>
        <p:spPr>
          <a:xfrm>
            <a:off x="82296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chat assistant on web, desktop &amp; mobile for everyday tasks.</a:t>
            </a:r>
          </a:p>
        </p:txBody>
      </p:sp>
      <p:sp>
        <p:nvSpPr>
          <p:cNvPr id="11" name="Rectangle 10"/>
          <p:cNvSpPr/>
          <p:nvPr/>
        </p:nvSpPr>
        <p:spPr>
          <a:xfrm>
            <a:off x="336042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4" name="TextBox 13"/>
          <p:cNvSpPr txBox="1"/>
          <p:nvPr/>
        </p:nvSpPr>
        <p:spPr>
          <a:xfrm>
            <a:off x="363474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363474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Agentic coding tool in your terminal, IDE &amp; desktop.</a:t>
            </a:r>
          </a:p>
        </p:txBody>
      </p:sp>
      <p:sp>
        <p:nvSpPr>
          <p:cNvPr id="16" name="Rectangle 15"/>
          <p:cNvSpPr/>
          <p:nvPr/>
        </p:nvSpPr>
        <p:spPr>
          <a:xfrm>
            <a:off x="617220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9" name="TextBox 18"/>
          <p:cNvSpPr txBox="1"/>
          <p:nvPr/>
        </p:nvSpPr>
        <p:spPr>
          <a:xfrm>
            <a:off x="644652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Cowork</a:t>
            </a:r>
          </a:p>
        </p:txBody>
      </p:sp>
      <p:sp>
        <p:nvSpPr>
          <p:cNvPr id="20" name="TextBox 19"/>
          <p:cNvSpPr txBox="1"/>
          <p:nvPr/>
        </p:nvSpPr>
        <p:spPr>
          <a:xfrm>
            <a:off x="644652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Desktop agent for non-developers to automate files &amp; tasks.</a:t>
            </a:r>
          </a:p>
        </p:txBody>
      </p:sp>
      <p:sp>
        <p:nvSpPr>
          <p:cNvPr id="21" name="Rectangle 20"/>
          <p:cNvSpPr/>
          <p:nvPr/>
        </p:nvSpPr>
        <p:spPr>
          <a:xfrm>
            <a:off x="898398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24" name="TextBox 23"/>
          <p:cNvSpPr txBox="1"/>
          <p:nvPr/>
        </p:nvSpPr>
        <p:spPr>
          <a:xfrm>
            <a:off x="925830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5" name="TextBox 24"/>
          <p:cNvSpPr txBox="1"/>
          <p:nvPr/>
        </p:nvSpPr>
        <p:spPr>
          <a:xfrm>
            <a:off x="925830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Generates polished UI &amp; frontend designs.</a:t>
            </a:r>
          </a:p>
        </p:txBody>
      </p:sp>
      <p:sp>
        <p:nvSpPr>
          <p:cNvPr id="26" name="Rectangle 25"/>
          <p:cNvSpPr/>
          <p:nvPr/>
        </p:nvSpPr>
        <p:spPr>
          <a:xfrm>
            <a:off x="54864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9" name="TextBox 28"/>
          <p:cNvSpPr txBox="1"/>
          <p:nvPr/>
        </p:nvSpPr>
        <p:spPr>
          <a:xfrm>
            <a:off x="82296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30" name="TextBox 29"/>
          <p:cNvSpPr txBox="1"/>
          <p:nvPr/>
        </p:nvSpPr>
        <p:spPr>
          <a:xfrm>
            <a:off x="82296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Microsoft 365 &amp; Outlook.</a:t>
            </a:r>
          </a:p>
        </p:txBody>
      </p:sp>
      <p:sp>
        <p:nvSpPr>
          <p:cNvPr id="31" name="Rectangle 30"/>
          <p:cNvSpPr/>
          <p:nvPr/>
        </p:nvSpPr>
        <p:spPr>
          <a:xfrm>
            <a:off x="336042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347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47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34" name="TextBox 33"/>
          <p:cNvSpPr txBox="1"/>
          <p:nvPr/>
        </p:nvSpPr>
        <p:spPr>
          <a:xfrm>
            <a:off x="363474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5" name="TextBox 34"/>
          <p:cNvSpPr txBox="1"/>
          <p:nvPr/>
        </p:nvSpPr>
        <p:spPr>
          <a:xfrm>
            <a:off x="363474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navigates and acts on the web for you.</a:t>
            </a:r>
          </a:p>
        </p:txBody>
      </p:sp>
      <p:sp>
        <p:nvSpPr>
          <p:cNvPr id="36" name="Rectangle 35"/>
          <p:cNvSpPr/>
          <p:nvPr/>
        </p:nvSpPr>
        <p:spPr>
          <a:xfrm>
            <a:off x="617220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9" name="TextBox 38"/>
          <p:cNvSpPr txBox="1"/>
          <p:nvPr/>
        </p:nvSpPr>
        <p:spPr>
          <a:xfrm>
            <a:off x="644652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40" name="TextBox 39"/>
          <p:cNvSpPr txBox="1"/>
          <p:nvPr/>
        </p:nvSpPr>
        <p:spPr>
          <a:xfrm>
            <a:off x="644652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41" name="TextBox 40"/>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Chat, Cowork or Code?</a:t>
            </a:r>
          </a:p>
        </p:txBody>
      </p:sp>
      <p:sp>
        <p:nvSpPr>
          <p:cNvPr id="5" name="Oval 4"/>
          <p:cNvSpPr/>
          <p:nvPr/>
        </p:nvSpPr>
        <p:spPr>
          <a:xfrm>
            <a:off x="189890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9890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Cha</a:t>
            </a:r>
          </a:p>
        </p:txBody>
      </p:sp>
      <p:sp>
        <p:nvSpPr>
          <p:cNvPr id="7" name="TextBox 6"/>
          <p:cNvSpPr txBox="1"/>
          <p:nvPr/>
        </p:nvSpPr>
        <p:spPr>
          <a:xfrm>
            <a:off x="54864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a:t>
            </a:r>
          </a:p>
        </p:txBody>
      </p:sp>
      <p:sp>
        <p:nvSpPr>
          <p:cNvPr id="8" name="TextBox 7"/>
          <p:cNvSpPr txBox="1"/>
          <p:nvPr/>
        </p:nvSpPr>
        <p:spPr>
          <a:xfrm>
            <a:off x="54864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partner”</a:t>
            </a:r>
          </a:p>
        </p:txBody>
      </p:sp>
      <p:sp>
        <p:nvSpPr>
          <p:cNvPr id="9" name="Rectangle 8"/>
          <p:cNvSpPr/>
          <p:nvPr/>
        </p:nvSpPr>
        <p:spPr>
          <a:xfrm>
            <a:off x="224637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637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4637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0114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114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Brainstorming and ideation</a:t>
            </a:r>
          </a:p>
          <a:p>
            <a:pPr algn="l">
              <a:spcAft>
                <a:spcPts val="700"/>
              </a:spcAft>
            </a:pPr>
            <a:r>
              <a:rPr sz="1250" b="0">
                <a:solidFill>
                  <a:srgbClr val="21201C"/>
                </a:solidFill>
                <a:latin typeface="Calibri"/>
              </a:rPr>
              <a:t>•  Research and analysis</a:t>
            </a:r>
          </a:p>
          <a:p>
            <a:pPr algn="l">
              <a:spcAft>
                <a:spcPts val="700"/>
              </a:spcAft>
            </a:pPr>
            <a:r>
              <a:rPr sz="1250" b="0">
                <a:solidFill>
                  <a:srgbClr val="21201C"/>
                </a:solidFill>
                <a:latin typeface="Calibri"/>
              </a:rPr>
              <a:t>•  One-off thinking and decisions</a:t>
            </a:r>
          </a:p>
        </p:txBody>
      </p:sp>
      <p:sp>
        <p:nvSpPr>
          <p:cNvPr id="16" name="Oval 15"/>
          <p:cNvSpPr/>
          <p:nvPr/>
        </p:nvSpPr>
        <p:spPr>
          <a:xfrm>
            <a:off x="572414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2414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Cow</a:t>
            </a:r>
          </a:p>
        </p:txBody>
      </p:sp>
      <p:sp>
        <p:nvSpPr>
          <p:cNvPr id="18" name="TextBox 17"/>
          <p:cNvSpPr txBox="1"/>
          <p:nvPr/>
        </p:nvSpPr>
        <p:spPr>
          <a:xfrm>
            <a:off x="437388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Cowork</a:t>
            </a:r>
          </a:p>
        </p:txBody>
      </p:sp>
      <p:sp>
        <p:nvSpPr>
          <p:cNvPr id="19" name="TextBox 18"/>
          <p:cNvSpPr txBox="1"/>
          <p:nvPr/>
        </p:nvSpPr>
        <p:spPr>
          <a:xfrm>
            <a:off x="437388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“Work partner”</a:t>
            </a:r>
          </a:p>
        </p:txBody>
      </p:sp>
      <p:sp>
        <p:nvSpPr>
          <p:cNvPr id="20" name="Rectangle 19"/>
          <p:cNvSpPr/>
          <p:nvPr/>
        </p:nvSpPr>
        <p:spPr>
          <a:xfrm>
            <a:off x="607161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7161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7161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388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2638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638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464820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Working with files &amp; docs</a:t>
            </a:r>
          </a:p>
          <a:p>
            <a:pPr algn="l">
              <a:spcAft>
                <a:spcPts val="700"/>
              </a:spcAft>
            </a:pPr>
            <a:r>
              <a:rPr sz="1250" b="0">
                <a:solidFill>
                  <a:srgbClr val="21201C"/>
                </a:solidFill>
                <a:latin typeface="Calibri"/>
              </a:rPr>
              <a:t>•  Processing tasks in your tools</a:t>
            </a:r>
          </a:p>
          <a:p>
            <a:pPr algn="l">
              <a:spcAft>
                <a:spcPts val="700"/>
              </a:spcAft>
            </a:pPr>
            <a:r>
              <a:rPr sz="1250" b="0">
                <a:solidFill>
                  <a:srgbClr val="21201C"/>
                </a:solidFill>
                <a:latin typeface="Calibri"/>
              </a:rPr>
              <a:t>•  Running multi-step workflows</a:t>
            </a:r>
          </a:p>
        </p:txBody>
      </p:sp>
      <p:sp>
        <p:nvSpPr>
          <p:cNvPr id="27" name="Oval 26"/>
          <p:cNvSpPr/>
          <p:nvPr/>
        </p:nvSpPr>
        <p:spPr>
          <a:xfrm>
            <a:off x="954938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938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Cod</a:t>
            </a:r>
          </a:p>
        </p:txBody>
      </p:sp>
      <p:sp>
        <p:nvSpPr>
          <p:cNvPr id="29" name="TextBox 28"/>
          <p:cNvSpPr txBox="1"/>
          <p:nvPr/>
        </p:nvSpPr>
        <p:spPr>
          <a:xfrm>
            <a:off x="8199120" y="2633472"/>
            <a:ext cx="341376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30" name="TextBox 29"/>
          <p:cNvSpPr txBox="1"/>
          <p:nvPr/>
        </p:nvSpPr>
        <p:spPr>
          <a:xfrm>
            <a:off x="8199120" y="3017520"/>
            <a:ext cx="341376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31" name="Rectangle 30"/>
          <p:cNvSpPr/>
          <p:nvPr/>
        </p:nvSpPr>
        <p:spPr>
          <a:xfrm>
            <a:off x="989685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9685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685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99120" y="4069080"/>
            <a:ext cx="341376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162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162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37" name="TextBox 36"/>
          <p:cNvSpPr txBox="1"/>
          <p:nvPr/>
        </p:nvSpPr>
        <p:spPr>
          <a:xfrm>
            <a:off x="8473440" y="4379976"/>
            <a:ext cx="295656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Building apps and tools</a:t>
            </a:r>
          </a:p>
          <a:p>
            <a:pPr algn="l">
              <a:spcAft>
                <a:spcPts val="700"/>
              </a:spcAft>
            </a:pPr>
            <a:r>
              <a:rPr sz="1250" b="0">
                <a:solidFill>
                  <a:srgbClr val="21201C"/>
                </a:solidFill>
                <a:latin typeface="Calibri"/>
              </a:rPr>
              <a:t>•  Custom automation scripts</a:t>
            </a:r>
          </a:p>
          <a:p>
            <a:pPr algn="l">
              <a:spcAft>
                <a:spcPts val="700"/>
              </a:spcAft>
            </a:pPr>
            <a:r>
              <a:rPr sz="1250" b="0">
                <a:solidFill>
                  <a:srgbClr val="21201C"/>
                </a:solidFill>
                <a:latin typeface="Calibri"/>
              </a:rPr>
              <a:t>•  Debugging and fixing code</a:t>
            </a:r>
          </a:p>
        </p:txBody>
      </p:sp>
      <p:sp>
        <p:nvSpPr>
          <p:cNvPr id="38" name="TextBox 37"/>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This course is about the middle one — the work partner that acts on your files and tools rather than only answering.</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Systems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Agents run long tasks autonomously — Claude Code, Cowork, Codex.</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engineering the whole harness.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Makes Cowork So Useful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and runs it — you never see or edit it.</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is a desktop feature of the paid Claude plans — the same subscription that covers Claude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(5× usage).</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API pay-as-you-go (per million tokens, input / output):  Opus 4.8 $5 / $25   ·   Sonnet 4.6 $3 / $15   ·   Haiku 4.5 $1 / $5</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Prices as of June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runs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Live Artefacts and local file access are desktop features.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Cowork is available on paid plans; sign in with the account that has your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Open Cowork</a:t>
            </a:r>
          </a:p>
          <a:p>
            <a:pPr algn="l">
              <a:spcAft>
                <a:spcPts val="300"/>
              </a:spcAft>
            </a:pPr>
            <a:r>
              <a:rPr sz="1150" b="0">
                <a:solidFill>
                  <a:srgbClr val="6B6862"/>
                </a:solidFill>
                <a:latin typeface="Calibri"/>
              </a:rPr>
              <a:t>Choose Cowork in the sidebar to get the agent workspace rather than a plain chat.</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Point it at a folder</a:t>
            </a:r>
          </a:p>
          <a:p>
            <a:pPr algn="l">
              <a:spcAft>
                <a:spcPts val="300"/>
              </a:spcAft>
            </a:pPr>
            <a:r>
              <a:rPr sz="1150" b="0">
                <a:solidFill>
                  <a:srgbClr val="6B6862"/>
                </a:solidFill>
                <a:latin typeface="Calibri"/>
              </a:rPr>
              <a:t>Connect the one folder for the task so Claude reads your files and writes its output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the task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The desktop app must stay open while a task is using your computer.</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Cowork Fundamentals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Cowork</a:t>
            </a:r>
          </a:p>
          <a:p>
            <a:pPr algn="l">
              <a:spcAft>
                <a:spcPts val="300"/>
              </a:spcAft>
            </a:pPr>
            <a:r>
              <a:rPr sz="1150" b="0">
                <a:solidFill>
                  <a:srgbClr val="6B6862"/>
                </a:solidFill>
                <a:latin typeface="Calibri"/>
              </a:rPr>
              <a:t>The desktop agent that works on your files and tasks — built for non-developers, not coders.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that persist in your workspace and refresh their data when reopened.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Desktop, not browser</a:t>
            </a:r>
          </a:p>
          <a:p>
            <a:pPr algn="l">
              <a:spcAft>
                <a:spcPts val="300"/>
              </a:spcAft>
            </a:pPr>
            <a:r>
              <a:rPr sz="1150" b="0">
                <a:solidFill>
                  <a:srgbClr val="6B6862"/>
                </a:solidFill>
                <a:latin typeface="Calibri"/>
              </a:rPr>
              <a:t>Live Artefacts and local file access need the Claude desktop app on a paid plan.</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Describe, don't code</a:t>
            </a:r>
          </a:p>
          <a:p>
            <a:pPr algn="l">
              <a:spcAft>
                <a:spcPts val="300"/>
              </a:spcAft>
            </a:pPr>
            <a:r>
              <a:rPr sz="1150" b="0">
                <a:solidFill>
                  <a:srgbClr val="6B6862"/>
                </a:solidFill>
                <a:latin typeface="Calibri"/>
              </a:rPr>
              <a:t>You describe the tool you want in plain English; Claude writes and runs the code.</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to the sidebar</a:t>
            </a:r>
          </a:p>
          <a:p>
            <a:pPr algn="l">
              <a:spcAft>
                <a:spcPts val="300"/>
              </a:spcAft>
            </a:pPr>
            <a:r>
              <a:rPr sz="1150" b="0">
                <a:solidFill>
                  <a:srgbClr val="6B6862"/>
                </a:solidFill>
                <a:latin typeface="Calibri"/>
              </a:rPr>
              <a:t>A saved artefact is reopenable and reusable — it is not lost in the chat history.</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to share</a:t>
            </a:r>
          </a:p>
          <a:p>
            <a:pPr algn="l">
              <a:spcAft>
                <a:spcPts val="300"/>
              </a:spcAft>
            </a:pPr>
            <a:r>
              <a:rPr sz="1150" b="0">
                <a:solidFill>
                  <a:srgbClr val="6B6862"/>
                </a:solidFill>
                <a:latin typeface="Calibri"/>
              </a:rPr>
              <a:t>Export the artefact so it can be filed, attached or handed to someone without Claude.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accountant needs the 2025 supplier invoices summarised and filed. You point Cowork at a folder of 126 PDFs — a full year of invoices, a few expense receipts, and the untidy filenames a real downloads folder collects — and have it read every document, build one CSV, and sort the files into month folders. This is work no dashboard can do: reading documents and acting on your file system. It is also far more than you would ever do by hand, which is the point.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invoices_2025.csv summary plus the PDFs filed into YEAR-MONTH folders.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local files, PDF reading</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Extract the invoice data and file the PDFs</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In this folder are all my invoices from 2025. I need you to process</a:t>
            </a:r>
          </a:p>
          <a:p>
            <a:pPr algn="l">
              <a:spcAft>
                <a:spcPts val="200"/>
              </a:spcAft>
            </a:pPr>
            <a:r>
              <a:rPr sz="1300" b="0">
                <a:solidFill>
                  <a:srgbClr val="21201C"/>
                </a:solidFill>
                <a:latin typeface="Calibri"/>
              </a:rPr>
              <a:t>these so I can send them to my accountant.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Read each invoice and extract the following data points: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invoice number</a:t>
            </a:r>
          </a:p>
          <a:p>
            <a:pPr algn="l">
              <a:spcAft>
                <a:spcPts val="200"/>
              </a:spcAft>
            </a:pPr>
            <a:r>
              <a:rPr sz="1300" b="0">
                <a:solidFill>
                  <a:srgbClr val="21201C"/>
                </a:solidFill>
                <a:latin typeface="Calibri"/>
              </a:rPr>
              <a:t>- invoice sender</a:t>
            </a:r>
          </a:p>
          <a:p>
            <a:pPr algn="l">
              <a:spcAft>
                <a:spcPts val="200"/>
              </a:spcAft>
            </a:pPr>
            <a:r>
              <a:rPr sz="1300" b="0">
                <a:solidFill>
                  <a:srgbClr val="21201C"/>
                </a:solidFill>
                <a:latin typeface="Calibri"/>
              </a:rPr>
              <a:t>- invoice sender address</a:t>
            </a:r>
          </a:p>
          <a:p>
            <a:pPr algn="l">
              <a:spcAft>
                <a:spcPts val="200"/>
              </a:spcAft>
            </a:pPr>
            <a:r>
              <a:rPr sz="1300" b="0">
                <a:solidFill>
                  <a:srgbClr val="21201C"/>
                </a:solidFill>
                <a:latin typeface="Calibri"/>
              </a:rPr>
              <a:t>- invoice date</a:t>
            </a:r>
          </a:p>
          <a:p>
            <a:pPr algn="l">
              <a:spcAft>
                <a:spcPts val="200"/>
              </a:spcAft>
            </a:pPr>
            <a:r>
              <a:rPr sz="1300" b="0">
                <a:solidFill>
                  <a:srgbClr val="21201C"/>
                </a:solidFill>
                <a:latin typeface="Calibri"/>
              </a:rPr>
              <a:t>- invoice due date</a:t>
            </a:r>
          </a:p>
          <a:p>
            <a:pPr algn="l">
              <a:spcAft>
                <a:spcPts val="200"/>
              </a:spcAft>
            </a:pPr>
            <a:r>
              <a:rPr sz="1300" b="0">
                <a:solidFill>
                  <a:srgbClr val="21201C"/>
                </a:solidFill>
                <a:latin typeface="Calibri"/>
              </a:rPr>
              <a:t>- total amount due</a:t>
            </a:r>
          </a:p>
          <a:p>
            <a:pPr algn="l">
              <a:spcAft>
                <a:spcPts val="200"/>
              </a:spcAft>
            </a:pPr>
            <a:r>
              <a:rPr sz="1300" b="0">
                <a:solidFill>
                  <a:srgbClr val="21201C"/>
                </a:solidFill>
                <a:latin typeface="Calibri"/>
              </a:rPr>
              <a:t>- currency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Extract the invoice data and file the PDFs (cont.)</a:t>
            </a:r>
          </a:p>
        </p:txBody>
      </p:sp>
      <p:sp>
        <p:nvSpPr>
          <p:cNvPr id="5" name="Rectangle 4"/>
          <p:cNvSpPr/>
          <p:nvPr/>
        </p:nvSpPr>
        <p:spPr>
          <a:xfrm>
            <a:off x="548640" y="1828800"/>
            <a:ext cx="11064240" cy="277063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70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084832"/>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Then create a CSV called invoices_2025.csv where you store all this</a:t>
            </a:r>
          </a:p>
          <a:p>
            <a:pPr algn="l">
              <a:spcAft>
                <a:spcPts val="200"/>
              </a:spcAft>
            </a:pPr>
            <a:r>
              <a:rPr sz="1300" b="0">
                <a:solidFill>
                  <a:srgbClr val="21201C"/>
                </a:solidFill>
                <a:latin typeface="Calibri"/>
              </a:rPr>
              <a:t>information as well as the filename.</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After you have extracted the information, move each invoice PDF into</a:t>
            </a:r>
          </a:p>
          <a:p>
            <a:pPr algn="l">
              <a:spcAft>
                <a:spcPts val="200"/>
              </a:spcAft>
            </a:pPr>
            <a:r>
              <a:rPr sz="1300" b="0">
                <a:solidFill>
                  <a:srgbClr val="21201C"/>
                </a:solidFill>
                <a:latin typeface="Calibri"/>
              </a:rPr>
              <a:t>sub folders based on the YEAR-MONTH of the invoice date, using the</a:t>
            </a:r>
          </a:p>
          <a:p>
            <a:pPr algn="l">
              <a:spcAft>
                <a:spcPts val="200"/>
              </a:spcAft>
            </a:pPr>
            <a:r>
              <a:rPr sz="1300" b="0">
                <a:solidFill>
                  <a:srgbClr val="21201C"/>
                </a:solidFill>
                <a:latin typeface="Calibri"/>
              </a:rPr>
              <a:t>naming convention 2025-01, 2025-02 and so on.</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Flag anything that does not look like a normal supplier invoice, or</a:t>
            </a:r>
          </a:p>
          <a:p>
            <a:pPr algn="l">
              <a:spcAft>
                <a:spcPts val="200"/>
              </a:spcAft>
            </a:pPr>
            <a:r>
              <a:rPr sz="1300" b="0">
                <a:solidFill>
                  <a:srgbClr val="21201C"/>
                </a:solidFill>
                <a:latin typeface="Calibri"/>
              </a:rPr>
              <a:t>that you think I should check. Do not delete any file.</a:t>
            </a:r>
          </a:p>
        </p:txBody>
      </p:sp>
      <p:sp>
        <p:nvSpPr>
          <p:cNvPr id="9" name="TextBox 8"/>
          <p:cNvSpPr txBox="1"/>
          <p:nvPr/>
        </p:nvSpPr>
        <p:spPr>
          <a:xfrm>
            <a:off x="548640" y="4873752"/>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Work on a copy of the folder — tell Claude to move files, never to delete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Claude desktop app, sign in, and choose Cowork in the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Copy the lab's "2025 Invoices" folder somewhere you can work on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folder yourself and skim it before you start — 126 files.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pointed at that folder, then paste the lab prompt.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work through the PDFs — this one takes a few minutes.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invoices_2025.csv and check the row count against the folder.</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Total the SGD column and compare it against S$777,954.81.</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currency column — four invoices are in US dollars.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PDFs now sit in 2025-01 … 2025-12 folders and nothing was deleted.</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Claude's list of flagged items and decide what to do about each.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Process a Folder of Invoices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invoices_2025.csv lists every invoice with all seven fields plus the filename. The 117 SGD invoices total S$777,954.81; the four USD invoices are marked USD rather than added to that total. The duplicated invoice and the four expense receipts are flagged rather than counted as ordinary invoices. The PDFs now sit in 2025-01 … 2025-12 folders and all 126 files are still present.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space in the sidebar.</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Pulls fresh data when you open it.</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calculator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to the sidebar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Now you have seen Cowork do a real piece of work, meet the other thing it makes: a Live Artefact. You build a small tool rather than ask a question, so you can see how an artefact differs from a chat answer — it persists, it is interactive, and you can save and download it. You also meet the sandbox: an artefact cannot call the internet, so you build one version with the rates baked in and a downloadable HTML version that fetches them live.</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FX converter as a saved artefact, plus a downloadable HTML version with live rates.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Cowork, Live Artefacts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a:t>
            </a:r>
          </a:p>
        </p:txBody>
      </p:sp>
      <p:sp>
        <p:nvSpPr>
          <p:cNvPr id="5" name="Rectangle 4"/>
          <p:cNvSpPr/>
          <p:nvPr/>
        </p:nvSpPr>
        <p:spPr>
          <a:xfrm>
            <a:off x="548640" y="1828800"/>
            <a:ext cx="11064240" cy="241401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4140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72821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I want a currency converter for Meridian Capital Partners, in three</a:t>
            </a:r>
          </a:p>
          <a:p>
            <a:pPr algn="l">
              <a:spcAft>
                <a:spcPts val="200"/>
              </a:spcAft>
            </a:pPr>
            <a:r>
              <a:rPr sz="1300" b="0">
                <a:solidFill>
                  <a:srgbClr val="21201C"/>
                </a:solidFill>
                <a:latin typeface="Calibri"/>
              </a:rPr>
              <a:t>steps. Artefacts cannot call the internet, so do NOT put any fetch,</a:t>
            </a:r>
          </a:p>
          <a:p>
            <a:pPr algn="l">
              <a:spcAft>
                <a:spcPts val="200"/>
              </a:spcAft>
            </a:pPr>
            <a:r>
              <a:rPr sz="1300" b="0">
                <a:solidFill>
                  <a:srgbClr val="21201C"/>
                </a:solidFill>
                <a:latin typeface="Calibri"/>
              </a:rPr>
              <a:t>API call or network request in the artefact — it will fail.</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STEP 1 — You look up the rates.</a:t>
            </a:r>
          </a:p>
          <a:p>
            <a:pPr algn="l">
              <a:spcAft>
                <a:spcPts val="200"/>
              </a:spcAft>
            </a:pPr>
            <a:r>
              <a:rPr sz="1300" b="0">
                <a:solidFill>
                  <a:srgbClr val="21201C"/>
                </a:solidFill>
                <a:latin typeface="Calibri"/>
              </a:rPr>
              <a:t>Search the web for today's mid-market rates from SGD to USD, EUR and</a:t>
            </a:r>
          </a:p>
          <a:p>
            <a:pPr algn="l">
              <a:spcAft>
                <a:spcPts val="200"/>
              </a:spcAft>
            </a:pPr>
            <a:r>
              <a:rPr sz="1300" b="0">
                <a:solidFill>
                  <a:srgbClr val="21201C"/>
                </a:solidFill>
                <a:latin typeface="Calibri"/>
              </a:rPr>
              <a:t>GBP. Tell me the three rates and the date, in the chat.</a:t>
            </a:r>
          </a:p>
        </p:txBody>
      </p:sp>
      <p:sp>
        <p:nvSpPr>
          <p:cNvPr id="9" name="TextBox 8"/>
          <p:cNvSpPr txBox="1"/>
          <p:nvPr/>
        </p:nvSpPr>
        <p:spPr>
          <a:xfrm>
            <a:off x="548640" y="451713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 (cont.)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STEP 2 — Build the artefact with those numbers HARD-CODED.</a:t>
            </a:r>
          </a:p>
          <a:p>
            <a:pPr algn="l">
              <a:spcAft>
                <a:spcPts val="200"/>
              </a:spcAft>
            </a:pPr>
            <a:r>
              <a:rPr sz="950" b="0">
                <a:solidFill>
                  <a:srgbClr val="21201C"/>
                </a:solidFill>
                <a:latin typeface="Calibri"/>
              </a:rPr>
              <a:t>Write the three rates into the code as constants. No fetch anywhere.</a:t>
            </a:r>
          </a:p>
          <a:p>
            <a:pPr algn="l">
              <a:spcAft>
                <a:spcPts val="200"/>
              </a:spcAft>
            </a:pPr>
            <a:r>
              <a:rPr sz="950" b="0">
                <a:solidFill>
                  <a:srgbClr val="21201C"/>
                </a:solidFill>
                <a:latin typeface="Calibri"/>
              </a:rPr>
              <a:t>   - Convert between SGD, USD, EUR and GBP.</a:t>
            </a:r>
          </a:p>
          <a:p>
            <a:pPr algn="l">
              <a:spcAft>
                <a:spcPts val="200"/>
              </a:spcAft>
            </a:pPr>
            <a:r>
              <a:rPr sz="950" b="0">
                <a:solidFill>
                  <a:srgbClr val="21201C"/>
                </a:solidFill>
                <a:latin typeface="Calibri"/>
              </a:rPr>
              <a:t>   - One amount box, a from-currency and a to-currency selector,</a:t>
            </a:r>
          </a:p>
          <a:p>
            <a:pPr algn="l">
              <a:spcAft>
                <a:spcPts val="200"/>
              </a:spcAft>
            </a:pPr>
            <a:r>
              <a:rPr sz="950" b="0">
                <a:solidFill>
                  <a:srgbClr val="21201C"/>
                </a:solidFill>
                <a:latin typeface="Calibri"/>
              </a:rPr>
              <a:t>     and a large result that updates as I type.</a:t>
            </a:r>
          </a:p>
          <a:p>
            <a:pPr algn="l">
              <a:spcAft>
                <a:spcPts val="200"/>
              </a:spcAft>
            </a:pPr>
            <a:r>
              <a:rPr sz="950" b="0">
                <a:solidFill>
                  <a:srgbClr val="21201C"/>
                </a:solidFill>
                <a:latin typeface="Calibri"/>
              </a:rPr>
              <a:t>   - Under the result show the rate used, and the line</a:t>
            </a:r>
          </a:p>
          <a:p>
            <a:pPr algn="l">
              <a:spcAft>
                <a:spcPts val="200"/>
              </a:spcAft>
            </a:pPr>
            <a:r>
              <a:rPr sz="950" b="0">
                <a:solidFill>
                  <a:srgbClr val="21201C"/>
                </a:solidFill>
                <a:latin typeface="Calibri"/>
              </a:rPr>
              <a:t>     "Rates as at &lt;the date from Step 1&gt; — fixed at build time".</a:t>
            </a:r>
          </a:p>
          <a:p>
            <a:pPr algn="l">
              <a:spcAft>
                <a:spcPts val="200"/>
              </a:spcAft>
            </a:pPr>
            <a:r>
              <a:rPr sz="950" b="0">
                <a:solidFill>
                  <a:srgbClr val="21201C"/>
                </a:solidFill>
                <a:latin typeface="Calibri"/>
              </a:rPr>
              <a:t>   - Clean, professional finance styling, titled "Meridian Capital</a:t>
            </a:r>
          </a:p>
          <a:p>
            <a:pPr algn="l">
              <a:spcAft>
                <a:spcPts val="200"/>
              </a:spcAft>
            </a:pPr>
            <a:r>
              <a:rPr sz="950" b="0">
                <a:solidFill>
                  <a:srgbClr val="21201C"/>
                </a:solidFill>
                <a:latin typeface="Calibri"/>
              </a:rPr>
              <a:t>     Partners".</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STEP 3 — Now a SEPARATE downloadable HTML file.</a:t>
            </a:r>
          </a:p>
          <a:p>
            <a:pPr algn="l">
              <a:spcAft>
                <a:spcPts val="200"/>
              </a:spcAft>
            </a:pPr>
            <a:r>
              <a:rPr sz="950" b="0">
                <a:solidFill>
                  <a:srgbClr val="21201C"/>
                </a:solidFill>
                <a:latin typeface="Calibri"/>
              </a:rPr>
              <a:t>Save a file called meridian-fx-live.html to my folder. Same design,</a:t>
            </a:r>
          </a:p>
          <a:p>
            <a:pPr algn="l">
              <a:spcAft>
                <a:spcPts val="200"/>
              </a:spcAft>
            </a:pPr>
            <a:r>
              <a:rPr sz="950" b="0">
                <a:solidFill>
                  <a:srgbClr val="21201C"/>
                </a:solidFill>
                <a:latin typeface="Calibri"/>
              </a:rPr>
              <a:t>but this one DOES fetch rates from a free no-key API (such as</a:t>
            </a:r>
          </a:p>
          <a:p>
            <a:pPr algn="l">
              <a:spcAft>
                <a:spcPts val="200"/>
              </a:spcAft>
            </a:pPr>
            <a:r>
              <a:rPr sz="950" b="0">
                <a:solidFill>
                  <a:srgbClr val="21201C"/>
                </a:solidFill>
                <a:latin typeface="Calibri"/>
              </a:rPr>
              <a:t>open.er-api.com or frankfurter.app) when it opens, with a Refresh</a:t>
            </a:r>
          </a:p>
          <a:p>
            <a:pPr algn="l">
              <a:spcAft>
                <a:spcPts val="200"/>
              </a:spcAft>
            </a:pPr>
            <a:r>
              <a:rPr sz="950" b="0">
                <a:solidFill>
                  <a:srgbClr val="21201C"/>
                </a:solidFill>
                <a:latin typeface="Calibri"/>
              </a:rPr>
              <a:t>button and the fetch time shown. Tell me where you saved it.</a:t>
            </a:r>
          </a:p>
          <a:p>
            <a:pPr algn="l">
              <a:spcAft>
                <a:spcPts val="200"/>
              </a:spcAft>
            </a:pPr>
            <a:r>
              <a:rPr sz="950" b="0">
                <a:solidFill>
                  <a:srgbClr val="21201C"/>
                </a:solidFill>
                <a:latin typeface="Calibri"/>
              </a:rPr>
              <a:t>Do not show this version as an artefact — it only works when I open</a:t>
            </a:r>
          </a:p>
          <a:p>
            <a:pPr algn="l">
              <a:spcAft>
                <a:spcPts val="200"/>
              </a:spcAft>
            </a:pPr>
            <a:r>
              <a:rPr sz="950" b="0">
                <a:solidFill>
                  <a:srgbClr val="21201C"/>
                </a:solidFill>
                <a:latin typeface="Calibri"/>
              </a:rPr>
              <a:t>the file in my own browser.</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prompt tells Claude NOT to put a fetch in the artefact. If you leave that out, Claude writes one and the artefact shows "Live rate lookup failed" — the sandbox blocks it. Live data belongs in the downloadable HTML, which runs in your own browser.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Cowork session — this lab needs no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into the composer and send it.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three rates Claude reports back in the chat.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Try the artefact: change the amount and switch the currencies.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artefact's rate against a search for "1 USD to SGD".</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downloaded meridian-fx-live.html in your browser and click Refresh.</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in plain English, for example: Add a thousands separator to the result.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so it appears in your sidebar.</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The artefact converts S$10,000 to USD with no error, shows the rate used and a "Rates as at … — fixed at build time" line, and the rate matches a live search. Separately, meridian-fx-live.html opens in your browser, fetches its own rates and updates them when you click Refresh. The artefact is saved in your sidebar.</a:t>
            </a:r>
          </a:p>
        </p:txBody>
      </p:sp>
      <p:sp>
        <p:nvSpPr>
          <p:cNvPr id="9" name="Rectangle 8"/>
          <p:cNvSpPr/>
          <p:nvPr/>
        </p:nvSpPr>
        <p:spPr>
          <a:xfrm>
            <a:off x="8757338" y="1737360"/>
            <a:ext cx="2282081" cy="4251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fx-converter.png"/>
          <p:cNvPicPr>
            <a:picLocks noChangeAspect="1"/>
          </p:cNvPicPr>
          <p:nvPr/>
        </p:nvPicPr>
        <p:blipFill>
          <a:blip r:embed="rId2"/>
          <a:stretch>
            <a:fillRect/>
          </a:stretch>
        </p:blipFill>
        <p:spPr>
          <a:xfrm>
            <a:off x="8803058" y="1783080"/>
            <a:ext cx="2190641" cy="4160520"/>
          </a:xfrm>
          <a:prstGeom prst="rect">
            <a:avLst/>
          </a:prstGeom>
        </p:spPr>
      </p:pic>
      <p:sp>
        <p:nvSpPr>
          <p:cNvPr id="11" name="TextBox 10"/>
          <p:cNvSpPr txBox="1"/>
          <p:nvPr/>
        </p:nvSpPr>
        <p:spPr>
          <a:xfrm>
            <a:off x="8183879" y="6053328"/>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The finished converter — your rates will differ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head of finance wants to see how the four revenue desks performed this year without opening a spreadsheet. You take the supplied sales data and build it into a Live Artefact dashboard — KPI tiles, a trend chart and a desk breakdown — then save it. This dashboard is the artefact every later lab builds on.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Live Artefact dashboard showing Meridian's FY2025 revenue by desk.</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local files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sales dashboard</a:t>
            </a:r>
          </a:p>
        </p:txBody>
      </p:sp>
      <p:sp>
        <p:nvSpPr>
          <p:cNvPr id="5" name="Rectangle 4"/>
          <p:cNvSpPr/>
          <p:nvPr/>
        </p:nvSpPr>
        <p:spPr>
          <a:xfrm>
            <a:off x="548640" y="1828800"/>
            <a:ext cx="11064240" cy="372160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72160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03580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attached meridian-sales-fy2025.csv, build me a Live Artefact:</a:t>
            </a:r>
          </a:p>
          <a:p>
            <a:pPr algn="l">
              <a:spcAft>
                <a:spcPts val="200"/>
              </a:spcAft>
            </a:pPr>
            <a:r>
              <a:rPr sz="1300" b="0">
                <a:solidFill>
                  <a:srgbClr val="21201C"/>
                </a:solidFill>
                <a:latin typeface="Calibri"/>
              </a:rPr>
              <a:t>an interactive sales dashboard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Include:</a:t>
            </a:r>
          </a:p>
          <a:p>
            <a:pPr algn="l">
              <a:spcAft>
                <a:spcPts val="200"/>
              </a:spcAft>
            </a:pPr>
            <a:r>
              <a:rPr sz="1300" b="0">
                <a:solidFill>
                  <a:srgbClr val="21201C"/>
                </a:solidFill>
                <a:latin typeface="Calibri"/>
              </a:rPr>
              <a:t>- KPI tiles: total revenue, total deals, average deal size, best desk.</a:t>
            </a:r>
          </a:p>
          <a:p>
            <a:pPr algn="l">
              <a:spcAft>
                <a:spcPts val="200"/>
              </a:spcAft>
            </a:pPr>
            <a:r>
              <a:rPr sz="1300" b="0">
                <a:solidFill>
                  <a:srgbClr val="21201C"/>
                </a:solidFill>
                <a:latin typeface="Calibri"/>
              </a:rPr>
              <a:t>- A monthly revenue trend chart for the full year.</a:t>
            </a:r>
          </a:p>
          <a:p>
            <a:pPr algn="l">
              <a:spcAft>
                <a:spcPts val="200"/>
              </a:spcAft>
            </a:pPr>
            <a:r>
              <a:rPr sz="1300" b="0">
                <a:solidFill>
                  <a:srgbClr val="21201C"/>
                </a:solidFill>
                <a:latin typeface="Calibri"/>
              </a:rPr>
              <a:t>- A breakdown of revenue by desk (Advisory, Asset Management,</a:t>
            </a:r>
          </a:p>
          <a:p>
            <a:pPr algn="l">
              <a:spcAft>
                <a:spcPts val="200"/>
              </a:spcAft>
            </a:pPr>
            <a:r>
              <a:rPr sz="1300" b="0">
                <a:solidFill>
                  <a:srgbClr val="21201C"/>
                </a:solidFill>
                <a:latin typeface="Calibri"/>
              </a:rPr>
              <a:t>  Private Credit, Corporate Finance).</a:t>
            </a:r>
          </a:p>
          <a:p>
            <a:pPr algn="l">
              <a:spcAft>
                <a:spcPts val="200"/>
              </a:spcAft>
            </a:pPr>
            <a:r>
              <a:rPr sz="1300" b="0">
                <a:solidFill>
                  <a:srgbClr val="21201C"/>
                </a:solidFill>
                <a:latin typeface="Calibri"/>
              </a:rPr>
              <a:t>- A filter to show one desk at a time or all desks.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Format all money as Singapore dollars with thousands separators.</a:t>
            </a:r>
          </a:p>
          <a:p>
            <a:pPr algn="l">
              <a:spcAft>
                <a:spcPts val="200"/>
              </a:spcAft>
            </a:pPr>
            <a:r>
              <a:rPr sz="1300" b="0">
                <a:solidFill>
                  <a:srgbClr val="21201C"/>
                </a:solidFill>
                <a:latin typeface="Calibri"/>
              </a:rPr>
              <a:t>Use a clean, professional finance layout. Title it</a:t>
            </a:r>
          </a:p>
          <a:p>
            <a:pPr algn="l">
              <a:spcAft>
                <a:spcPts val="200"/>
              </a:spcAft>
            </a:pPr>
            <a:r>
              <a:rPr sz="1300" b="0">
                <a:solidFill>
                  <a:srgbClr val="21201C"/>
                </a:solidFill>
                <a:latin typeface="Calibri"/>
              </a:rPr>
              <a:t>"Meridian Capital Partners — FY2025 Revenue".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CSV from your lab's mock-data folder before sending the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folder and look at meridian-sales-fy2025.csv so you know what the data holds.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Cowork session and attach the CSV, or point Claude at the lab folder.</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and send it.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against the CSV: total revenue should be S$24,850,000 across 214 deals.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Use the desk filter to view Advisory on its own, then return to all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Refine the layout in plain English, for example: Move the KPI tiles above the chart.</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dashboard to your sidebar with a clear name, then download a copy.</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46304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total revenue S$24,850,000 and 214 deals, Advisory is the best desk at S$8,420,000, the desk filter changes the chart, and the artefact reopens from your sidebar after you close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Cowork Fundamentals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extract structured data from a folder of PDFs and reorganise the files.</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set up the Cowork workspace and build, save and download a Live Artefact.</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supplied finance data into an interactive Live Artefact dashboard.</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Tools and Skills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 built-in skill: the board deck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and /skill-creator</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Do · Verify · Save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Drive</a:t>
            </a:r>
          </a:p>
          <a:p>
            <a:pPr algn="l">
              <a:spcAft>
                <a:spcPts val="300"/>
              </a:spcAft>
            </a:pPr>
            <a:r>
              <a:rPr sz="10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3820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3820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Gmail</a:t>
            </a:r>
          </a:p>
          <a:p>
            <a:pPr algn="l">
              <a:spcAft>
                <a:spcPts val="300"/>
              </a:spcAft>
            </a:pPr>
            <a:r>
              <a:rPr sz="1050" b="0">
                <a:solidFill>
                  <a:srgbClr val="6B6862"/>
                </a:solidFill>
                <a:latin typeface="Calibri"/>
              </a:rPr>
              <a:t>Search and read mail, draft messages, send / reply / forward with approval, and manage labels.</a:t>
            </a:r>
          </a:p>
        </p:txBody>
      </p:sp>
      <p:sp>
        <p:nvSpPr>
          <p:cNvPr id="16" name="Rectangle 15"/>
          <p:cNvSpPr/>
          <p:nvPr/>
        </p:nvSpPr>
        <p:spPr>
          <a:xfrm>
            <a:off x="548640"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Google Calendar</a:t>
            </a:r>
          </a:p>
          <a:p>
            <a:pPr algn="l">
              <a:spcAft>
                <a:spcPts val="300"/>
              </a:spcAft>
            </a:pPr>
            <a:r>
              <a:rPr sz="1050" b="0">
                <a:solidFill>
                  <a:srgbClr val="6B6862"/>
                </a:solidFill>
                <a:latin typeface="Calibri"/>
              </a:rPr>
              <a:t>View events, find availability, and create or update meetings.</a:t>
            </a:r>
          </a:p>
        </p:txBody>
      </p:sp>
      <p:sp>
        <p:nvSpPr>
          <p:cNvPr id="21" name="Rectangle 20"/>
          <p:cNvSpPr/>
          <p:nvPr/>
        </p:nvSpPr>
        <p:spPr>
          <a:xfrm>
            <a:off x="6163056" y="3127248"/>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127248"/>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3604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3604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236976"/>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Microsoft 365</a:t>
            </a:r>
          </a:p>
          <a:p>
            <a:pPr algn="l">
              <a:spcAft>
                <a:spcPts val="300"/>
              </a:spcAft>
            </a:pPr>
            <a:r>
              <a:rPr sz="1050" b="0">
                <a:solidFill>
                  <a:srgbClr val="6B6862"/>
                </a:solidFill>
                <a:latin typeface="Calibri"/>
              </a:rPr>
              <a:t>Reads SharePoint, Outlook, Teams and OneDrive files. Creating or updating files needs write tools an administrator must enable — off by default, which is why Lab 6 has Claude build the deck itself.</a:t>
            </a:r>
          </a:p>
        </p:txBody>
      </p:sp>
      <p:sp>
        <p:nvSpPr>
          <p:cNvPr id="26" name="Rectangle 25"/>
          <p:cNvSpPr/>
          <p:nvPr/>
        </p:nvSpPr>
        <p:spPr>
          <a:xfrm>
            <a:off x="548640"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Approval by default</a:t>
            </a:r>
          </a:p>
          <a:p>
            <a:pPr algn="l">
              <a:spcAft>
                <a:spcPts val="300"/>
              </a:spcAft>
            </a:pPr>
            <a:r>
              <a:rPr sz="1050" b="0">
                <a:solidFill>
                  <a:srgbClr val="6B6862"/>
                </a:solidFill>
                <a:latin typeface="Calibri"/>
              </a:rPr>
              <a:t>Claude asks for explicit approval before it sends, replies to or forwards an email.</a:t>
            </a:r>
          </a:p>
        </p:txBody>
      </p:sp>
      <p:sp>
        <p:nvSpPr>
          <p:cNvPr id="31" name="Rectangle 30"/>
          <p:cNvSpPr/>
          <p:nvPr/>
        </p:nvSpPr>
        <p:spPr>
          <a:xfrm>
            <a:off x="6163056" y="4105656"/>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105656"/>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43388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3388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215384"/>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Where to manage them</a:t>
            </a:r>
          </a:p>
          <a:p>
            <a:pPr algn="l">
              <a:spcAft>
                <a:spcPts val="300"/>
              </a:spcAft>
            </a:pPr>
            <a:r>
              <a:rPr sz="1050" b="0">
                <a:solidFill>
                  <a:srgbClr val="6B6862"/>
                </a:solidFill>
                <a:latin typeface="Calibri"/>
              </a:rPr>
              <a:t>Individually from the + menu; account-wide under Customize → Connectors.</a:t>
            </a:r>
          </a:p>
        </p:txBody>
      </p:sp>
      <p:sp>
        <p:nvSpPr>
          <p:cNvPr id="36" name="Rectangle 35"/>
          <p:cNvSpPr/>
          <p:nvPr/>
        </p:nvSpPr>
        <p:spPr>
          <a:xfrm>
            <a:off x="548640" y="5084064"/>
            <a:ext cx="5449824" cy="8138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084064"/>
            <a:ext cx="54864" cy="81381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2960" y="53172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31723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40" name="TextBox 39"/>
          <p:cNvSpPr txBox="1"/>
          <p:nvPr/>
        </p:nvSpPr>
        <p:spPr>
          <a:xfrm>
            <a:off x="1335024" y="5193792"/>
            <a:ext cx="4434840" cy="594360"/>
          </a:xfrm>
          <a:prstGeom prst="rect">
            <a:avLst/>
          </a:prstGeom>
          <a:noFill/>
        </p:spPr>
        <p:txBody>
          <a:bodyPr wrap="square" anchor="ctr" lIns="0" rIns="0" tIns="0" bIns="0">
            <a:spAutoFit/>
          </a:bodyPr>
          <a:lstStyle/>
          <a:p>
            <a:pPr algn="l">
              <a:spcAft>
                <a:spcPts val="300"/>
              </a:spcAft>
            </a:pPr>
            <a:r>
              <a:rPr sz="1300" b="1">
                <a:solidFill>
                  <a:srgbClr val="21201C"/>
                </a:solidFill>
                <a:latin typeface="Cambria"/>
              </a:rPr>
              <a:t>Known limits</a:t>
            </a:r>
          </a:p>
          <a:p>
            <a:pPr algn="l">
              <a:spcAft>
                <a:spcPts val="300"/>
              </a:spcAft>
            </a:pPr>
            <a:r>
              <a:rPr sz="1050" b="0">
                <a:solidFill>
                  <a:srgbClr val="6B6862"/>
                </a:solidFill>
                <a:latin typeface="Calibri"/>
              </a:rPr>
              <a:t>Attachment contents are not read (metadata only) and images embedded in Docs are not processed.</a:t>
            </a:r>
          </a:p>
        </p:txBody>
      </p:sp>
      <p:sp>
        <p:nvSpPr>
          <p:cNvPr id="41" name="TextBox 4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2" name="TextBox 4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3" name="TextBox 4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GOOGLE DRIVE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on</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on Google Drive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session.</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session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Custom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Start a fresh session for a new task rather than letting one fill up.</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task per session, only the connectors you need, and only the files the task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Working folder</a:t>
            </a:r>
          </a:p>
          <a:p>
            <a:pPr algn="l">
              <a:spcAft>
                <a:spcPts val="500"/>
              </a:spcAft>
            </a:pPr>
            <a:r>
              <a:rPr sz="1250" b="0">
                <a:solidFill>
                  <a:srgbClr val="6B6862"/>
                </a:solidFill>
                <a:latin typeface="Calibri"/>
              </a:rPr>
              <a:t>The files and folders Claude can access while working on the task.</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a:t>
            </a:r>
          </a:p>
          <a:p>
            <a:pPr algn="l">
              <a:spcAft>
                <a:spcPts val="500"/>
              </a:spcAft>
            </a:pPr>
            <a:r>
              <a:rPr sz="1250" b="0">
                <a:solidFill>
                  <a:srgbClr val="6B6862"/>
                </a:solidFill>
                <a:latin typeface="Calibri"/>
              </a:rPr>
              <a:t>Saved instructions at the folder level, which Claude always reads first.</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the working folder in Lab 1, connectors in Labs 4–5, skills in Labs 6–8, and project instructions in Lab 9.</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code.</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daily-brief.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which tools to check, in what order, and what to report.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templates, documents or code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hand a colleague the plugin and they get every skill, tool and agent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Retyping the request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whole routine again every morning.</a:t>
            </a:r>
          </a:p>
          <a:p>
            <a:pPr algn="l">
              <a:spcAft>
                <a:spcPts val="900"/>
              </a:spcAft>
            </a:pPr>
            <a:r>
              <a:rPr sz="1250" b="0">
                <a:solidFill>
                  <a:srgbClr val="21201C"/>
                </a:solidFill>
                <a:latin typeface="Calibri"/>
              </a:rPr>
              <a:t>•  Easy to forget a step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The output format drifts from day to day.</a:t>
            </a:r>
          </a:p>
          <a:p>
            <a:pPr algn="l">
              <a:spcAft>
                <a:spcPts val="900"/>
              </a:spcAft>
            </a:pPr>
            <a:r>
              <a:rPr sz="1250" b="0">
                <a:solidFill>
                  <a:srgbClr val="21201C"/>
                </a:solidFill>
                <a:latin typeface="Calibri"/>
              </a:rPr>
              <a:t>•  Nothing to hand to a new joiner.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run by name.</a:t>
            </a:r>
          </a:p>
          <a:p>
            <a:pPr algn="l">
              <a:spcAft>
                <a:spcPts val="900"/>
              </a:spcAft>
            </a:pPr>
            <a:r>
              <a:rPr sz="1250" b="0">
                <a:solidFill>
                  <a:srgbClr val="21201C"/>
                </a:solidFill>
                <a:latin typeface="Calibri"/>
              </a:rPr>
              <a:t>•  Claude follows every step, every time.</a:t>
            </a:r>
          </a:p>
          <a:p>
            <a:pPr algn="l">
              <a:spcAft>
                <a:spcPts val="900"/>
              </a:spcAft>
            </a:pPr>
            <a:r>
              <a:rPr sz="1250" b="0">
                <a:solidFill>
                  <a:srgbClr val="21201C"/>
                </a:solidFill>
                <a:latin typeface="Calibri"/>
              </a:rPr>
              <a:t>•  The whole team shares one folder.</a:t>
            </a:r>
          </a:p>
          <a:p>
            <a:pPr algn="l">
              <a:spcAft>
                <a:spcPts val="900"/>
              </a:spcAft>
            </a:pPr>
            <a:r>
              <a:rPr sz="1250" b="0">
                <a:solidFill>
                  <a:srgbClr val="21201C"/>
                </a:solidFill>
                <a:latin typeface="Calibri"/>
              </a:rPr>
              <a:t>•  The same structure and format each run.</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AUTOMATION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check — Drive, Gmail, Calendar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reports back in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fallbacks</a:t>
            </a:r>
          </a:p>
          <a:p>
            <a:pPr algn="l">
              <a:spcAft>
                <a:spcPts val="300"/>
              </a:spcAft>
            </a:pPr>
            <a:r>
              <a:rPr sz="1150" b="0">
                <a:solidFill>
                  <a:srgbClr val="6B6862"/>
                </a:solidFill>
                <a:latin typeface="Calibri"/>
              </a:rPr>
              <a:t>When a source has nothing new, it says so plainly rather than inventing filler.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sending anything still needs your approval.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briefing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Tools and Skills</a:t>
            </a:r>
          </a:p>
        </p:txBody>
      </p:sp>
      <p:sp>
        <p:nvSpPr>
          <p:cNvPr id="5" name="Rectangle 4"/>
          <p:cNvSpPr/>
          <p:nvPr/>
        </p:nvSpPr>
        <p:spPr>
          <a:xfrm>
            <a:off x="548640"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Connectors</a:t>
            </a:r>
          </a:p>
          <a:p>
            <a:pPr algn="l">
              <a:spcAft>
                <a:spcPts val="300"/>
              </a:spcAft>
            </a:pPr>
            <a:r>
              <a:rPr sz="950" b="0">
                <a:solidFill>
                  <a:srgbClr val="6B6862"/>
                </a:solidFill>
                <a:latin typeface="Calibri"/>
              </a:rPr>
              <a:t>Toggle Gmail, Calendar and Drive on from the + menu so Claude can reach data outside the chat.</a:t>
            </a:r>
          </a:p>
        </p:txBody>
      </p:sp>
      <p:sp>
        <p:nvSpPr>
          <p:cNvPr id="10" name="Rectangle 9"/>
          <p:cNvSpPr/>
          <p:nvPr/>
        </p:nvSpPr>
        <p:spPr>
          <a:xfrm>
            <a:off x="6163056" y="178308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88366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88366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Google Drive</a:t>
            </a:r>
          </a:p>
          <a:p>
            <a:pPr algn="l">
              <a:spcAft>
                <a:spcPts val="300"/>
              </a:spcAft>
            </a:pPr>
            <a:r>
              <a:rPr sz="950" b="0">
                <a:solidFill>
                  <a:srgbClr val="6B6862"/>
                </a:solidFill>
                <a:latin typeface="Calibri"/>
              </a:rPr>
              <a:t>Claude reads Sheets, Docs, Slides and PDFs from Drive, and can upload files back to a folder.</a:t>
            </a:r>
          </a:p>
        </p:txBody>
      </p:sp>
      <p:sp>
        <p:nvSpPr>
          <p:cNvPr id="15" name="Rectangle 14"/>
          <p:cNvSpPr/>
          <p:nvPr/>
        </p:nvSpPr>
        <p:spPr>
          <a:xfrm>
            <a:off x="548640"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Scope the folder</a:t>
            </a:r>
          </a:p>
          <a:p>
            <a:pPr algn="l">
              <a:spcAft>
                <a:spcPts val="300"/>
              </a:spcAft>
            </a:pPr>
            <a:r>
              <a:rPr sz="950" b="0">
                <a:solidFill>
                  <a:srgbClr val="6B6862"/>
                </a:solidFill>
                <a:latin typeface="Calibri"/>
              </a:rPr>
              <a:t>Point Claude at one Drive folder for the task — not your whole Drive.</a:t>
            </a:r>
          </a:p>
        </p:txBody>
      </p:sp>
      <p:sp>
        <p:nvSpPr>
          <p:cNvPr id="20" name="Rectangle 19"/>
          <p:cNvSpPr/>
          <p:nvPr/>
        </p:nvSpPr>
        <p:spPr>
          <a:xfrm>
            <a:off x="6163056" y="2496312"/>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496312"/>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606040"/>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Gmail</a:t>
            </a:r>
          </a:p>
          <a:p>
            <a:pPr algn="l">
              <a:spcAft>
                <a:spcPts val="300"/>
              </a:spcAft>
            </a:pPr>
            <a:r>
              <a:rPr sz="950" b="0">
                <a:solidFill>
                  <a:srgbClr val="6B6862"/>
                </a:solidFill>
                <a:latin typeface="Calibri"/>
              </a:rPr>
              <a:t>Claude drafts, sends, replies and labels — sending asks for explicit approval by default.</a:t>
            </a:r>
          </a:p>
        </p:txBody>
      </p:sp>
      <p:sp>
        <p:nvSpPr>
          <p:cNvPr id="25" name="Rectangle 24"/>
          <p:cNvSpPr/>
          <p:nvPr/>
        </p:nvSpPr>
        <p:spPr>
          <a:xfrm>
            <a:off x="548640"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Agent Skills</a:t>
            </a:r>
          </a:p>
          <a:p>
            <a:pPr algn="l">
              <a:spcAft>
                <a:spcPts val="300"/>
              </a:spcAft>
            </a:pPr>
            <a:r>
              <a:rPr sz="950" b="0">
                <a:solidFill>
                  <a:srgbClr val="6B6862"/>
                </a:solidFill>
                <a:latin typeface="Calibri"/>
              </a:rPr>
              <a:t>A folder of instructions Claude loads on demand, so a task runs the same way every time.</a:t>
            </a:r>
          </a:p>
        </p:txBody>
      </p:sp>
      <p:sp>
        <p:nvSpPr>
          <p:cNvPr id="30" name="Rectangle 29"/>
          <p:cNvSpPr/>
          <p:nvPr/>
        </p:nvSpPr>
        <p:spPr>
          <a:xfrm>
            <a:off x="6163056" y="3209544"/>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209544"/>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3101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31012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319272"/>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Built-in skills</a:t>
            </a:r>
          </a:p>
          <a:p>
            <a:pPr algn="l">
              <a:spcAft>
                <a:spcPts val="300"/>
              </a:spcAft>
            </a:pPr>
            <a:r>
              <a:rPr sz="950" b="0">
                <a:solidFill>
                  <a:srgbClr val="6B6862"/>
                </a:solidFill>
                <a:latin typeface="Calibri"/>
              </a:rPr>
              <a:t>Some ship with Claude — pptx builds PowerPoint files. It loads when your request matches.</a:t>
            </a:r>
          </a:p>
        </p:txBody>
      </p:sp>
      <p:sp>
        <p:nvSpPr>
          <p:cNvPr id="35" name="Rectangle 34"/>
          <p:cNvSpPr/>
          <p:nvPr/>
        </p:nvSpPr>
        <p:spPr>
          <a:xfrm>
            <a:off x="548640"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Where to see them</a:t>
            </a:r>
          </a:p>
          <a:p>
            <a:pPr algn="l">
              <a:spcAft>
                <a:spcPts val="300"/>
              </a:spcAft>
            </a:pPr>
            <a:r>
              <a:rPr sz="950" b="0">
                <a:solidFill>
                  <a:srgbClr val="6B6862"/>
                </a:solidFill>
                <a:latin typeface="Calibri"/>
              </a:rPr>
              <a:t>Your own skills appear in + → Skills. Built-in ones do not — look in the Context panel.</a:t>
            </a:r>
          </a:p>
        </p:txBody>
      </p:sp>
      <p:sp>
        <p:nvSpPr>
          <p:cNvPr id="40" name="Rectangle 39"/>
          <p:cNvSpPr/>
          <p:nvPr/>
        </p:nvSpPr>
        <p:spPr>
          <a:xfrm>
            <a:off x="6163056" y="3922776"/>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3922776"/>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02336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02336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032504"/>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Three layers</a:t>
            </a:r>
          </a:p>
          <a:p>
            <a:pPr algn="l">
              <a:spcAft>
                <a:spcPts val="300"/>
              </a:spcAft>
            </a:pPr>
            <a:r>
              <a:rPr sz="950" b="0">
                <a:solidFill>
                  <a:srgbClr val="6B6862"/>
                </a:solidFill>
                <a:latin typeface="Calibri"/>
              </a:rPr>
              <a:t>Metadata is always in context; the SKILL.md loads when triggered; resources load only when needed.</a:t>
            </a:r>
          </a:p>
        </p:txBody>
      </p:sp>
      <p:sp>
        <p:nvSpPr>
          <p:cNvPr id="45" name="Rectangle 44"/>
          <p:cNvSpPr/>
          <p:nvPr/>
        </p:nvSpPr>
        <p:spPr>
          <a:xfrm>
            <a:off x="548640"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/skill-creator</a:t>
            </a:r>
          </a:p>
          <a:p>
            <a:pPr algn="l">
              <a:spcAft>
                <a:spcPts val="300"/>
              </a:spcAft>
            </a:pPr>
            <a:r>
              <a:rPr sz="950" b="0">
                <a:solidFill>
                  <a:srgbClr val="6B6862"/>
                </a:solidFill>
                <a:latin typeface="Calibri"/>
              </a:rPr>
              <a:t>Do the task once, verify the output, then let skill-creator write the SKILL.md for you.</a:t>
            </a:r>
          </a:p>
        </p:txBody>
      </p:sp>
      <p:sp>
        <p:nvSpPr>
          <p:cNvPr id="50" name="Rectangle 49"/>
          <p:cNvSpPr/>
          <p:nvPr/>
        </p:nvSpPr>
        <p:spPr>
          <a:xfrm>
            <a:off x="6163056" y="4636008"/>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63056" y="4636008"/>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437376"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37376"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10</a:t>
            </a:r>
          </a:p>
        </p:txBody>
      </p:sp>
      <p:sp>
        <p:nvSpPr>
          <p:cNvPr id="54" name="TextBox 53"/>
          <p:cNvSpPr txBox="1"/>
          <p:nvPr/>
        </p:nvSpPr>
        <p:spPr>
          <a:xfrm>
            <a:off x="6949440" y="4745736"/>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evolve</a:t>
            </a:r>
          </a:p>
          <a:p>
            <a:pPr algn="l">
              <a:spcAft>
                <a:spcPts val="300"/>
              </a:spcAft>
            </a:pPr>
            <a:r>
              <a:rPr sz="950" b="0">
                <a:solidFill>
                  <a:srgbClr val="6B6862"/>
                </a:solidFill>
                <a:latin typeface="Calibri"/>
              </a:rPr>
              <a:t>Update a skill as you learn what you want — saving over it replaces the old version, so re-run to confirm.</a:t>
            </a:r>
          </a:p>
        </p:txBody>
      </p:sp>
      <p:sp>
        <p:nvSpPr>
          <p:cNvPr id="55" name="Rectangle 54"/>
          <p:cNvSpPr/>
          <p:nvPr/>
        </p:nvSpPr>
        <p:spPr>
          <a:xfrm>
            <a:off x="548640" y="5349240"/>
            <a:ext cx="5449824"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5349240"/>
            <a:ext cx="54864" cy="5486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22960" y="54498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 y="54498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11</a:t>
            </a:r>
          </a:p>
        </p:txBody>
      </p:sp>
      <p:sp>
        <p:nvSpPr>
          <p:cNvPr id="59" name="TextBox 58"/>
          <p:cNvSpPr txBox="1"/>
          <p:nvPr/>
        </p:nvSpPr>
        <p:spPr>
          <a:xfrm>
            <a:off x="1335024" y="5458968"/>
            <a:ext cx="4434840" cy="329184"/>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use tools</a:t>
            </a:r>
          </a:p>
          <a:p>
            <a:pPr algn="l">
              <a:spcAft>
                <a:spcPts val="300"/>
              </a:spcAft>
            </a:pPr>
            <a:r>
              <a:rPr sz="950" b="0">
                <a:solidFill>
                  <a:srgbClr val="6B6862"/>
                </a:solidFill>
                <a:latin typeface="Calibri"/>
              </a:rPr>
              <a:t>A skill can drive the connectors for you — one command that checks Drive and Gmail and reports back.</a:t>
            </a:r>
          </a:p>
        </p:txBody>
      </p:sp>
      <p:sp>
        <p:nvSpPr>
          <p:cNvPr id="60" name="TextBox 5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61" name="TextBox 6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62" name="TextBox 6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finance data does not live on your laptop — it sits in a shared Google Drive folder. You upload the firm's wider finance files to Drive, enable the Google Drive connector, and confirm Claude can read them without you attaching anything by hand.</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working Google Drive connection scoped to the Meridian finance folder.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 the Meridian finance data from Drive</a:t>
            </a:r>
          </a:p>
        </p:txBody>
      </p:sp>
      <p:sp>
        <p:nvSpPr>
          <p:cNvPr id="5" name="Rectangle 4"/>
          <p:cNvSpPr/>
          <p:nvPr/>
        </p:nvSpPr>
        <p:spPr>
          <a:xfrm>
            <a:off x="548640" y="1828800"/>
            <a:ext cx="11064240" cy="3008376"/>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00837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322576"/>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Google Drive connector, open the folder "Meridian Finance"</a:t>
            </a:r>
          </a:p>
          <a:p>
            <a:pPr algn="l">
              <a:spcAft>
                <a:spcPts val="200"/>
              </a:spcAft>
            </a:pPr>
            <a:r>
              <a:rPr sz="1300" b="0">
                <a:solidFill>
                  <a:srgbClr val="21201C"/>
                </a:solidFill>
                <a:latin typeface="Calibri"/>
              </a:rPr>
              <a:t>in my Drive and tell me what you find.</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 each file, give me:</a:t>
            </a:r>
          </a:p>
          <a:p>
            <a:pPr algn="l">
              <a:spcAft>
                <a:spcPts val="200"/>
              </a:spcAft>
            </a:pPr>
            <a:r>
              <a:rPr sz="1300" b="0">
                <a:solidFill>
                  <a:srgbClr val="21201C"/>
                </a:solidFill>
                <a:latin typeface="Calibri"/>
              </a:rPr>
              <a:t>- The file name and what kind of data it holds.</a:t>
            </a:r>
          </a:p>
          <a:p>
            <a:pPr algn="l">
              <a:spcAft>
                <a:spcPts val="200"/>
              </a:spcAft>
            </a:pPr>
            <a:r>
              <a:rPr sz="1300" b="0">
                <a:solidFill>
                  <a:srgbClr val="21201C"/>
                </a:solidFill>
                <a:latin typeface="Calibri"/>
              </a:rPr>
              <a:t>- The period it covers.</a:t>
            </a:r>
          </a:p>
          <a:p>
            <a:pPr algn="l">
              <a:spcAft>
                <a:spcPts val="200"/>
              </a:spcAft>
            </a:pPr>
            <a:r>
              <a:rPr sz="1300" b="0">
                <a:solidFill>
                  <a:srgbClr val="21201C"/>
                </a:solidFill>
                <a:latin typeface="Calibri"/>
              </a:rPr>
              <a:t>- The three figures you would use in a quarterly revenue summary.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Do not change, move or delete anything — read only.</a:t>
            </a:r>
          </a:p>
          <a:p>
            <a:pPr algn="l">
              <a:spcAft>
                <a:spcPts val="200"/>
              </a:spcAft>
            </a:pPr>
            <a:r>
              <a:rPr sz="1300" b="0">
                <a:solidFill>
                  <a:srgbClr val="21201C"/>
                </a:solidFill>
                <a:latin typeface="Calibri"/>
              </a:rPr>
              <a:t>List anything that looks inconsistent between the files.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asks for approval before it moves, shares or deletes a Drive file.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lab's mock-data files to a new Google Drive folder named Meridian Finance.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Claude, click the plus sign in the composer and hover over Connectors.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Toggle Google Drive on and sign in to your Google account.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permissions Google asks for — grant FULL READ access.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reports an "insufficient scope" error, reconnect the connector.</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so Claude reads the Meridian Finance folder.</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Compare Claude's file summary against what you actually uploaded.</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any inconsistency Claude reports between the files.</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lists all three Meridian Finance files with their periods, reports FY2025 revenue of S$24,850,000, and flags that the Q4 Advisory target disagrees between the two files — S$2,320,000 in the targets file against S$2,410,000 in the workbook. Nothing in Drive has been changed.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Quarter end has arrived. You refresh the dashboard you built in Lab 3 using the data Claude now reads from Drive, then have it draft a quarterly summary email to the head of finance. You read the draft against the figures and approve it before a single message leaves your outbox.</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updated dashboard plus an approved quarterly summary email sent to yourself.</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then draft the summary</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Two tasks, in order.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1. Open my saved "Meridian Capital Partners — FY2025 Revenue"</a:t>
            </a:r>
          </a:p>
          <a:p>
            <a:pPr algn="l">
              <a:spcAft>
                <a:spcPts val="200"/>
              </a:spcAft>
            </a:pPr>
            <a:r>
              <a:rPr sz="1200" b="0">
                <a:solidFill>
                  <a:srgbClr val="21201C"/>
                </a:solidFill>
                <a:latin typeface="Calibri"/>
              </a:rPr>
              <a:t>   dashboard and update it from the Meridian Finance folder in Google</a:t>
            </a:r>
          </a:p>
          <a:p>
            <a:pPr algn="l">
              <a:spcAft>
                <a:spcPts val="200"/>
              </a:spcAft>
            </a:pPr>
            <a:r>
              <a:rPr sz="1200" b="0">
                <a:solidFill>
                  <a:srgbClr val="21201C"/>
                </a:solidFill>
                <a:latin typeface="Calibri"/>
              </a:rPr>
              <a:t>   Drive. Add a Q4 column to the desk breakdown and show each desk's</a:t>
            </a:r>
          </a:p>
          <a:p>
            <a:pPr algn="l">
              <a:spcAft>
                <a:spcPts val="200"/>
              </a:spcAft>
            </a:pPr>
            <a:r>
              <a:rPr sz="1200" b="0">
                <a:solidFill>
                  <a:srgbClr val="21201C"/>
                </a:solidFill>
                <a:latin typeface="Calibri"/>
              </a:rPr>
              <a:t>   actual against its target.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2. Then draft an email to &lt;YOUR OWN ADDRESS&gt; with the subject</a:t>
            </a:r>
          </a:p>
          <a:p>
            <a:pPr algn="l">
              <a:spcAft>
                <a:spcPts val="200"/>
              </a:spcAft>
            </a:pPr>
            <a:r>
              <a:rPr sz="1200" b="0">
                <a:solidFill>
                  <a:srgbClr val="21201C"/>
                </a:solidFill>
                <a:latin typeface="Calibri"/>
              </a:rPr>
              <a:t>   "Meridian FY2025 — Q4 revenue summary". In the body:</a:t>
            </a:r>
          </a:p>
          <a:p>
            <a:pPr algn="l">
              <a:spcAft>
                <a:spcPts val="200"/>
              </a:spcAft>
            </a:pPr>
            <a:r>
              <a:rPr sz="1200" b="0">
                <a:solidFill>
                  <a:srgbClr val="21201C"/>
                </a:solidFill>
                <a:latin typeface="Calibri"/>
              </a:rPr>
              <a:t>   - Total FY2025 revenue and the Q4 figure.</a:t>
            </a:r>
          </a:p>
          <a:p>
            <a:pPr algn="l">
              <a:spcAft>
                <a:spcPts val="200"/>
              </a:spcAft>
            </a:pPr>
            <a:r>
              <a:rPr sz="1200" b="0">
                <a:solidFill>
                  <a:srgbClr val="21201C"/>
                </a:solidFill>
                <a:latin typeface="Calibri"/>
              </a:rPr>
              <a:t>   - Each desk's Q4 actual against target, best and worst first.</a:t>
            </a:r>
          </a:p>
          <a:p>
            <a:pPr algn="l">
              <a:spcAft>
                <a:spcPts val="200"/>
              </a:spcAft>
            </a:pPr>
            <a:r>
              <a:rPr sz="1200" b="0">
                <a:solidFill>
                  <a:srgbClr val="21201C"/>
                </a:solidFill>
                <a:latin typeface="Calibri"/>
              </a:rPr>
              <a:t>   - Two sentences explaining the largest variance.</a:t>
            </a:r>
          </a:p>
          <a:p>
            <a:pPr algn="l">
              <a:spcAft>
                <a:spcPts val="200"/>
              </a:spcAft>
            </a:pPr>
            <a:r>
              <a:rPr sz="1200" b="0">
                <a:solidFill>
                  <a:srgbClr val="21201C"/>
                </a:solidFill>
                <a:latin typeface="Calibri"/>
              </a:rPr>
              <a:t>   - A closing line noting the Q4 Advisory target discrepancy.</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the draft. Do not send it until I approve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OWN ADDRESS&gt; with your own email — never a real client's.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Reopen the dashboard you saved in Lab 3 from your sidebar.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Enable the Gmail connector from the plus menu, alongside Google Drive.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 replacing the placeholder with your own email address.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Claude refresh the dashboard from Drive and add the Q4 target comparison.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refreshed dashboard: Q4 revenue should be S$6,980,000 across the four desks.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drafted email in full and compare every figure against the dashboard.</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Approve the send, then confirm the message arrived in your own inbox.</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2103120"/>
            <a:ext cx="11064240" cy="28072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807208"/>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801368"/>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a Q4 column with actual against target per desk and Q4 revenue of S$6,980,000. The email arrives in your own inbox with the correct totals and a closing note about the Advisory target discrepancy.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quarterly board pack is due. In Lab 5 you sent the head of finance a summary email — the board wants the same story as slides. Rather than building it by hand, you have Claude read the Meridian data from Drive and produce the PowerPoint itself.
This is your first look at a skill doing the work. You do not write anything or turn anything on: Claude has a built-in pptx skill for creating PowerPoint files, and it loads on demand because your request matches what the skill is for. You can watch it happen in the Context panel. It builds the charts too — real, editable PowerPoint charts, not screenshots. In Labs 7 and 8 you write your own skills; here you watch one work first.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board-ready PowerPoint with charts and Q4 recommendations, built by Claude's built-in pptx skill.</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 the built-in pptx skill</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the Meridian Finance folder in Google Drive, build me a PowerPoint</a:t>
            </a:r>
          </a:p>
          <a:p>
            <a:pPr algn="l">
              <a:spcAft>
                <a:spcPts val="200"/>
              </a:spcAft>
            </a:pPr>
            <a:r>
              <a:rPr sz="1200" b="0">
                <a:solidFill>
                  <a:srgbClr val="21201C"/>
                </a:solidFill>
                <a:latin typeface="Calibri"/>
              </a:rPr>
              <a:t>called "Meridian Capital Partners — FY2025 Board Review".</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Slides:</a:t>
            </a:r>
          </a:p>
          <a:p>
            <a:pPr algn="l">
              <a:spcAft>
                <a:spcPts val="200"/>
              </a:spcAft>
            </a:pPr>
            <a:r>
              <a:rPr sz="1200" b="0">
                <a:solidFill>
                  <a:srgbClr val="21201C"/>
                </a:solidFill>
                <a:latin typeface="Calibri"/>
              </a:rPr>
              <a:t>1. Title slide with the company name and "FY2025 Board Review".</a:t>
            </a:r>
          </a:p>
          <a:p>
            <a:pPr algn="l">
              <a:spcAft>
                <a:spcPts val="200"/>
              </a:spcAft>
            </a:pPr>
            <a:r>
              <a:rPr sz="1200" b="0">
                <a:solidFill>
                  <a:srgbClr val="21201C"/>
                </a:solidFill>
                <a:latin typeface="Calibri"/>
              </a:rPr>
              <a:t>2. FY2025 summary — total revenue, total deals, average deal size and</a:t>
            </a:r>
          </a:p>
          <a:p>
            <a:pPr algn="l">
              <a:spcAft>
                <a:spcPts val="200"/>
              </a:spcAft>
            </a:pPr>
            <a:r>
              <a:rPr sz="1200" b="0">
                <a:solidFill>
                  <a:srgbClr val="21201C"/>
                </a:solidFill>
                <a:latin typeface="Calibri"/>
              </a:rPr>
              <a:t>   the best-performing desk.</a:t>
            </a:r>
          </a:p>
          <a:p>
            <a:pPr algn="l">
              <a:spcAft>
                <a:spcPts val="200"/>
              </a:spcAft>
            </a:pPr>
            <a:r>
              <a:rPr sz="1200" b="0">
                <a:solidFill>
                  <a:srgbClr val="21201C"/>
                </a:solidFill>
                <a:latin typeface="Calibri"/>
              </a:rPr>
              <a:t>3. Revenue by desk — a bar chart of FY2025 revenue for the four desks,</a:t>
            </a:r>
          </a:p>
          <a:p>
            <a:pPr algn="l">
              <a:spcAft>
                <a:spcPts val="200"/>
              </a:spcAft>
            </a:pPr>
            <a:r>
              <a:rPr sz="1200" b="0">
                <a:solidFill>
                  <a:srgbClr val="21201C"/>
                </a:solidFill>
                <a:latin typeface="Calibri"/>
              </a:rPr>
              <a:t>   with the figures labelled.</a:t>
            </a:r>
          </a:p>
          <a:p>
            <a:pPr algn="l">
              <a:spcAft>
                <a:spcPts val="200"/>
              </a:spcAft>
            </a:pPr>
            <a:r>
              <a:rPr sz="1200" b="0">
                <a:solidFill>
                  <a:srgbClr val="21201C"/>
                </a:solidFill>
                <a:latin typeface="Calibri"/>
              </a:rPr>
              <a:t>4. Q4 desk performance — a grouped bar chart of each desk's Q4 actual</a:t>
            </a:r>
          </a:p>
          <a:p>
            <a:pPr algn="l">
              <a:spcAft>
                <a:spcPts val="200"/>
              </a:spcAft>
            </a:pPr>
            <a:r>
              <a:rPr sz="1200" b="0">
                <a:solidFill>
                  <a:srgbClr val="21201C"/>
                </a:solidFill>
                <a:latin typeface="Calibri"/>
              </a:rPr>
              <a:t>   against its target, plus a line on what the gaps mean.</a:t>
            </a:r>
          </a:p>
          <a:p>
            <a:pPr algn="l">
              <a:spcAft>
                <a:spcPts val="200"/>
              </a:spcAft>
            </a:pPr>
            <a:r>
              <a:rPr sz="1200" b="0">
                <a:solidFill>
                  <a:srgbClr val="21201C"/>
                </a:solidFill>
                <a:latin typeface="Calibri"/>
              </a:rPr>
              <a:t>5. Recommendation — how to close the Q4 Advisory shortfall.</a:t>
            </a:r>
          </a:p>
          <a:p>
            <a:pPr algn="l">
              <a:spcAft>
                <a:spcPts val="200"/>
              </a:spcAft>
            </a:pPr>
            <a:r>
              <a:rPr sz="1200" b="0">
                <a:solidFill>
                  <a:srgbClr val="21201C"/>
                </a:solidFill>
                <a:latin typeface="Calibri"/>
              </a:rPr>
              <a:t>6. Recommendation — where to invest next year, based on the strongest</a:t>
            </a:r>
          </a:p>
          <a:p>
            <a:pPr algn="l">
              <a:spcAft>
                <a:spcPts val="200"/>
              </a:spcAft>
            </a:pPr>
            <a:r>
              <a:rPr sz="1200" b="0">
                <a:solidFill>
                  <a:srgbClr val="21201C"/>
                </a:solidFill>
                <a:latin typeface="Calibri"/>
              </a:rPr>
              <a:t>   and weakest desks.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Continues on the next slide.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 (cont.)</a:t>
            </a:r>
          </a:p>
        </p:txBody>
      </p:sp>
      <p:sp>
        <p:nvSpPr>
          <p:cNvPr id="5" name="Rectangle 4"/>
          <p:cNvSpPr/>
          <p:nvPr/>
        </p:nvSpPr>
        <p:spPr>
          <a:xfrm>
            <a:off x="548640" y="1828800"/>
            <a:ext cx="11064240" cy="1938528"/>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9385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252728"/>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Use real PowerPoint charts, not pictures of charts, so the numbers stay</a:t>
            </a:r>
          </a:p>
          <a:p>
            <a:pPr algn="l">
              <a:spcAft>
                <a:spcPts val="200"/>
              </a:spcAft>
            </a:pPr>
            <a:r>
              <a:rPr sz="1300" b="0">
                <a:solidFill>
                  <a:srgbClr val="21201C"/>
                </a:solidFill>
                <a:latin typeface="Calibri"/>
              </a:rPr>
              <a:t>editable. All money in Singapore dollars with thousands separators.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Show me the outline before you build it. When the deck is ready, post the</a:t>
            </a:r>
          </a:p>
          <a:p>
            <a:pPr algn="l">
              <a:spcAft>
                <a:spcPts val="200"/>
              </a:spcAft>
            </a:pPr>
            <a:r>
              <a:rPr sz="1300" b="0">
                <a:solidFill>
                  <a:srgbClr val="21201C"/>
                </a:solidFill>
                <a:latin typeface="Calibri"/>
              </a:rPr>
              <a:t>.pptx in the chat so I can download it.</a:t>
            </a:r>
          </a:p>
        </p:txBody>
      </p:sp>
      <p:sp>
        <p:nvSpPr>
          <p:cNvPr id="9" name="TextBox 8"/>
          <p:cNvSpPr txBox="1"/>
          <p:nvPr/>
        </p:nvSpPr>
        <p:spPr>
          <a:xfrm>
            <a:off x="548640" y="4041648"/>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for the outline first. It is far cheaper to fix the structure before the slides exist than after.</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Make sure the Google Drive connector from Lab 4 is still enabled.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Paste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outline Claude proposes and correct it before it builds.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Context panel in the sidebar and find pptx under Skills.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Let Claude generate the .pptx and download it.</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PowerPoint and read it end to end.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a chart and confirm it is a real PowerPoint chart.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every figure against the Lab 3 dashboard and the Lab 5 email.</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the Advisory recommendation names the target discrepancy rather than averaging it away.</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Generate the Meridian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PowerPoint downloads and opens with six slides. FY2025 revenue reads S$24,850,000 across 214 deals, Advisory is the best desk at S$8,420,000, and Q4 totals S$6,980,000 with each desk shown against its target. The revenue-by-desk and Q4-against-target charts are real PowerPoint charts with editable data, not images. One recommendation slide states the S$90,000 Q4 Advisory target discrepancy explicitly.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Labs 4 and 5 showed what the connectors can do, and Lab 6 showed a built-in skill doing the work for you. Now you write one yourself. The reliable way to build a skill is the Do / Verify / Save pattern: do the task with Claude once, refine until the output is right, then use /skill-creator to save it. You have already done the doing — this lab turns it into a command, then updates it. Finally you schedule it, so the briefing is waiting as a draft before you sit down rather than something you have to remember to ask for.</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daily-brief Agent Skill you can run by name each morning, updated once and scheduled to run itself at 9am.</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 Google Drive connector, Gmail connector, Scheduled tasks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48386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83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9806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morning finance briefing for Meridian Capital Partners, once,</a:t>
            </a:r>
          </a:p>
          <a:p>
            <a:pPr algn="l">
              <a:spcAft>
                <a:spcPts val="200"/>
              </a:spcAft>
            </a:pPr>
            <a:r>
              <a:rPr sz="1300" b="0">
                <a:solidFill>
                  <a:srgbClr val="21201C"/>
                </a:solidFill>
                <a:latin typeface="Calibri"/>
              </a:rPr>
              <a:t>so we can get the format right together:</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 What changed in the Meridian Finance folder on Google Drive since</a:t>
            </a:r>
          </a:p>
          <a:p>
            <a:pPr algn="l">
              <a:spcAft>
                <a:spcPts val="200"/>
              </a:spcAft>
            </a:pPr>
            <a:r>
              <a:rPr sz="1300" b="0">
                <a:solidFill>
                  <a:srgbClr val="21201C"/>
                </a:solidFill>
                <a:latin typeface="Calibri"/>
              </a:rPr>
              <a:t>  yesterday?</a:t>
            </a:r>
          </a:p>
          <a:p>
            <a:pPr algn="l">
              <a:spcAft>
                <a:spcPts val="200"/>
              </a:spcAft>
            </a:pPr>
            <a:r>
              <a:rPr sz="1300" b="0">
                <a:solidFill>
                  <a:srgbClr val="21201C"/>
                </a:solidFill>
                <a:latin typeface="Calibri"/>
              </a:rPr>
              <a:t>- Which desks are behind their quarterly target right now?</a:t>
            </a:r>
          </a:p>
          <a:p>
            <a:pPr algn="l">
              <a:spcAft>
                <a:spcPts val="200"/>
              </a:spcAft>
            </a:pPr>
            <a:r>
              <a:rPr sz="1300" b="0">
                <a:solidFill>
                  <a:srgbClr val="21201C"/>
                </a:solidFill>
                <a:latin typeface="Calibri"/>
              </a:rPr>
              <a:t>- What finance emails do I need to respond to today?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say so plainly — "No new files since</a:t>
            </a:r>
          </a:p>
          <a:p>
            <a:pPr algn="l">
              <a:spcAft>
                <a:spcPts val="200"/>
              </a:spcAft>
            </a:pPr>
            <a:r>
              <a:rPr sz="1300" b="0">
                <a:solidFill>
                  <a:srgbClr val="21201C"/>
                </a:solidFill>
                <a:latin typeface="Calibri"/>
              </a:rPr>
              <a:t>yesterday" — rather than padding it out. End with one line on what most</a:t>
            </a:r>
          </a:p>
          <a:p>
            <a:pPr algn="l">
              <a:spcAft>
                <a:spcPts val="200"/>
              </a:spcAft>
            </a:pPr>
            <a:r>
              <a:rPr sz="1300" b="0">
                <a:solidFill>
                  <a:srgbClr val="21201C"/>
                </a:solidFill>
                <a:latin typeface="Calibri"/>
              </a:rPr>
              <a:t>needs my attention, or "Nothing urgent — have a good day" if there is</a:t>
            </a:r>
          </a:p>
          <a:p>
            <a:pPr algn="l">
              <a:spcAft>
                <a:spcPts val="200"/>
              </a:spcAft>
            </a:pPr>
            <a:r>
              <a:rPr sz="1300" b="0">
                <a:solidFill>
                  <a:srgbClr val="21201C"/>
                </a:solidFill>
                <a:latin typeface="Calibri"/>
              </a:rPr>
              <a:t>nothing. All money in Singapore dollars. Draft only — never send email.</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Read the briefing and refine the format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the morning finance briefing routine we just ran as</a:t>
            </a:r>
          </a:p>
          <a:p>
            <a:pPr algn="l">
              <a:spcAft>
                <a:spcPts val="200"/>
              </a:spcAft>
            </a:pPr>
            <a:r>
              <a:rPr sz="1300" b="0">
                <a:solidFill>
                  <a:srgbClr val="21201C"/>
                </a:solidFill>
                <a:latin typeface="Calibri"/>
              </a:rPr>
              <a:t>a skill called daily-brief. Keep the three sections in the order we</a:t>
            </a:r>
          </a:p>
          <a:p>
            <a:pPr algn="l">
              <a:spcAft>
                <a:spcPts val="200"/>
              </a:spcAft>
            </a:pPr>
            <a:r>
              <a:rPr sz="1300" b="0">
                <a:solidFill>
                  <a:srgbClr val="21201C"/>
                </a:solidFill>
                <a:latin typeface="Calibri"/>
              </a:rPr>
              <a:t>settled on, the plain fallback wording for empty sections, the single</a:t>
            </a:r>
          </a:p>
          <a:p>
            <a:pPr algn="l">
              <a:spcAft>
                <a:spcPts val="200"/>
              </a:spcAft>
            </a:pPr>
            <a:r>
              <a:rPr sz="1300" b="0">
                <a:solidFill>
                  <a:srgbClr val="21201C"/>
                </a:solidFill>
                <a:latin typeface="Calibri"/>
              </a:rPr>
              <a:t>closing attention line, all money in Singapore dollars, and draft-only —</a:t>
            </a:r>
          </a:p>
          <a:p>
            <a:pPr algn="l">
              <a:spcAft>
                <a:spcPts val="200"/>
              </a:spcAft>
            </a:pPr>
            <a:r>
              <a:rPr sz="1300" b="0">
                <a:solidFill>
                  <a:srgbClr val="21201C"/>
                </a:solidFill>
                <a:latin typeface="Calibri"/>
              </a:rPr>
              <a:t>never send email.</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SCHEDULE</a:t>
            </a:r>
          </a:p>
        </p:txBody>
      </p:sp>
      <p:sp>
        <p:nvSpPr>
          <p:cNvPr id="5" name="Rectangle 4"/>
          <p:cNvSpPr/>
          <p:nvPr/>
        </p:nvSpPr>
        <p:spPr>
          <a:xfrm>
            <a:off x="548640" y="1828800"/>
            <a:ext cx="11064240" cy="229514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2951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INSTRUCTIONS — paste into the scheduled task dialog</a:t>
            </a:r>
          </a:p>
        </p:txBody>
      </p:sp>
      <p:sp>
        <p:nvSpPr>
          <p:cNvPr id="8" name="TextBox 7"/>
          <p:cNvSpPr txBox="1"/>
          <p:nvPr/>
        </p:nvSpPr>
        <p:spPr>
          <a:xfrm>
            <a:off x="868680" y="2359152"/>
            <a:ext cx="10424160" cy="160934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Run my daily-brief skill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Leave the briefing as a draft email to me in Gmail, with the subject</a:t>
            </a:r>
          </a:p>
          <a:p>
            <a:pPr algn="l">
              <a:spcAft>
                <a:spcPts val="200"/>
              </a:spcAft>
            </a:pPr>
            <a:r>
              <a:rPr sz="1300" b="0">
                <a:solidFill>
                  <a:srgbClr val="21201C"/>
                </a:solidFill>
                <a:latin typeface="Calibri"/>
              </a:rPr>
              <a:t>"Meridian daily brief" and today's date. Do not send it.</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If a section has nothing in it, keep the plain fallback wording rather</a:t>
            </a:r>
          </a:p>
          <a:p>
            <a:pPr algn="l">
              <a:spcAft>
                <a:spcPts val="200"/>
              </a:spcAft>
            </a:pPr>
            <a:r>
              <a:rPr sz="1300" b="0">
                <a:solidFill>
                  <a:srgbClr val="21201C"/>
                </a:solidFill>
                <a:latin typeface="Calibri"/>
              </a:rPr>
              <a:t>than padding it out.</a:t>
            </a:r>
          </a:p>
        </p:txBody>
      </p:sp>
      <p:sp>
        <p:nvSpPr>
          <p:cNvPr id="9" name="TextBox 8"/>
          <p:cNvSpPr txBox="1"/>
          <p:nvPr/>
        </p:nvSpPr>
        <p:spPr>
          <a:xfrm>
            <a:off x="548640" y="439826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one does not go in the chat — it is the scheduled task's own Instructions field.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Make sure the Drive and Gmail connectors from Labs 4 and 5 are still enabled.</a:t>
            </a:r>
          </a:p>
        </p:txBody>
      </p:sp>
      <p:sp>
        <p:nvSpPr>
          <p:cNvPr id="9" name="Oval 8"/>
          <p:cNvSpPr/>
          <p:nvPr/>
        </p:nvSpPr>
        <p:spPr>
          <a:xfrm>
            <a:off x="54864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DO — send block 1 on its own and let Claude run the routine once.</a:t>
            </a:r>
          </a:p>
        </p:txBody>
      </p:sp>
      <p:sp>
        <p:nvSpPr>
          <p:cNvPr id="12" name="Oval 11"/>
          <p:cNvSpPr/>
          <p:nvPr/>
        </p:nvSpPr>
        <p:spPr>
          <a:xfrm>
            <a:off x="54864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VERIFY — read the briefing and ask for changes until the format is right.</a:t>
            </a:r>
          </a:p>
        </p:txBody>
      </p:sp>
      <p:sp>
        <p:nvSpPr>
          <p:cNvPr id="15" name="Oval 14"/>
          <p:cNvSpPr/>
          <p:nvPr/>
        </p:nvSpPr>
        <p:spPr>
          <a:xfrm>
            <a:off x="54864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Check the fallback wording on any empty section.</a:t>
            </a:r>
          </a:p>
        </p:txBody>
      </p:sp>
      <p:sp>
        <p:nvSpPr>
          <p:cNvPr id="18" name="Oval 17"/>
          <p:cNvSpPr/>
          <p:nvPr/>
        </p:nvSpPr>
        <p:spPr>
          <a:xfrm>
            <a:off x="54864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it drafted and did not send anything.</a:t>
            </a:r>
          </a:p>
        </p:txBody>
      </p:sp>
      <p:sp>
        <p:nvSpPr>
          <p:cNvPr id="21" name="Oval 20"/>
          <p:cNvSpPr/>
          <p:nvPr/>
        </p:nvSpPr>
        <p:spPr>
          <a:xfrm>
            <a:off x="54864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 type /skill-creator in the composer, then send block 2.</a:t>
            </a:r>
          </a:p>
        </p:txBody>
      </p:sp>
      <p:sp>
        <p:nvSpPr>
          <p:cNvPr id="24" name="Oval 23"/>
          <p:cNvSpPr/>
          <p:nvPr/>
        </p:nvSpPr>
        <p:spPr>
          <a:xfrm>
            <a:off x="54864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the SKILL.md it produces, especially the description line.</a:t>
            </a:r>
          </a:p>
        </p:txBody>
      </p:sp>
      <p:sp>
        <p:nvSpPr>
          <p:cNvPr id="27" name="Oval 26"/>
          <p:cNvSpPr/>
          <p:nvPr/>
        </p:nvSpPr>
        <p:spPr>
          <a:xfrm>
            <a:off x="54864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96926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skill by typing /daily-brief, then run it again.</a:t>
            </a:r>
          </a:p>
        </p:txBody>
      </p:sp>
      <p:sp>
        <p:nvSpPr>
          <p:cNvPr id="30" name="Oval 29"/>
          <p:cNvSpPr/>
          <p:nvPr/>
        </p:nvSpPr>
        <p:spPr>
          <a:xfrm>
            <a:off x="6240780" y="2331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331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240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UPDATE — ask for one change, such as putting the emails section first.</a:t>
            </a:r>
          </a:p>
        </p:txBody>
      </p:sp>
      <p:sp>
        <p:nvSpPr>
          <p:cNvPr id="33" name="Oval 32"/>
          <p:cNvSpPr/>
          <p:nvPr/>
        </p:nvSpPr>
        <p:spPr>
          <a:xfrm>
            <a:off x="6240780" y="2788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2788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2697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change under the same skill name and confirm the replace prompt.</a:t>
            </a:r>
          </a:p>
        </p:txBody>
      </p:sp>
      <p:sp>
        <p:nvSpPr>
          <p:cNvPr id="36" name="Oval 35"/>
          <p:cNvSpPr/>
          <p:nvPr/>
        </p:nvSpPr>
        <p:spPr>
          <a:xfrm>
            <a:off x="6240780" y="3246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246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154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/daily-brief once more to confirm the change took effect.</a:t>
            </a:r>
          </a:p>
        </p:txBody>
      </p:sp>
      <p:sp>
        <p:nvSpPr>
          <p:cNvPr id="39" name="Oval 38"/>
          <p:cNvSpPr/>
          <p:nvPr/>
        </p:nvSpPr>
        <p:spPr>
          <a:xfrm>
            <a:off x="6240780" y="37033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37033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36118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 — Scheduled tasks → New task → Set up manually, named "Daily briefing".</a:t>
            </a:r>
          </a:p>
        </p:txBody>
      </p:sp>
      <p:sp>
        <p:nvSpPr>
          <p:cNvPr id="42" name="Oval 41"/>
          <p:cNvSpPr/>
          <p:nvPr/>
        </p:nvSpPr>
        <p:spPr>
          <a:xfrm>
            <a:off x="6240780" y="41605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1605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0690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Paste Block 3 into Instructions; set Frequency to daily at 9:00am.</a:t>
            </a:r>
          </a:p>
        </p:txBody>
      </p:sp>
      <p:sp>
        <p:nvSpPr>
          <p:cNvPr id="45" name="Oval 44"/>
          <p:cNvSpPr/>
          <p:nvPr/>
        </p:nvSpPr>
        <p:spPr>
          <a:xfrm>
            <a:off x="6240780" y="46177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0780" y="46177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14</a:t>
            </a:r>
          </a:p>
        </p:txBody>
      </p:sp>
      <p:sp>
        <p:nvSpPr>
          <p:cNvPr id="47" name="TextBox 46"/>
          <p:cNvSpPr txBox="1"/>
          <p:nvPr/>
        </p:nvSpPr>
        <p:spPr>
          <a:xfrm>
            <a:off x="6661404" y="45262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Permissions: the task auto-approves, which is why the skill drafts only.</a:t>
            </a:r>
          </a:p>
        </p:txBody>
      </p:sp>
      <p:sp>
        <p:nvSpPr>
          <p:cNvPr id="48" name="Oval 47"/>
          <p:cNvSpPr/>
          <p:nvPr/>
        </p:nvSpPr>
        <p:spPr>
          <a:xfrm>
            <a:off x="6240780" y="50749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0780" y="50749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15</a:t>
            </a:r>
          </a:p>
        </p:txBody>
      </p:sp>
      <p:sp>
        <p:nvSpPr>
          <p:cNvPr id="50" name="TextBox 49"/>
          <p:cNvSpPr txBox="1"/>
          <p:nvPr/>
        </p:nvSpPr>
        <p:spPr>
          <a:xfrm>
            <a:off x="6661404" y="49834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Decide whether "Require this computer" should be on.</a:t>
            </a:r>
          </a:p>
        </p:txBody>
      </p:sp>
      <p:sp>
        <p:nvSpPr>
          <p:cNvPr id="51" name="Oval 50"/>
          <p:cNvSpPr/>
          <p:nvPr/>
        </p:nvSpPr>
        <p:spPr>
          <a:xfrm>
            <a:off x="6240780" y="553212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0780" y="553212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16</a:t>
            </a:r>
          </a:p>
        </p:txBody>
      </p:sp>
      <p:sp>
        <p:nvSpPr>
          <p:cNvPr id="53" name="TextBox 52"/>
          <p:cNvSpPr txBox="1"/>
          <p:nvPr/>
        </p:nvSpPr>
        <p:spPr>
          <a:xfrm>
            <a:off x="6661404" y="5440680"/>
            <a:ext cx="4860036" cy="457200"/>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Run the task once manually, then check Gmail for the draft and an empty Sent folder.</a:t>
            </a:r>
          </a:p>
        </p:txBody>
      </p:sp>
      <p:sp>
        <p:nvSpPr>
          <p:cNvPr id="54" name="TextBox 5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5" name="TextBox 5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6" name="TextBox 5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2103120"/>
            <a:ext cx="726948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662940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6537960" cy="2788920"/>
          </a:xfrm>
          <a:prstGeom prst="rect">
            <a:avLst/>
          </a:prstGeom>
          <a:noFill/>
        </p:spPr>
        <p:txBody>
          <a:bodyPr wrap="square" anchor="t" lIns="0" rIns="0" tIns="0" bIns="0">
            <a:spAutoFit/>
          </a:bodyPr>
          <a:lstStyle/>
          <a:p>
            <a:pPr algn="l">
              <a:spcAft>
                <a:spcPts val="400"/>
              </a:spcAft>
            </a:pPr>
            <a:r>
              <a:rPr sz="1500" b="0">
                <a:solidFill>
                  <a:srgbClr val="21201C"/>
                </a:solidFill>
                <a:latin typeface="Calibri"/>
              </a:rPr>
              <a:t>Running /daily-brief produces a briefing with all three sections — Drive changes, desks behind target, emails needing a reply — using the plain fallback wording where a section is empty, ending with a single attention line, with all money in SGD and no email sent. After the update, the revised section order appears on the next run — and Claude warned you before replacing the existing skill. A scheduled task named "Daily briefing" exists, set to run daily at 9:00am, and running it manually leaves a Gmail draft titled "Meridian daily brief" with today's date, while your Sent folder stays empty.</a:t>
            </a:r>
          </a:p>
        </p:txBody>
      </p:sp>
      <p:sp>
        <p:nvSpPr>
          <p:cNvPr id="9" name="Rectangle 8"/>
          <p:cNvSpPr/>
          <p:nvPr/>
        </p:nvSpPr>
        <p:spPr>
          <a:xfrm>
            <a:off x="8138159" y="1916303"/>
            <a:ext cx="3520440" cy="389407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daily-brief-saved.png"/>
          <p:cNvPicPr>
            <a:picLocks noChangeAspect="1"/>
          </p:cNvPicPr>
          <p:nvPr/>
        </p:nvPicPr>
        <p:blipFill>
          <a:blip r:embed="rId2"/>
          <a:stretch>
            <a:fillRect/>
          </a:stretch>
        </p:blipFill>
        <p:spPr>
          <a:xfrm>
            <a:off x="8183879" y="1962023"/>
            <a:ext cx="3429000" cy="3802634"/>
          </a:xfrm>
          <a:prstGeom prst="rect">
            <a:avLst/>
          </a:prstGeom>
        </p:spPr>
      </p:pic>
      <p:sp>
        <p:nvSpPr>
          <p:cNvPr id="11" name="TextBox 10"/>
          <p:cNvSpPr txBox="1"/>
          <p:nvPr/>
        </p:nvSpPr>
        <p:spPr>
          <a:xfrm>
            <a:off x="8183879" y="5874385"/>
            <a:ext cx="3429000" cy="274320"/>
          </a:xfrm>
          <a:prstGeom prst="rect">
            <a:avLst/>
          </a:prstGeom>
          <a:noFill/>
        </p:spPr>
        <p:txBody>
          <a:bodyPr wrap="square" anchor="t" lIns="0" rIns="0" tIns="0" bIns="0">
            <a:spAutoFit/>
          </a:bodyPr>
          <a:lstStyle/>
          <a:p>
            <a:pPr algn="ctr">
              <a:spcAft>
                <a:spcPts val="400"/>
              </a:spcAft>
            </a:pPr>
            <a:r>
              <a:rPr sz="1050" b="0">
                <a:solidFill>
                  <a:srgbClr val="6B6862"/>
                </a:solidFill>
                <a:latin typeface="Calibri"/>
              </a:rPr>
              <a:t>Saved — and now listed under + → Skills</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board deck from Lab 6 has the right numbers and the wrong clothes — it looks like a default template. Meridian has a branded template every deck is supposed to follow; the problem is that applying it by hand, every time, is what nobody does.
So you do not describe the house style to Claude — you hand it the template and let it work the style out for itself. That is how branding actually reaches people in a firm: somebody sends you the template, not a list of hex values. You apply it once, check the result, then save it as a skill so any future deck can be branded by name — the same way you saved /daily-brief in Lab 7.</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brand-deck Agent Skill that applies the Meridian house style to any presentation.</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/skill-creator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150" b="0">
                <a:solidFill>
                  <a:srgbClr val="21201C"/>
                </a:solidFill>
                <a:latin typeface="Calibri"/>
              </a:rPr>
              <a:t>I have attached two files.</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first, meridian-brand-template.pptx, is our house template. Study</a:t>
            </a:r>
          </a:p>
          <a:p>
            <a:pPr algn="l">
              <a:spcAft>
                <a:spcPts val="200"/>
              </a:spcAft>
            </a:pPr>
            <a:r>
              <a:rPr sz="1150" b="0">
                <a:solidFill>
                  <a:srgbClr val="21201C"/>
                </a:solidFill>
                <a:latin typeface="Calibri"/>
              </a:rPr>
              <a:t>it and work out the style it uses: the colours, the fonts for headings</a:t>
            </a:r>
          </a:p>
          <a:p>
            <a:pPr algn="l">
              <a:spcAft>
                <a:spcPts val="200"/>
              </a:spcAft>
            </a:pPr>
            <a:r>
              <a:rPr sz="1150" b="0">
                <a:solidFill>
                  <a:srgbClr val="21201C"/>
                </a:solidFill>
                <a:latin typeface="Calibri"/>
              </a:rPr>
              <a:t>and body text, how the title slide is treated, the rule under each</a:t>
            </a:r>
          </a:p>
          <a:p>
            <a:pPr algn="l">
              <a:spcAft>
                <a:spcPts val="200"/>
              </a:spcAft>
            </a:pPr>
            <a:r>
              <a:rPr sz="1150" b="0">
                <a:solidFill>
                  <a:srgbClr val="21201C"/>
                </a:solidFill>
                <a:latin typeface="Calibri"/>
              </a:rPr>
              <a:t>slide title, and what goes in the footer.</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The second is the "Meridian Capital Partners — FY2025 Board Review"</a:t>
            </a:r>
          </a:p>
          <a:p>
            <a:pPr algn="l">
              <a:spcAft>
                <a:spcPts val="200"/>
              </a:spcAft>
            </a:pPr>
            <a:r>
              <a:rPr sz="1150" b="0">
                <a:solidFill>
                  <a:srgbClr val="21201C"/>
                </a:solidFill>
                <a:latin typeface="Calibri"/>
              </a:rPr>
              <a:t>deck I built in the last lab. Apply the template's style to it so the</a:t>
            </a:r>
          </a:p>
          <a:p>
            <a:pPr algn="l">
              <a:spcAft>
                <a:spcPts val="200"/>
              </a:spcAft>
            </a:pPr>
            <a:r>
              <a:rPr sz="1150" b="0">
                <a:solidFill>
                  <a:srgbClr val="21201C"/>
                </a:solidFill>
                <a:latin typeface="Calibri"/>
              </a:rPr>
              <a:t>two look like the work of the same firm.</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Tell me what style rules you took from the template before you apply</a:t>
            </a:r>
          </a:p>
          <a:p>
            <a:pPr algn="l">
              <a:spcAft>
                <a:spcPts val="200"/>
              </a:spcAft>
            </a:pPr>
            <a:r>
              <a:rPr sz="1150" b="0">
                <a:solidFill>
                  <a:srgbClr val="21201C"/>
                </a:solidFill>
                <a:latin typeface="Calibri"/>
              </a:rPr>
              <a:t>them, so I can check you read it correctly.</a:t>
            </a:r>
          </a:p>
          <a:p>
            <a:pPr algn="l">
              <a:spcAft>
                <a:spcPts val="200"/>
              </a:spcAft>
            </a:pPr>
            <a:r>
              <a:rPr sz="1150" b="0">
                <a:solidFill>
                  <a:srgbClr val="21201C"/>
                </a:solidFill>
                <a:latin typeface="Calibri"/>
              </a:rPr>
              <a:t/>
            </a:r>
          </a:p>
          <a:p>
            <a:pPr algn="l">
              <a:spcAft>
                <a:spcPts val="200"/>
              </a:spcAft>
            </a:pPr>
            <a:r>
              <a:rPr sz="1150" b="0">
                <a:solidFill>
                  <a:srgbClr val="21201C"/>
                </a:solidFill>
                <a:latin typeface="Calibri"/>
              </a:rPr>
              <a:t>This is a restyle only — do not change any figure or any wording.</a:t>
            </a:r>
          </a:p>
          <a:p>
            <a:pPr algn="l">
              <a:spcAft>
                <a:spcPts val="200"/>
              </a:spcAft>
            </a:pPr>
            <a:r>
              <a:rPr sz="1150" b="0">
                <a:solidFill>
                  <a:srgbClr val="21201C"/>
                </a:solidFill>
                <a:latin typeface="Calibri"/>
              </a:rPr>
              <a:t>Give me the restyled .pptx to download when you are done.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Ask Claude to state the style rules it read off the template BEFORE it applies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/skill-creator Save what we just did as a skill called brand-deck that</a:t>
            </a:r>
          </a:p>
          <a:p>
            <a:pPr algn="l">
              <a:spcAft>
                <a:spcPts val="200"/>
              </a:spcAft>
            </a:pPr>
            <a:r>
              <a:rPr sz="1300" b="0">
                <a:solidFill>
                  <a:srgbClr val="21201C"/>
                </a:solidFill>
                <a:latin typeface="Calibri"/>
              </a:rPr>
              <a:t>applies the Meridian house style to any presentation. Write the actual</a:t>
            </a:r>
          </a:p>
          <a:p>
            <a:pPr algn="l">
              <a:spcAft>
                <a:spcPts val="200"/>
              </a:spcAft>
            </a:pPr>
            <a:r>
              <a:rPr sz="1300" b="0">
                <a:solidFill>
                  <a:srgbClr val="21201C"/>
                </a:solidFill>
                <a:latin typeface="Calibri"/>
              </a:rPr>
              <a:t>colours, fonts, title treatment and footer you took from the template</a:t>
            </a:r>
          </a:p>
          <a:p>
            <a:pPr algn="l">
              <a:spcAft>
                <a:spcPts val="200"/>
              </a:spcAft>
            </a:pPr>
            <a:r>
              <a:rPr sz="1300" b="0">
                <a:solidFill>
                  <a:srgbClr val="21201C"/>
                </a:solidFill>
                <a:latin typeface="Calibri"/>
              </a:rPr>
              <a:t>into the skill, so it works on a deck later without me attaching the</a:t>
            </a:r>
          </a:p>
          <a:p>
            <a:pPr algn="l">
              <a:spcAft>
                <a:spcPts val="200"/>
              </a:spcAft>
            </a:pPr>
            <a:r>
              <a:rPr sz="1300" b="0">
                <a:solidFill>
                  <a:srgbClr val="21201C"/>
                </a:solidFill>
                <a:latin typeface="Calibri"/>
              </a:rPr>
              <a:t>template again. Never change figures or wording — restyle only.</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/skill-creator is a slash command YOU type into the composer — not prose inside a longer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the template from mock-data/ and the PowerPoint you downloaded in Lab 6.</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 — send block 1 on its own and let Claude study the template.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style rules Claude says it took from the template before it applies them.</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restyled deck beside the template and compare the title slides.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a content slide against the template's content slide.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no figure and no wording changed.</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VERIFY — ask for changes until the look is right.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 type /skill-creator in the composer, then send block 2.</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SKILL.md it produces and check it recorded the actual style values.</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Attach another deck, type /brand-deck, and run it — without attaching the template.</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Brand the Board Deck</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restyled deck downloads and matches the template's look — the same background colours, heading and body typefaces, title treatment, rule under each title and footer lockup with the internal-use line and slide number. Every FY2025 and Q4 figure is unchanged from Lab 6, including the S$90,000 Advisory discrepancy. Running /brand-deck on a different presentation, with no template attached, applies the same house style.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Tools and Skills</a:t>
            </a:r>
          </a:p>
        </p:txBody>
      </p:sp>
      <p:sp>
        <p:nvSpPr>
          <p:cNvPr id="5" name="Rectangle 4"/>
          <p:cNvSpPr/>
          <p:nvPr/>
        </p:nvSpPr>
        <p:spPr>
          <a:xfrm>
            <a:off x="548640" y="1783080"/>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04</a:t>
            </a:r>
          </a:p>
          <a:p>
            <a:pPr algn="l">
              <a:spcAft>
                <a:spcPts val="300"/>
              </a:spcAft>
            </a:pPr>
            <a:r>
              <a:rPr sz="950" b="0">
                <a:solidFill>
                  <a:srgbClr val="6B6862"/>
                </a:solidFill>
                <a:latin typeface="Calibri"/>
              </a:rPr>
              <a:t>You can now enable the Google Drive connector and read finance data held outside the chat.</a:t>
            </a:r>
          </a:p>
        </p:txBody>
      </p:sp>
      <p:sp>
        <p:nvSpPr>
          <p:cNvPr id="10" name="Rectangle 9"/>
          <p:cNvSpPr/>
          <p:nvPr/>
        </p:nvSpPr>
        <p:spPr>
          <a:xfrm>
            <a:off x="548640" y="2638958"/>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748686"/>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05</a:t>
            </a:r>
          </a:p>
          <a:p>
            <a:pPr algn="l">
              <a:spcAft>
                <a:spcPts val="300"/>
              </a:spcAft>
            </a:pPr>
            <a:r>
              <a:rPr sz="950" b="0">
                <a:solidFill>
                  <a:srgbClr val="6B6862"/>
                </a:solidFill>
                <a:latin typeface="Calibri"/>
              </a:rPr>
              <a:t>You can now update the Live Artefact from connected data and deliver an approved summary by Gmail.</a:t>
            </a:r>
          </a:p>
        </p:txBody>
      </p:sp>
      <p:sp>
        <p:nvSpPr>
          <p:cNvPr id="15" name="Rectangle 14"/>
          <p:cNvSpPr/>
          <p:nvPr/>
        </p:nvSpPr>
        <p:spPr>
          <a:xfrm>
            <a:off x="548640" y="3494836"/>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604564"/>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06</a:t>
            </a:r>
          </a:p>
          <a:p>
            <a:pPr algn="l">
              <a:spcAft>
                <a:spcPts val="300"/>
              </a:spcAft>
            </a:pPr>
            <a:r>
              <a:rPr sz="950" b="0">
                <a:solidFill>
                  <a:srgbClr val="6B6862"/>
                </a:solidFill>
                <a:latin typeface="Calibri"/>
              </a:rPr>
              <a:t>You can now have Claude build a board-ready deck with real charts using a skill it loads on demand.</a:t>
            </a:r>
          </a:p>
        </p:txBody>
      </p:sp>
      <p:sp>
        <p:nvSpPr>
          <p:cNvPr id="20" name="Rectangle 19"/>
          <p:cNvSpPr/>
          <p:nvPr/>
        </p:nvSpPr>
        <p:spPr>
          <a:xfrm>
            <a:off x="548640" y="4350714"/>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4460442"/>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07</a:t>
            </a:r>
          </a:p>
          <a:p>
            <a:pPr algn="l">
              <a:spcAft>
                <a:spcPts val="300"/>
              </a:spcAft>
            </a:pPr>
            <a:r>
              <a:rPr sz="950" b="0">
                <a:solidFill>
                  <a:srgbClr val="6B6862"/>
                </a:solidFill>
                <a:latin typeface="Calibri"/>
              </a:rPr>
              <a:t>You can now turn a routine you have already done into a reusable Agent Skill, update it, and schedule it to run itself.</a:t>
            </a:r>
          </a:p>
        </p:txBody>
      </p:sp>
      <p:sp>
        <p:nvSpPr>
          <p:cNvPr id="25" name="Rectangle 24"/>
          <p:cNvSpPr/>
          <p:nvPr/>
        </p:nvSpPr>
        <p:spPr>
          <a:xfrm>
            <a:off x="548640" y="5206592"/>
            <a:ext cx="11064240"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5316320"/>
            <a:ext cx="10049256"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Lab 08</a:t>
            </a:r>
          </a:p>
          <a:p>
            <a:pPr algn="l">
              <a:spcAft>
                <a:spcPts val="300"/>
              </a:spcAft>
            </a:pPr>
            <a:r>
              <a:rPr sz="950" b="0">
                <a:solidFill>
                  <a:srgbClr val="6B6862"/>
                </a:solidFill>
                <a:latin typeface="Calibri"/>
              </a:rPr>
              <a:t>You can now teach Claude a house style from an example deck and save it as a reusable skill.</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Projects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a Project is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four project panels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Assemble the Meridian workspace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Skills vs plugins, and installing one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same files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Your artefacts are scattered across conversations.</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Knowledge leaves when you do.</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Files are added once as project knowledge.</a:t>
            </a:r>
          </a:p>
          <a:p>
            <a:pPr algn="l">
              <a:spcAft>
                <a:spcPts val="900"/>
              </a:spcAft>
            </a:pPr>
            <a:r>
              <a:rPr sz="1250" b="0">
                <a:solidFill>
                  <a:srgbClr val="21201C"/>
                </a:solidFill>
                <a:latin typeface="Calibri"/>
              </a:rPr>
              <a:t>•  Custom instructions apply to every chat.</a:t>
            </a:r>
          </a:p>
          <a:p>
            <a:pPr algn="l">
              <a:spcAft>
                <a:spcPts val="900"/>
              </a:spcAft>
            </a:pPr>
            <a:r>
              <a:rPr sz="1250" b="0">
                <a:solidFill>
                  <a:srgbClr val="21201C"/>
                </a:solidFill>
                <a:latin typeface="Calibri"/>
              </a:rPr>
              <a:t>•  Artefacts and skills live in one workspace.</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The setup outlives any single conversation.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Ways to Start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 Cowork, the files and instructions stay in a folder on your computer.</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from scratch</a:t>
            </a:r>
          </a:p>
          <a:p>
            <a:pPr algn="l">
              <a:spcAft>
                <a:spcPts val="300"/>
              </a:spcAft>
            </a:pPr>
            <a:r>
              <a:rPr sz="1150" b="0">
                <a:solidFill>
                  <a:srgbClr val="6B6862"/>
                </a:solidFill>
                <a:latin typeface="Calibri"/>
              </a:rPr>
              <a:t>Create a new project and let Claude set up the folder for it.</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Bring one over from Chat</a:t>
            </a:r>
          </a:p>
          <a:p>
            <a:pPr algn="l">
              <a:spcAft>
                <a:spcPts val="300"/>
              </a:spcAft>
            </a:pPr>
            <a:r>
              <a:rPr sz="1150" b="0">
                <a:solidFill>
                  <a:srgbClr val="6B6862"/>
                </a:solidFill>
                <a:latin typeface="Calibri"/>
              </a:rPr>
              <a:t>Recreate a project you already run in Claude Chat.</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an existing folder</a:t>
            </a:r>
          </a:p>
          <a:p>
            <a:pPr algn="l">
              <a:spcAft>
                <a:spcPts val="300"/>
              </a:spcAft>
            </a:pPr>
            <a:r>
              <a:rPr sz="1150" b="0">
                <a:solidFill>
                  <a:srgbClr val="6B6862"/>
                </a:solidFill>
                <a:latin typeface="Calibri"/>
              </a:rPr>
              <a:t>Point the project at a folder you already work from.</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Starting a new project opens the Create a project dialog.</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working on?</a:t>
            </a:r>
          </a:p>
          <a:p>
            <a:pPr algn="l">
              <a:spcAft>
                <a:spcPts val="500"/>
              </a:spcAft>
            </a:pPr>
            <a:r>
              <a:rPr sz="1250" b="0">
                <a:solidFill>
                  <a:srgbClr val="6B6862"/>
                </a:solidFill>
                <a:latin typeface="Calibri"/>
              </a:rPr>
              <a:t>The project's name, e.g. Meridian Finance Reporting. This is how you find it in the sidebar.</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What are you trying to achieve?</a:t>
            </a:r>
          </a:p>
          <a:p>
            <a:pPr algn="l">
              <a:spcAft>
                <a:spcPts val="500"/>
              </a:spcAft>
            </a:pPr>
            <a:r>
              <a:rPr sz="1250" b="0">
                <a:solidFill>
                  <a:srgbClr val="6B6862"/>
                </a:solidFill>
                <a:latin typeface="Calibri"/>
              </a:rPr>
              <a:t>The goal in a few lines — who you are, what you produce, and in what style. Every chat inherits it.</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Use a folder</a:t>
            </a:r>
          </a:p>
          <a:p>
            <a:pPr algn="l">
              <a:spcAft>
                <a:spcPts val="500"/>
              </a:spcAft>
            </a:pPr>
            <a:r>
              <a:rPr sz="1250" b="0">
                <a:solidFill>
                  <a:srgbClr val="6B6862"/>
                </a:solidFill>
                <a:latin typeface="Calibri"/>
              </a:rPr>
              <a:t>Point the project at a folder on your computer, so the files and instructions are yours to open.</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Then click Create project. The full standing instructions and the project's files are added afterwards, once the project exists.</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Goes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page has four panels — plus the skills and artefacts you bring with you.</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The standing rules for this work: house style, SGD formatting, check before sending.</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Documents Claude READS and never edits — brand guidelines, the reporting calendar, desk profiles.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a:t>
            </a:r>
          </a:p>
          <a:p>
            <a:pPr algn="l">
              <a:spcAft>
                <a:spcPts val="300"/>
              </a:spcAft>
            </a:pPr>
            <a:r>
              <a:rPr sz="1150" b="0">
                <a:solidFill>
                  <a:srgbClr val="6B6862"/>
                </a:solidFill>
                <a:latin typeface="Calibri"/>
              </a:rPr>
              <a:t>A real folder on your computer where Claude WORKS: it reads the data there and writes its output back.</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Recurring tasks that belong to this project, such as the 9am daily brief.</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skills</a:t>
            </a:r>
          </a:p>
          <a:p>
            <a:pPr algn="l">
              <a:spcAft>
                <a:spcPts val="300"/>
              </a:spcAft>
            </a:pPr>
            <a:r>
              <a:rPr sz="1150" b="0">
                <a:solidFill>
                  <a:srgbClr val="6B6862"/>
                </a:solidFill>
                <a:latin typeface="Calibri"/>
              </a:rPr>
              <a:t>The daily-brief and brand-deck routines, available to everyone working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artefacts</a:t>
            </a:r>
          </a:p>
          <a:p>
            <a:pPr algn="l">
              <a:spcAft>
                <a:spcPts val="300"/>
              </a:spcAft>
            </a:pPr>
            <a:r>
              <a:rPr sz="1150" b="0">
                <a:solidFill>
                  <a:srgbClr val="6B6862"/>
                </a:solidFill>
                <a:latin typeface="Calibri"/>
              </a:rPr>
              <a:t>The FY2025 dashboard, saved where the team looks for it.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Assembling the Meridian Project</a:t>
            </a:r>
          </a:p>
        </p:txBody>
      </p:sp>
      <p:sp>
        <p:nvSpPr>
          <p:cNvPr id="5" name="Rectangle 4"/>
          <p:cNvSpPr/>
          <p:nvPr/>
        </p:nvSpPr>
        <p:spPr>
          <a:xfrm>
            <a:off x="5486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63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63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Create</a:t>
            </a:r>
          </a:p>
        </p:txBody>
      </p:sp>
      <p:sp>
        <p:nvSpPr>
          <p:cNvPr id="10" name="TextBox 9"/>
          <p:cNvSpPr txBox="1"/>
          <p:nvPr/>
        </p:nvSpPr>
        <p:spPr>
          <a:xfrm>
            <a:off x="6858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New project, named Meridian Finance Reporting, with the goal in a few lines.</a:t>
            </a:r>
          </a:p>
        </p:txBody>
      </p:sp>
      <p:sp>
        <p:nvSpPr>
          <p:cNvPr id="11" name="TextBox 10"/>
          <p:cNvSpPr txBox="1"/>
          <p:nvPr/>
        </p:nvSpPr>
        <p:spPr>
          <a:xfrm>
            <a:off x="216408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43840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840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260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57556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Instructions</a:t>
            </a:r>
          </a:p>
        </p:txBody>
      </p:sp>
      <p:sp>
        <p:nvSpPr>
          <p:cNvPr id="17" name="TextBox 16"/>
          <p:cNvSpPr txBox="1"/>
          <p:nvPr/>
        </p:nvSpPr>
        <p:spPr>
          <a:xfrm>
            <a:off x="257556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Write the standing rules that apply to every task in the project.</a:t>
            </a:r>
          </a:p>
        </p:txBody>
      </p:sp>
      <p:sp>
        <p:nvSpPr>
          <p:cNvPr id="18" name="TextBox 17"/>
          <p:cNvSpPr txBox="1"/>
          <p:nvPr/>
        </p:nvSpPr>
        <p:spPr>
          <a:xfrm>
            <a:off x="40538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432816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816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158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58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446532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Context</a:t>
            </a:r>
          </a:p>
        </p:txBody>
      </p:sp>
      <p:sp>
        <p:nvSpPr>
          <p:cNvPr id="24" name="TextBox 23"/>
          <p:cNvSpPr txBox="1"/>
          <p:nvPr/>
        </p:nvSpPr>
        <p:spPr>
          <a:xfrm>
            <a:off x="446532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brand guidelines, reporting calendar and desk profiles to read from.</a:t>
            </a:r>
          </a:p>
        </p:txBody>
      </p:sp>
      <p:sp>
        <p:nvSpPr>
          <p:cNvPr id="25" name="TextBox 24"/>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621792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056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056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635508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Folder</a:t>
            </a:r>
          </a:p>
        </p:txBody>
      </p:sp>
      <p:sp>
        <p:nvSpPr>
          <p:cNvPr id="31" name="TextBox 30"/>
          <p:cNvSpPr txBox="1"/>
          <p:nvPr/>
        </p:nvSpPr>
        <p:spPr>
          <a:xfrm>
            <a:off x="635508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Point it at the working folder, where Claude reads the data and writes its output.</a:t>
            </a:r>
          </a:p>
        </p:txBody>
      </p:sp>
      <p:sp>
        <p:nvSpPr>
          <p:cNvPr id="32" name="TextBox 31"/>
          <p:cNvSpPr txBox="1"/>
          <p:nvPr/>
        </p:nvSpPr>
        <p:spPr>
          <a:xfrm>
            <a:off x="78333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810768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768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5953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824484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Scheduled</a:t>
            </a:r>
          </a:p>
        </p:txBody>
      </p:sp>
      <p:sp>
        <p:nvSpPr>
          <p:cNvPr id="38" name="TextBox 37"/>
          <p:cNvSpPr txBox="1"/>
          <p:nvPr/>
        </p:nvSpPr>
        <p:spPr>
          <a:xfrm>
            <a:off x="824484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9am daily brief so the routine belongs to this project.</a:t>
            </a:r>
          </a:p>
        </p:txBody>
      </p:sp>
      <p:sp>
        <p:nvSpPr>
          <p:cNvPr id="39" name="TextBox 38"/>
          <p:cNvSpPr txBox="1"/>
          <p:nvPr/>
        </p:nvSpPr>
        <p:spPr>
          <a:xfrm>
            <a:off x="972312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40" name="Rectangle 39"/>
          <p:cNvSpPr/>
          <p:nvPr/>
        </p:nvSpPr>
        <p:spPr>
          <a:xfrm>
            <a:off x="9997440" y="2560320"/>
            <a:ext cx="161544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97440" y="2560320"/>
            <a:ext cx="16154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4851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851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6</a:t>
            </a:r>
          </a:p>
        </p:txBody>
      </p:sp>
      <p:sp>
        <p:nvSpPr>
          <p:cNvPr id="44" name="TextBox 43"/>
          <p:cNvSpPr txBox="1"/>
          <p:nvPr/>
        </p:nvSpPr>
        <p:spPr>
          <a:xfrm>
            <a:off x="10134600" y="3730752"/>
            <a:ext cx="134112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Share</a:t>
            </a:r>
          </a:p>
        </p:txBody>
      </p:sp>
      <p:sp>
        <p:nvSpPr>
          <p:cNvPr id="45" name="TextBox 44"/>
          <p:cNvSpPr txBox="1"/>
          <p:nvPr/>
        </p:nvSpPr>
        <p:spPr>
          <a:xfrm>
            <a:off x="10134600" y="4206240"/>
            <a:ext cx="134112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Hand the folder to the team so they work from the same setup.</a:t>
            </a:r>
          </a:p>
        </p:txBody>
      </p:sp>
      <p:sp>
        <p:nvSpPr>
          <p:cNvPr id="46" name="TextBox 45"/>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Everything from Labs 1–8, gathered into one workspace you can hand to the team.</a:t>
            </a:r>
          </a:p>
        </p:txBody>
      </p:sp>
      <p:sp>
        <p:nvSpPr>
          <p:cNvPr id="47" name="TextBox 4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8" name="TextBox 4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9" name="TextBox 4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Projects and Plugins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 Claude Project</a:t>
            </a:r>
          </a:p>
          <a:p>
            <a:pPr algn="l">
              <a:spcAft>
                <a:spcPts val="300"/>
              </a:spcAft>
            </a:pPr>
            <a:r>
              <a:rPr sz="950" b="0">
                <a:solidFill>
                  <a:srgbClr val="6B6862"/>
                </a:solidFill>
                <a:latin typeface="Calibri"/>
              </a:rPr>
              <a:t>A dedicated place for ongoing work, where context builds over time instead of resetting each chat.</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Backed by a folder</a:t>
            </a:r>
          </a:p>
          <a:p>
            <a:pPr algn="l">
              <a:spcAft>
                <a:spcPts val="300"/>
              </a:spcAft>
            </a:pPr>
            <a:r>
              <a:rPr sz="950" b="0">
                <a:solidFill>
                  <a:srgbClr val="6B6862"/>
                </a:solidFill>
                <a:latin typeface="Calibri"/>
              </a:rPr>
              <a:t>In Cowork the files and instructions live in a real folder on your computer — you can still open them yourself.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Ways to start</a:t>
            </a:r>
          </a:p>
          <a:p>
            <a:pPr algn="l">
              <a:spcAft>
                <a:spcPts val="300"/>
              </a:spcAft>
            </a:pPr>
            <a:r>
              <a:rPr sz="950" b="0">
                <a:solidFill>
                  <a:srgbClr val="6B6862"/>
                </a:solidFill>
                <a:latin typeface="Calibri"/>
              </a:rPr>
              <a:t>Create a new one from scratch, recreate one you run in Chat, or point it at a folder you already work from.</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Project instructions</a:t>
            </a:r>
          </a:p>
          <a:p>
            <a:pPr algn="l">
              <a:spcAft>
                <a:spcPts val="300"/>
              </a:spcAft>
            </a:pPr>
            <a:r>
              <a:rPr sz="950" b="0">
                <a:solidFill>
                  <a:srgbClr val="6B6862"/>
                </a:solidFill>
                <a:latin typeface="Calibri"/>
              </a:rPr>
              <a:t>Standing rules for this body of work — house style, SGD formatting, check before sending.</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Context vs Folder</a:t>
            </a:r>
          </a:p>
          <a:p>
            <a:pPr algn="l">
              <a:spcAft>
                <a:spcPts val="300"/>
              </a:spcAft>
            </a:pPr>
            <a:r>
              <a:rPr sz="950" b="0">
                <a:solidFill>
                  <a:srgbClr val="6B6862"/>
                </a:solidFill>
                <a:latin typeface="Calibri"/>
              </a:rPr>
              <a:t>Context is what Claude reads and never edits. Folder is where it actually works — reading data and writing output.</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Everything in one place</a:t>
            </a:r>
          </a:p>
          <a:p>
            <a:pPr algn="l">
              <a:spcAft>
                <a:spcPts val="300"/>
              </a:spcAft>
            </a:pPr>
            <a:r>
              <a:rPr sz="950" b="0">
                <a:solidFill>
                  <a:srgbClr val="6B6862"/>
                </a:solidFill>
                <a:latin typeface="Calibri"/>
              </a:rPr>
              <a:t>The finance data, the brand rules, your daily-brief and brand-deck skills and the dashboard, together.</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Share the folder</a:t>
            </a:r>
          </a:p>
          <a:p>
            <a:pPr algn="l">
              <a:spcAft>
                <a:spcPts val="300"/>
              </a:spcAft>
            </a:pPr>
            <a:r>
              <a:rPr sz="950" b="0">
                <a:solidFill>
                  <a:srgbClr val="6B6862"/>
                </a:solidFill>
                <a:latin typeface="Calibri"/>
              </a:rPr>
              <a:t>A colleague opens the same project and inherits the data, rules and tools you set up.</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Plugins</a:t>
            </a:r>
          </a:p>
          <a:p>
            <a:pPr algn="l">
              <a:spcAft>
                <a:spcPts val="300"/>
              </a:spcAft>
            </a:pPr>
            <a:r>
              <a:rPr sz="950" b="0">
                <a:solidFill>
                  <a:srgbClr val="6B6862"/>
                </a:solidFill>
                <a:latin typeface="Calibri"/>
              </a:rPr>
              <a:t>A bundle somebody else packaged — several skills plus the tools they need, installed in one click from Discover.</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Namespaced commands</a:t>
            </a:r>
          </a:p>
          <a:p>
            <a:pPr algn="l">
              <a:spcAft>
                <a:spcPts val="300"/>
              </a:spcAft>
            </a:pPr>
            <a:r>
              <a:rPr sz="950" b="0">
                <a:solidFill>
                  <a:srgbClr val="6B6862"/>
                </a:solidFill>
                <a:latin typeface="Calibri"/>
              </a:rPr>
              <a:t>A plugin's commands carry its name: /productivity:start. That prefix is how you tell a bundle's command from one you wrote.</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Everything you have built so far lives in separate places — a dashboard in your sidebar, files in Drive, two skills, a scheduled task, and rules you have been restating by hand. In this final lab you gather them into one Cowork Project: a dedicated folder on your computer where context builds over time, and which a colleague can open and be immediately productive in.
The project page has four panels — Instructions, Context, Folder and Scheduled — and you fill each in turn. The one worth pausing on is the difference between Context and Folder: Context holds documents Claude reads and never edits, while Folder is where it actually works.</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Meridian Finance Reporting project holding the data, instructions, skills and dashboard.</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Projects, Agent Skills, Live Artefacts,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20574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0574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GOAL — paste into the Create a project dialog</a:t>
            </a:r>
          </a:p>
        </p:txBody>
      </p:sp>
      <p:sp>
        <p:nvSpPr>
          <p:cNvPr id="8" name="TextBox 7"/>
          <p:cNvSpPr txBox="1"/>
          <p:nvPr/>
        </p:nvSpPr>
        <p:spPr>
          <a:xfrm>
            <a:off x="868680" y="2359152"/>
            <a:ext cx="10424160" cy="137160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Quarterly finance reporting for Meridian Capital Partners Pte Ltd — a</a:t>
            </a:r>
          </a:p>
          <a:p>
            <a:pPr algn="l">
              <a:spcAft>
                <a:spcPts val="200"/>
              </a:spcAft>
            </a:pPr>
            <a:r>
              <a:rPr sz="1300" b="0">
                <a:solidFill>
                  <a:srgbClr val="21201C"/>
                </a:solidFill>
                <a:latin typeface="Calibri"/>
              </a:rPr>
              <a:t>Singapore investment firm with four desks: Advisory, Asset Management,</a:t>
            </a:r>
          </a:p>
          <a:p>
            <a:pPr algn="l">
              <a:spcAft>
                <a:spcPts val="200"/>
              </a:spcAft>
            </a:pPr>
            <a:r>
              <a:rPr sz="1300" b="0">
                <a:solidFill>
                  <a:srgbClr val="21201C"/>
                </a:solidFill>
                <a:latin typeface="Calibri"/>
              </a:rPr>
              <a:t>Private Credit and Corporate Finance. I produce revenue dashboards,</a:t>
            </a:r>
          </a:p>
          <a:p>
            <a:pPr algn="l">
              <a:spcAft>
                <a:spcPts val="200"/>
              </a:spcAft>
            </a:pPr>
            <a:r>
              <a:rPr sz="1300" b="0">
                <a:solidFill>
                  <a:srgbClr val="21201C"/>
                </a:solidFill>
                <a:latin typeface="Calibri"/>
              </a:rPr>
              <a:t>board decks and a daily briefing from the firm's finance data, all in</a:t>
            </a:r>
          </a:p>
          <a:p>
            <a:pPr algn="l">
              <a:spcAft>
                <a:spcPts val="200"/>
              </a:spcAft>
            </a:pPr>
            <a:r>
              <a:rPr sz="1300" b="0">
                <a:solidFill>
                  <a:srgbClr val="21201C"/>
                </a:solidFill>
                <a:latin typeface="Calibri"/>
              </a:rPr>
              <a:t>Singapore dollars and in the Meridian house style.</a:t>
            </a:r>
          </a:p>
        </p:txBody>
      </p:sp>
      <p:sp>
        <p:nvSpPr>
          <p:cNvPr id="9" name="TextBox 8"/>
          <p:cNvSpPr txBox="1"/>
          <p:nvPr/>
        </p:nvSpPr>
        <p:spPr>
          <a:xfrm>
            <a:off x="548640" y="41605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Goes in the "What are you trying to achieve?" box as you create the project.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This project is Meridian Finance Reporting. Write the project</a:t>
            </a:r>
          </a:p>
          <a:p>
            <a:pPr algn="l">
              <a:spcAft>
                <a:spcPts val="200"/>
              </a:spcAft>
            </a:pPr>
            <a:r>
              <a:rPr sz="950" b="0">
                <a:solidFill>
                  <a:srgbClr val="21201C"/>
                </a:solidFill>
                <a:latin typeface="Calibri"/>
              </a:rPr>
              <a:t>instructions that should apply to every task I run in here:</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 We are the finance team at Meridian Capital Partners Pte Ltd.</a:t>
            </a:r>
          </a:p>
          <a:p>
            <a:pPr algn="l">
              <a:spcAft>
                <a:spcPts val="200"/>
              </a:spcAft>
            </a:pPr>
            <a:r>
              <a:rPr sz="950" b="0">
                <a:solidFill>
                  <a:srgbClr val="21201C"/>
                </a:solidFill>
                <a:latin typeface="Calibri"/>
              </a:rPr>
              <a:t>  Our four revenue desks are Advisory, Asset Management, Private</a:t>
            </a:r>
          </a:p>
          <a:p>
            <a:pPr algn="l">
              <a:spcAft>
                <a:spcPts val="200"/>
              </a:spcAft>
            </a:pPr>
            <a:r>
              <a:rPr sz="950" b="0">
                <a:solidFill>
                  <a:srgbClr val="21201C"/>
                </a:solidFill>
                <a:latin typeface="Calibri"/>
              </a:rPr>
              <a:t>  Credit and Corporate Finance.</a:t>
            </a:r>
          </a:p>
          <a:p>
            <a:pPr algn="l">
              <a:spcAft>
                <a:spcPts val="200"/>
              </a:spcAft>
            </a:pPr>
            <a:r>
              <a:rPr sz="950" b="0">
                <a:solidFill>
                  <a:srgbClr val="21201C"/>
                </a:solidFill>
                <a:latin typeface="Calibri"/>
              </a:rPr>
              <a:t>- All money in Singapore dollars, thousands separators, no decimals.</a:t>
            </a:r>
          </a:p>
          <a:p>
            <a:pPr algn="l">
              <a:spcAft>
                <a:spcPts val="200"/>
              </a:spcAft>
            </a:pPr>
            <a:r>
              <a:rPr sz="950" b="0">
                <a:solidFill>
                  <a:srgbClr val="21201C"/>
                </a:solidFill>
                <a:latin typeface="Calibri"/>
              </a:rPr>
              <a:t>- Variances show both the absolute figure and the percentage.</a:t>
            </a:r>
          </a:p>
          <a:p>
            <a:pPr algn="l">
              <a:spcAft>
                <a:spcPts val="200"/>
              </a:spcAft>
            </a:pPr>
            <a:r>
              <a:rPr sz="950" b="0">
                <a:solidFill>
                  <a:srgbClr val="21201C"/>
                </a:solidFill>
                <a:latin typeface="Calibri"/>
              </a:rPr>
              <a:t>- Every report carries the title "Meridian Capital Partners" and</a:t>
            </a:r>
          </a:p>
          <a:p>
            <a:pPr algn="l">
              <a:spcAft>
                <a:spcPts val="200"/>
              </a:spcAft>
            </a:pPr>
            <a:r>
              <a:rPr sz="950" b="0">
                <a:solidFill>
                  <a:srgbClr val="21201C"/>
                </a:solidFill>
                <a:latin typeface="Calibri"/>
              </a:rPr>
              <a:t>  the reporting period, and the footer "internal use only".</a:t>
            </a:r>
          </a:p>
          <a:p>
            <a:pPr algn="l">
              <a:spcAft>
                <a:spcPts val="200"/>
              </a:spcAft>
            </a:pPr>
            <a:r>
              <a:rPr sz="950" b="0">
                <a:solidFill>
                  <a:srgbClr val="21201C"/>
                </a:solidFill>
                <a:latin typeface="Calibri"/>
              </a:rPr>
              <a:t>- Headings in a serif font, body text in a clean sans-serif.</a:t>
            </a:r>
          </a:p>
          <a:p>
            <a:pPr algn="l">
              <a:spcAft>
                <a:spcPts val="200"/>
              </a:spcAft>
            </a:pPr>
            <a:r>
              <a:rPr sz="950" b="0">
                <a:solidFill>
                  <a:srgbClr val="21201C"/>
                </a:solidFill>
                <a:latin typeface="Calibri"/>
              </a:rPr>
              <a:t>- Tone: factual and concise. No marketing language.</a:t>
            </a:r>
          </a:p>
          <a:p>
            <a:pPr algn="l">
              <a:spcAft>
                <a:spcPts val="200"/>
              </a:spcAft>
            </a:pPr>
            <a:r>
              <a:rPr sz="950" b="0">
                <a:solidFill>
                  <a:srgbClr val="21201C"/>
                </a:solidFill>
                <a:latin typeface="Calibri"/>
              </a:rPr>
              <a:t>- Always show me a draft before sending anything. Never send email</a:t>
            </a:r>
          </a:p>
          <a:p>
            <a:pPr algn="l">
              <a:spcAft>
                <a:spcPts val="200"/>
              </a:spcAft>
            </a:pPr>
            <a:r>
              <a:rPr sz="950" b="0">
                <a:solidFill>
                  <a:srgbClr val="21201C"/>
                </a:solidFill>
                <a:latin typeface="Calibri"/>
              </a:rPr>
              <a:t>  without my explicit approval.</a:t>
            </a:r>
          </a:p>
          <a:p>
            <a:pPr algn="l">
              <a:spcAft>
                <a:spcPts val="200"/>
              </a:spcAft>
            </a:pPr>
            <a:r>
              <a:rPr sz="950" b="0">
                <a:solidFill>
                  <a:srgbClr val="21201C"/>
                </a:solidFill>
                <a:latin typeface="Calibri"/>
              </a:rPr>
              <a:t>- The finance data in this project folder is the source of truth.</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Write these as clear project instructions, then confirm what you</a:t>
            </a:r>
          </a:p>
          <a:p>
            <a:pPr algn="l">
              <a:spcAft>
                <a:spcPts val="200"/>
              </a:spcAft>
            </a:pPr>
            <a:r>
              <a:rPr sz="950" b="0">
                <a:solidFill>
                  <a:srgbClr val="21201C"/>
                </a:solidFill>
                <a:latin typeface="Calibri"/>
              </a:rPr>
              <a:t>will now do differently in every chat in this project.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Set after the project exists — these rules then apply to every chat in it.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 Cowork, start a new project to open the Create a project dialog.</a:t>
            </a:r>
          </a:p>
        </p:txBody>
      </p:sp>
      <p:sp>
        <p:nvSpPr>
          <p:cNvPr id="9" name="Oval 8"/>
          <p:cNvSpPr/>
          <p:nvPr/>
        </p:nvSpPr>
        <p:spPr>
          <a:xfrm>
            <a:off x="54864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working on?", enter: Meridian Finance Reporting.</a:t>
            </a:r>
          </a:p>
        </p:txBody>
      </p:sp>
      <p:sp>
        <p:nvSpPr>
          <p:cNvPr id="12" name="Oval 11"/>
          <p:cNvSpPr/>
          <p:nvPr/>
        </p:nvSpPr>
        <p:spPr>
          <a:xfrm>
            <a:off x="54864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Under "What are you trying to achieve?", paste Block 1.</a:t>
            </a:r>
          </a:p>
        </p:txBody>
      </p:sp>
      <p:sp>
        <p:nvSpPr>
          <p:cNvPr id="15" name="Oval 14"/>
          <p:cNvSpPr/>
          <p:nvPr/>
        </p:nvSpPr>
        <p:spPr>
          <a:xfrm>
            <a:off x="54864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Click Create project.</a:t>
            </a:r>
          </a:p>
        </p:txBody>
      </p:sp>
      <p:sp>
        <p:nvSpPr>
          <p:cNvPr id="18" name="Oval 17"/>
          <p:cNvSpPr/>
          <p:nvPr/>
        </p:nvSpPr>
        <p:spPr>
          <a:xfrm>
            <a:off x="54864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INSTRUCTIONS — open the panel and set the standing rules with Block 2.</a:t>
            </a:r>
          </a:p>
        </p:txBody>
      </p:sp>
      <p:sp>
        <p:nvSpPr>
          <p:cNvPr id="21" name="Oval 20"/>
          <p:cNvSpPr/>
          <p:nvPr/>
        </p:nvSpPr>
        <p:spPr>
          <a:xfrm>
            <a:off x="54864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CONTEXT — add the brand guidelines, the reporting calendar and the desk profiles.</a:t>
            </a:r>
          </a:p>
        </p:txBody>
      </p:sp>
      <p:sp>
        <p:nvSpPr>
          <p:cNvPr id="24" name="Oval 23"/>
          <p:cNvSpPr/>
          <p:nvPr/>
        </p:nvSpPr>
        <p:spPr>
          <a:xfrm>
            <a:off x="548640" y="549946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9946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537536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FOLDER — point the panel at the working/ folder from this lab's mock data.</a:t>
            </a:r>
          </a:p>
        </p:txBody>
      </p:sp>
      <p:sp>
        <p:nvSpPr>
          <p:cNvPr id="27" name="Oval 26"/>
          <p:cNvSpPr/>
          <p:nvPr/>
        </p:nvSpPr>
        <p:spPr>
          <a:xfrm>
            <a:off x="624078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SCHEDULED — add the 9am daily-brief task you built in Lab 7 to the project.</a:t>
            </a:r>
          </a:p>
        </p:txBody>
      </p:sp>
      <p:sp>
        <p:nvSpPr>
          <p:cNvPr id="30" name="Oval 29"/>
          <p:cNvSpPr/>
          <p:nvPr/>
        </p:nvSpPr>
        <p:spPr>
          <a:xfrm>
            <a:off x="624078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Add the daily-brief skill from Lab 7 and the brand-deck skill from Lab 8 to the project.</a:t>
            </a:r>
          </a:p>
        </p:txBody>
      </p:sp>
      <p:sp>
        <p:nvSpPr>
          <p:cNvPr id="33" name="Oval 32"/>
          <p:cNvSpPr/>
          <p:nvPr/>
        </p:nvSpPr>
        <p:spPr>
          <a:xfrm>
            <a:off x="624078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Open the project folder on your computer and confirm the files are really there.</a:t>
            </a:r>
          </a:p>
        </p:txBody>
      </p:sp>
      <p:sp>
        <p:nvSpPr>
          <p:cNvPr id="36" name="Oval 35"/>
          <p:cNvSpPr/>
          <p:nvPr/>
        </p:nvSpPr>
        <p:spPr>
          <a:xfrm>
            <a:off x="624078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Save the FY2025 dashboard into the project so it sits with the data it reports on.</a:t>
            </a:r>
          </a:p>
        </p:txBody>
      </p:sp>
      <p:sp>
        <p:nvSpPr>
          <p:cNvPr id="39" name="Oval 38"/>
          <p:cNvSpPr/>
          <p:nvPr/>
        </p:nvSpPr>
        <p:spPr>
          <a:xfrm>
            <a:off x="624078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Start a fresh chat in the project and ask for a one-paragraph Q4 summary.</a:t>
            </a:r>
          </a:p>
        </p:txBody>
      </p:sp>
      <p:sp>
        <p:nvSpPr>
          <p:cNvPr id="42" name="Oval 41"/>
          <p:cNvSpPr/>
          <p:nvPr/>
        </p:nvSpPr>
        <p:spPr>
          <a:xfrm>
            <a:off x="624078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all four panels are populated and the folder is ready to share.</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Meridian Finance Reporting project exists with all four panels populated: Instructions carries the house rules, Context holds the brand guidelines, reporting calendar and desk profiles, Folder points at the working folder with the FY2025 revenue data, and Scheduled carries the 9am daily-brief task. Both the daily-brief and brand-deck skills are available and the dashboard is saved. A brand-new chat in the project produces a Q4 summary in SGD with the correct header and footer without you attaching a file or restating a single rule.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9 packaged your own setup so a colleague could open it and be productive. This lab runs the same idea in the opposite direction: you install a toolkit somebody else packaged.
That is the difference between a skill and a plugin. A skill is one routine you wrote — /daily-brief in Lab 7, /brand-deck in Lab 8. A plugin is the whole setup: several skills plus the tools they need, installed together in one click. You use Anthropic's Productivity plugin to track the follow-ups this course has actually generated, inside the Meridian project you just built.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Productivity plugin installed, with a TASKS.md tracking your Meridian follow-ups.</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Plugins, the Productivity plugin</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Start the productivity toolkit</a:t>
            </a:r>
          </a:p>
        </p:txBody>
      </p:sp>
      <p:sp>
        <p:nvSpPr>
          <p:cNvPr id="5" name="Rectangle 4"/>
          <p:cNvSpPr/>
          <p:nvPr/>
        </p:nvSpPr>
        <p:spPr>
          <a:xfrm>
            <a:off x="548640" y="1828800"/>
            <a:ext cx="11064240" cy="1106424"/>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1064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COMMAND — type into the composer</a:t>
            </a:r>
          </a:p>
        </p:txBody>
      </p:sp>
      <p:sp>
        <p:nvSpPr>
          <p:cNvPr id="8" name="TextBox 7"/>
          <p:cNvSpPr txBox="1"/>
          <p:nvPr/>
        </p:nvSpPr>
        <p:spPr>
          <a:xfrm>
            <a:off x="868680" y="2359152"/>
            <a:ext cx="10424160" cy="420624"/>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/productivity:start</a:t>
            </a:r>
          </a:p>
        </p:txBody>
      </p:sp>
      <p:sp>
        <p:nvSpPr>
          <p:cNvPr id="9" name="TextBox 8"/>
          <p:cNvSpPr txBox="1"/>
          <p:nvPr/>
        </p:nvSpPr>
        <p:spPr>
          <a:xfrm>
            <a:off x="548640" y="3209544"/>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This lab has no long prompt to paste — it is driven by the plugin's own commands. Note the productivity: prefix: that is how you tell a plugin's command from a skill you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Plugins panel and switch to the Discover tab.</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Productivity plugin from Anthropic and click Add.</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Your plugins to confirm it installed.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 in the composer and find the new /productivity: commands.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Meridian project from Lab 9 and run /productivity:start there.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Answer whatever it asks and let it create the task list.</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TASKS.md in the project folder and read the sections.</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follow-ups this course actually produced.</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Run /productivity:update and see it triage.</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Note what the plugin could also connect to.</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Productivity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Productivity plugin appears under Your plugins, and typing / lists its /productivity: commands alongside the /daily-brief and /brand-deck skills you wrote. A TASKS.md file exists in the Meridian project folder with Active, Waiting On, Someday and Done sections, and it holds at least the three Meridian follow-ups: the Q4 Advisory target discrepancy, the board deck review, and the daily-brief draft check.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Plugins</a:t>
            </a:r>
          </a:p>
        </p:txBody>
      </p:sp>
      <p:sp>
        <p:nvSpPr>
          <p:cNvPr id="5" name="Rectangle 4"/>
          <p:cNvSpPr/>
          <p:nvPr/>
        </p:nvSpPr>
        <p:spPr>
          <a:xfrm>
            <a:off x="548640" y="1783080"/>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assemble the data, instructions, skills and dashboard into one reusable Project.</a:t>
            </a:r>
          </a:p>
        </p:txBody>
      </p:sp>
      <p:sp>
        <p:nvSpPr>
          <p:cNvPr id="10" name="Rectangle 9"/>
          <p:cNvSpPr/>
          <p:nvPr/>
        </p:nvSpPr>
        <p:spPr>
          <a:xfrm>
            <a:off x="548640" y="3922776"/>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4032504"/>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install a plugin and tell a packaged bundle apart from a skill you wrote yourself.</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Process documents</a:t>
            </a:r>
          </a:p>
          <a:p>
            <a:pPr algn="l">
              <a:spcAft>
                <a:spcPts val="300"/>
              </a:spcAft>
            </a:pPr>
            <a:r>
              <a:rPr sz="950" b="0">
                <a:solidFill>
                  <a:srgbClr val="6B6862"/>
                </a:solidFill>
                <a:latin typeface="Calibri"/>
              </a:rPr>
              <a:t>Set up the Cowork desktop workspace and have Claude process a folder of documents into a structured summary.</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a:t>
            </a:r>
          </a:p>
          <a:p>
            <a:pPr algn="l">
              <a:spcAft>
                <a:spcPts val="300"/>
              </a:spcAft>
            </a:pPr>
            <a:r>
              <a:rPr sz="950" b="0">
                <a:solidFill>
                  <a:srgbClr val="6B6862"/>
                </a:solidFill>
                <a:latin typeface="Calibri"/>
              </a:rPr>
              <a:t>Connect the Google Drive connector so Claude can read finance data held outside the chat.</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Deliver by Gmail</a:t>
            </a:r>
          </a:p>
          <a:p>
            <a:pPr algn="l">
              <a:spcAft>
                <a:spcPts val="300"/>
              </a:spcAft>
            </a:pPr>
            <a:r>
              <a:rPr sz="9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Generate the board deck</a:t>
            </a:r>
          </a:p>
          <a:p>
            <a:pPr algn="l">
              <a:spcAft>
                <a:spcPts val="300"/>
              </a:spcAft>
            </a:pPr>
            <a:r>
              <a:rPr sz="950" b="0">
                <a:solidFill>
                  <a:srgbClr val="6B6862"/>
                </a:solidFill>
                <a:latin typeface="Calibri"/>
              </a:rPr>
              <a:t>Generate a board-ready deck with real charts from connected data, using a skill Claude loads on demand.</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Save it as a skill</a:t>
            </a:r>
          </a:p>
          <a:p>
            <a:pPr algn="l">
              <a:spcAft>
                <a:spcPts val="300"/>
              </a:spcAft>
            </a:pPr>
            <a:r>
              <a:rPr sz="950" b="0">
                <a:solidFill>
                  <a:srgbClr val="6B6862"/>
                </a:solidFill>
                <a:latin typeface="Calibri"/>
              </a:rPr>
              <a:t>Turn a verified routine into an Agent Skill with /skill-creator, update it, and explain a skill's three layers.</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Brand it by command</a:t>
            </a:r>
          </a:p>
          <a:p>
            <a:pPr algn="l">
              <a:spcAft>
                <a:spcPts val="300"/>
              </a:spcAft>
            </a:pPr>
            <a:r>
              <a:rPr sz="950" b="0">
                <a:solidFill>
                  <a:srgbClr val="6B6862"/>
                </a:solidFill>
                <a:latin typeface="Calibri"/>
              </a:rPr>
              <a:t>Capture a documented house style as a reusable skill that brands any presentation on command.</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the Project</a:t>
            </a:r>
          </a:p>
          <a:p>
            <a:pPr algn="l">
              <a:spcAft>
                <a:spcPts val="300"/>
              </a:spcAft>
            </a:pPr>
            <a:r>
              <a:rPr sz="950" b="0">
                <a:solidFill>
                  <a:srgbClr val="6B6862"/>
                </a:solidFill>
                <a:latin typeface="Calibri"/>
              </a:rPr>
              <a:t>Assemble a Claude Project that holds the data, instructions, skills and dashboard as one reusable team workspace.</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Install a plugin</a:t>
            </a:r>
          </a:p>
          <a:p>
            <a:pPr algn="l">
              <a:spcAft>
                <a:spcPts val="300"/>
              </a:spcAft>
            </a:pPr>
            <a:r>
              <a:rPr sz="950" b="0">
                <a:solidFill>
                  <a:srgbClr val="6B6862"/>
                </a:solidFill>
                <a:latin typeface="Calibri"/>
              </a:rPr>
              <a:t>Install a plugin and explain how a packaged bundle of skills differs from a skill you wrote yourself.</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Meridian data — never real client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numbers back against the source file before you trust them.</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the drafted email in full; approve it only when the figures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client.</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original</a:t>
            </a:r>
          </a:p>
          <a:p>
            <a:pPr algn="l">
              <a:spcAft>
                <a:spcPts val="300"/>
              </a:spcAft>
            </a:pPr>
            <a:r>
              <a:rPr sz="1150" b="0">
                <a:solidFill>
                  <a:srgbClr val="6B6862"/>
                </a:solidFill>
                <a:latin typeface="Calibri"/>
              </a:rPr>
              <a:t>Let Claude write new files; leave the source data untouched.</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Rebuild it with your own data</a:t>
            </a:r>
          </a:p>
          <a:p>
            <a:pPr algn="l">
              <a:spcAft>
                <a:spcPts val="300"/>
              </a:spcAft>
            </a:pPr>
            <a:r>
              <a:rPr sz="1150" b="0">
                <a:solidFill>
                  <a:srgbClr val="6B6862"/>
                </a:solidFill>
                <a:latin typeface="Calibri"/>
              </a:rPr>
              <a:t>Repeat Lab 2 using a real report you own, on a copy of the file.</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one source</a:t>
            </a:r>
          </a:p>
          <a:p>
            <a:pPr algn="l">
              <a:spcAft>
                <a:spcPts val="300"/>
              </a:spcAft>
            </a:pPr>
            <a:r>
              <a:rPr sz="1150" b="0">
                <a:solidFill>
                  <a:srgbClr val="6B6862"/>
                </a:solidFill>
                <a:latin typeface="Calibri"/>
              </a:rPr>
              <a:t>Enable the connector for the place your finance data actually lives.</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one routine</a:t>
            </a:r>
          </a:p>
          <a:p>
            <a:pPr algn="l">
              <a:spcAft>
                <a:spcPts val="300"/>
              </a:spcAft>
            </a:pPr>
            <a:r>
              <a:rPr sz="1150" b="0">
                <a:solidFill>
                  <a:srgbClr val="6B6862"/>
                </a:solidFill>
                <a:latin typeface="Calibri"/>
              </a:rPr>
              <a:t>Pick the thing you do every morning and capture it as a skill.</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Project</a:t>
            </a:r>
          </a:p>
          <a:p>
            <a:pPr algn="l">
              <a:spcAft>
                <a:spcPts val="300"/>
              </a:spcAft>
            </a:pPr>
            <a:r>
              <a:rPr sz="1150" b="0">
                <a:solidFill>
                  <a:srgbClr val="6B6862"/>
                </a:solidFill>
                <a:latin typeface="Calibri"/>
              </a:rPr>
              <a:t>Give your main body of work a project folder, and let the context build.</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what plugins already exist before you write a skill someone has packaged already.</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Cowork toolkit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Live Artefact dashboard, two connected tools, a branded board deck, two skills of your own, the Project that holds them all and a plugin on top.</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