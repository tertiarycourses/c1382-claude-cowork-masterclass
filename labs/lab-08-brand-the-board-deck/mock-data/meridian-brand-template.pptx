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Sample series</c:v>
                </c:pt>
              </c:strCache>
            </c:strRef>
          </c:tx>
          <c:spPr>
            <a:solidFill>
              <a:srgbClr val="1B2A4A"/>
            </a:solidFill>
          </c:spPr>
          <c:dPt>
            <c:idx val="0"/>
            <c:spPr>
              <a:solidFill>
                <a:srgbClr val="C6A664"/>
              </a:solidFill>
            </c:spPr>
          </c:dPt>
          <c:cat>
            <c:strRef>
              <c:f>Sheet1!$A$2:$A$5</c:f>
              <c:strCache>
                <c:ptCount val="4"/>
                <c:pt idx="0">
                  <c:v>Category A</c:v>
                </c:pt>
                <c:pt idx="1">
                  <c:v>Category B</c:v>
                </c:pt>
                <c:pt idx="2">
                  <c:v>Category C</c:v>
                </c:pt>
                <c:pt idx="3">
                  <c:v>Category 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3200</c:v>
                </c:pt>
                <c:pt idx="1">
                  <c:v>2600</c:v>
                </c:pt>
                <c:pt idx="2">
                  <c:v>2100</c:v>
                </c:pt>
                <c:pt idx="3">
                  <c:v>1700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rgbClr val="1B2A4A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37744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spc="600">
                <a:solidFill>
                  <a:srgbClr val="FFFFFF"/>
                </a:solidFill>
                <a:latin typeface="Georgia"/>
              </a:rPr>
              <a:t>MERIDIAN CAPITAL PARTNERS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3611880"/>
            <a:ext cx="4114800" cy="54864"/>
          </a:xfrm>
          <a:prstGeom prst="rect">
            <a:avLst/>
          </a:prstGeom>
          <a:solidFill>
            <a:srgbClr val="C6A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38862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4F4F2"/>
                </a:solidFill>
                <a:latin typeface="Arial"/>
              </a:rPr>
              <a:t>Presentation title goes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4348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6A664"/>
                </a:solidFill>
                <a:latin typeface="Arial"/>
              </a:rPr>
              <a:t>Reporting period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9436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spc="150">
                <a:solidFill>
                  <a:srgbClr val="C6A664"/>
                </a:solidFill>
                <a:latin typeface="Arial"/>
              </a:rPr>
              <a:t>HOUSE TEMPLATE — style reference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591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B2A4A"/>
                </a:solidFill>
                <a:latin typeface="Georgia"/>
              </a:rPr>
              <a:t>Section heading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2011680" cy="45720"/>
          </a:xfrm>
          <a:prstGeom prst="rect">
            <a:avLst/>
          </a:prstGeom>
          <a:solidFill>
            <a:srgbClr val="C6A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603504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B2A4A"/>
                </a:solidFill>
                <a:latin typeface="Arial"/>
              </a:rPr>
              <a:t>Body copy is set in a clean sans-serif typeface.</a:t>
            </a:r>
          </a:p>
          <a:p>
            <a:pPr algn="l"/>
            <a:r>
              <a:rPr sz="1400" b="0">
                <a:solidFill>
                  <a:srgbClr val="1B2A4A"/>
                </a:solidFill>
                <a:latin typeface="Arial"/>
              </a:rPr>
              <a:t>Headings above are serif, in the house navy.</a:t>
            </a:r>
          </a:p>
          <a:p>
            <a:pPr algn="l"/>
            <a:r>
              <a:rPr sz="1400" b="0">
                <a:solidFill>
                  <a:srgbClr val="1B2A4A"/>
                </a:solidFill>
                <a:latin typeface="Arial"/>
              </a:rPr>
              <a:t>A gold rule sits under every slide title.</a:t>
            </a:r>
          </a:p>
          <a:p>
            <a:pPr algn="l"/>
            <a:r>
              <a:rPr sz="1400" b="0">
                <a:solidFill>
                  <a:srgbClr val="1B2A4A"/>
                </a:solidFill>
                <a:latin typeface="Arial"/>
              </a:rPr>
              <a:t>Figures are shown in Singapore dollars, e.g. S$1,234,000.</a:t>
            </a:r>
          </a:p>
        </p:txBody>
      </p:sp>
      <p:sp>
        <p:nvSpPr>
          <p:cNvPr id="6" name="Rectangle 5"/>
          <p:cNvSpPr/>
          <p:nvPr/>
        </p:nvSpPr>
        <p:spPr>
          <a:xfrm>
            <a:off x="7223760" y="1828800"/>
            <a:ext cx="4233672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223760" y="1828800"/>
            <a:ext cx="54864" cy="2377440"/>
          </a:xfrm>
          <a:prstGeom prst="rect">
            <a:avLst/>
          </a:prstGeom>
          <a:solidFill>
            <a:srgbClr val="C6A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0" y="21031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spc="150">
                <a:solidFill>
                  <a:srgbClr val="C6A664"/>
                </a:solidFill>
                <a:latin typeface="Arial"/>
              </a:rPr>
              <a:t>PANEL HEADING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2514600"/>
            <a:ext cx="3657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B2A4A"/>
                </a:solidFill>
                <a:latin typeface="Arial"/>
              </a:rPr>
              <a:t>Panels are white on the light grey field, with a gold edge.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053328"/>
            <a:ext cx="10725912" cy="9525"/>
          </a:xfrm>
          <a:prstGeom prst="rect">
            <a:avLst/>
          </a:prstGeom>
          <a:solidFill>
            <a:srgbClr val="C6A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17220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spc="150">
                <a:solidFill>
                  <a:srgbClr val="1B2A4A"/>
                </a:solidFill>
                <a:latin typeface="Georgia"/>
              </a:rPr>
              <a:t>MERIDIAN CAPITAL PARTNERS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6172200"/>
            <a:ext cx="48737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1B2A4A"/>
                </a:solidFill>
                <a:latin typeface="Arial"/>
              </a:rPr>
              <a:t>Meridian Capital Partners Pte Ltd — internal use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14232" y="61722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1B2A4A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591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B2A4A"/>
                </a:solidFill>
                <a:latin typeface="Georgia"/>
              </a:rPr>
              <a:t>Chart heading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2011680" cy="45720"/>
          </a:xfrm>
          <a:prstGeom prst="rect">
            <a:avLst/>
          </a:prstGeom>
          <a:solidFill>
            <a:srgbClr val="C6A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783080"/>
          <a:ext cx="10725912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731520" y="6053328"/>
            <a:ext cx="10725912" cy="9525"/>
          </a:xfrm>
          <a:prstGeom prst="rect">
            <a:avLst/>
          </a:prstGeom>
          <a:solidFill>
            <a:srgbClr val="C6A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17220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spc="150">
                <a:solidFill>
                  <a:srgbClr val="1B2A4A"/>
                </a:solidFill>
                <a:latin typeface="Georgia"/>
              </a:rPr>
              <a:t>MERIDIAN CAPITAL PARTNERS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6172200"/>
            <a:ext cx="48737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1B2A4A"/>
                </a:solidFill>
                <a:latin typeface="Arial"/>
              </a:rPr>
              <a:t>Meridian Capital Partners Pte Ltd — internal use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14232" y="61722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1B2A4A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